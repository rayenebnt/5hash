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à tous. On est l'agence 5HASH, et Taylor Shift nous a confié sa boutique de billets.
Le site, il existe déjà : c'est PrestaShop. Nous, on ne touche pas au site. Notre travail, c'est de lui construire une maison — et surtout une maison qui tient debout le jour où des milliers de fans se connectent en même temps.
Tout est écrit en code : Terraform pour construire, Ansible pour installer. Et ce n'est pas une maquette : ça tourne en ce moment sur un vrai compte AWS. On vous le montrera à la fin.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Avant de choisir la moindre technologie, on s'est posé trois questions toutes bêtes.
Un : comment un client arrive jusqu'à la boutique ? Autrement dit, par où ça rentre, et qu'est-ce qu'on laisse ouvert.
Deux : et si dix fois plus de monde arrive d'un coup ? Parce qu'une ouverture de billetterie, ce n'est pas un trafic régulier. C'est un mur.
Trois : et si une machine tombe ? Parce qu'une machine finit toujours par tomber.
Tout ce qu'on va vous montrer répond à l'une de ces trois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expliquer l'architecture, on va prendre l'image d'une salle de concert. Ça se lit de haut en bas, comme le trajet d'un client.
En haut, côté rue, il y a UNE seule porte : le répartiteur. C'est l'hôte d'accueil. Il envoie chaque visiteur vers une caisse libre, et il vérifie toutes les quinze secondes que chaque caisse va bien. Si une caisse ne répond plus, il arrête d'y envoyer du monde.
À côté, l'entrée de service. Elle, elle est réservée à l'équipe : c'est par là qu'on passe pour installer et dépanner. Elle est ouverte à une seule adresse, la nôtre. Aucun client ne passe par là.
Au milieu, les caisses : ce sont les serveurs qui font tourner la boutique. Elles sont toutes identiques. Et surtout, elles ne sont pas joignables depuis Internet — on ne peut y arriver qu'en passant par la porte d'accueil.
En bas, les réserves. Le coffre, c'est la base de données : les billets, les paniers, les commandes. Le vestiaire, c'est un disque partagé : les images du site, le thème, et les paniers en cours.
Et voilà le point important : les caisses ne gardent rien. Tout est dans le coffre et dans le vestiaire. C'est exactement ce qui va nous permettre d'en ajouter ou d'en perdre sans que personne ne s'en aperçoive.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sujet nous laissait libres : ce qui tourne sur nos serveurs, et ce qu'on confie à AWS. Voilà comment on a tranché.
La boutique tourne dans un conteneur Docker, sur un serveur EC2. C'est ce que demande le sujet, et ça nous arrange : changer de version de PrestaShop, c'est une seule ligne à modifier.
La base de données, par contre, on ne veut pas la gérer. AWS s'occupe des sauvegardes, des mises à jour, et garde une machine de secours prête à prendre le relais. Franchement, personne n'a envie de découvrir un problème de base de données le soir de l'ouverture des ventes.
Pour les fichiers, il nous fallait un disque que plusieurs serveurs voient en même temps. Un disque classique ne se partage pas. EFS, si.
Et les mots de passe : celui de la base n'est écrit nulle part dans notre code. Terraform le génère, le dépose dans le coffre d'AWS, et chaque serveur va le chercher tout seul avec sa propre autorisation. Dans le dépôt, il n'y a que le mot de passe de l'administration du site, et il est chiffré.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c'est l'outil qui construit. On lui décrit ce qu'on veut, il se débrouille pour le créer.
On a découpé en six briques, une par couche : le réseau, les droits, le disque, la base, les serveurs, et l'entrée. Chaque brique se relit toute seule, et si on veut en changer une, on ne casse pas les autres.
Le truc dont on est contents : les trois environnements. Test, pré-production, production. C'est exactement le même code. On change un mot, et on passe d'un serveur à trois serveurs répartis sur trois zones, avec une base qui a une machine de secours et deux semaines de sauvegardes.
La description de l'infrastructure est stockée sur AWS, pas sur nos ordinateurs, et elle est verrouillée : à trois, on ne peut pas se marcher dessus.
Et rien n'est écrit en dur. Terraform va même chercher notre adresse IP du moment, et c'est la seule qui aura le droit de se connecter aux serveurs.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Ansible, c'est l'outil qui installe. Une fois que Terraform a construit les machines, Ansible les configure.
Le problème classique, c'est de faire le lien entre les deux : Terraform crée un serveur, et il faut donner son adresse à Ansible. Beaucoup de gens recopient à la main. Nous, non.
Terraform écrit la liste des serveurs dans sa propre description, et Ansible va la lire directement chez lui. Résultat : il n'y a pas une seule adresse IP écrite à la main dans tout le projet. On crée un serveur avec Terraform, il apparaît tout seul dans la liste d'Ansible.
On a écrit trois rôles réutilisables. Le serveur d'entrée et les caisses partagent le même rôle de base, juste avec des réglages différents. Et pour Docker, on a pris un rôle public, installé depuis Ansible Galaxy, plutôt que de le réécrire.
Et le point le plus important, celui du barème : on peut relancer l'installation autant de fois qu'on veut. La deuxième fois, Ansible affiche « changed égale zéro ». Il ne touche à rien, parce que tout est déjà comme demandé. Ce n'est pas de la chance : on a conçu l'installation pour ça.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arrive à la question qui compte vraiment : le jour où les billets partent en vente.
Nos serveurs ne gardent rien. Une commande va dans la base, une image sur le disque partagé, un panier aussi. Résultat : ajouter de la capacité, c'est littéralement changer un chiffre.
Deux commandes. La première crée les serveurs et les répartit sur les zones. La deuxième les installe — et seulement eux, parce qu'Ansible ne touche pas à ceux qui travaillent déjà. Trois minutes, sans couper la boutique.
Et on ne décide pas au hasard. AWS surveille trois choses pour nous et nous envoie un mail : si le site devient lent, si un serveur ne répond plus, ou si la boutique renvoie des erreurs. C'est ça qui nous dit quand ajouter des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Troisième question : quand ça casse. On a regardé chaque panne possible, et on a chronométré.
Un serveur tombe. Le répartiteur l'interroge toutes les quinze secondes ; au bout de deux échecs, donc trente secondes, il arrête de lui envoyer des clients. Et les achats déjà en cours ont trente secondes de plus pour se terminer. Le client ne voit rien : il est servi par les autres.
Une zone AWS entière tombe — ça arrive, c'est un bâtiment entier. Les serveurs des autres zones prennent le relais. Automatique.
La base tombe. En production, AWS garde une machine de secours dans une autre zone. La bascule prend une à deux minutes. Il y a quelques secondes d'erreurs, on ne va pas vous mentir, puis ça repart.
Notre serveur d'entrée tombe : aucun impact client, aucun client ne passe par là.
Et le point qu'on veut vraiment que vous reteniez : le panier du client est conservé. Les paniers sont sur le disque partagé, pas sur la machine qui tombe. Pour une billetterie, c'est toute la différence.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tenait à vous montrer cette diapo, parce que c'est la partie honnête du projet.
Le code était écrit, relu, vérifié. Et puis on l'a déployé pour de vrai sur AWS, et on s'est pris quatre murs qu'aucune relecture n'aurait montrés.
Le premier : AWS n'accepte que certains caractères dans les descriptions. On avait écrit une petite flèche, avec un chevron. Refusé.
Le deuxième : l'outil en ligne de commande d'AWS n'existe plus dans les dépôts d'Ubuntu 24.04. On aurait pu installer la version officielle — soixante mégaoctets par serveur, pour un seul appel. On est passés à une bibliothèque Python déjà présente.
Le troisième, c'est notre préféré. Le mot de passe de la base est généré au hasard, et il contenait une esperluette, le « et commercial ». Notre script chargeait le fichier avec une commande du shell — et le shell a pris le mot de passe pour une commande, et a essayé de l'exécuter. Maintenant on lit le fichier sans jamais l'interpréter, et on a limité les caractères du mot de passe.
Le quatrième : PrestaShop vide son cache après l'installation. Sur un disque partagé en réseau, supprimer un fichier encore ouvert laisse une trace invisible, donc la suppression échouait — et ça tuait le conteneur juste après une installation réussie. On a compris que ce cache n'avait rien à faire sur le disque partagé : c'est un fichier temporaire, propre à chaque serveur. On l'a remis en local.
Les quatre sont corrigés dans le dépôt. Un déploiement depuis zéro ne les rencontre plus.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infrastructure dont on ne connaît pas les limites, c'est une infrastructure qu'on n'a pas comprise. Voilà les nôtres, en toute transparence.
La première, la plus importante : ajouter des serveurs, ça demande quelqu'un. Ce n'est pas automatique. Un pic soudain, il faut un opérateur et deux commandes — trois minutes. Pour l'automatiser vraiment, il faudrait préparer à l'avance une image toute faite du serveur, avec tout déjà installé. Et bonne nouvelle : notre installation est déjà écrite pour ça, c'est une évolution, pas une réécriture.
La deuxième : on a mis tout le site sur le disque partagé. C'est ce qui rend les serveurs interchangeables, mais un disque réseau est plus lent qu'un disque local. Au-delà de quelques milliers de visiteurs par minute, il faudrait mettre le site dans l'image et ne garder que les photos sur le disque partagé.
La troisième : une seule base pour écrire. On peut ajouter des copies pour la lecture, mais une billetterie, ça écrit surtout.
Et la quatrième : une seule région. Si toute la région Paris tombe, on tombe. Doubler ailleurs coûterait plus cher que la panne qu'on évite. C'est assumé.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Voilà tout ce qu'il y a à taper. Six commandes.
La première, on ne la lance qu'une fois par compte : elle prépare l'endroit où Terraform range sa description de l'infrastructure.
Ensuite Terraform construit. Une douzaine de minutes, et c'est la base de données qui prend tout le temps.
Puis Ansible installe. Regardez bien la commande du milieu : c'est celle qui affiche la liste des serveurs. Aucune adresse n'y est écrite, elle est lue chez Terraform.
On va vous montrer quatre choses : la boutique et son administration ; l'installation relancée qui ne change rien ; un serveur ajouté qui entre tout seul en service ; et enfin on en coupe un, en direct, pour vous montrer que la boutique 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conclure. La boutique est en ligne sur un vrai compte AWS. Elle est documentée : le README explique comment l'installer, la faire grandir, la dépanner et la supprimer. Et on sait la refaire : on l'a détruite et redéployée pour en être sûrs.
Merci de votre attention, on est prêts pour vos questions.
[Réponses courtes à avoir en tête :
— Pourquoi pas d'ajout automatique de serveurs ? Parce qu'on installe les serveurs avec Ansible après leur création. Pour automatiser, il faudrait une image toute prête. On a préféré livrer quelque chose qui marche et dont on connaît la limite.
— Pourquoi EFS et pas S3 ? Parce que PrestaShop écrit sur un disque, tout simplement. S3 demanderait un module en plus.
— Où est le mot de passe de la base ? Nulle part chez nous. AWS le garde, et chaque serveur va le chercher avec sa propre autorisation.
— Combien ça coûte ? Deux à trois dollars par jour pour l'environnement de test.
— Comment vous changez de version de PrestaShop ? Une ligne dans un fichier Ansible, on relance, et on prend une sauvegarde de la base avant.]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0"/>
        </a:solidFill>
      </p:bgPr>
    </p:bg>
    <p:spTree>
      <p:nvGrpSpPr>
        <p:cNvPr id="1" name=""/>
        <p:cNvGrpSpPr/>
        <p:nvPr/>
      </p:nvGrpSpPr>
      <p:grpSpPr>
        <a:xfrm>
          <a:off x="0" y="0"/>
          <a:ext cx="0" cy="0"/>
          <a:chOff x="0" y="0"/>
          <a:chExt cx="0" cy="0"/>
        </a:xfrm>
      </p:grpSpPr>
      <p:sp>
        <p:nvSpPr>
          <p:cNvPr id="2" name="Shape 0"/>
          <p:cNvSpPr/>
          <p:nvPr/>
        </p:nvSpPr>
        <p:spPr>
          <a:xfrm>
            <a:off x="566928" y="1481328"/>
            <a:ext cx="146304" cy="146304"/>
          </a:xfrm>
          <a:prstGeom prst="ellipse">
            <a:avLst/>
          </a:prstGeom>
          <a:solidFill>
            <a:srgbClr val="E08B1F"/>
          </a:solidFill>
          <a:ln w="12700">
            <a:solidFill>
              <a:srgbClr val="E08B1F"/>
            </a:solidFill>
            <a:prstDash val="solid"/>
          </a:ln>
        </p:spPr>
      </p:sp>
      <p:sp>
        <p:nvSpPr>
          <p:cNvPr id="3" name="Text 1"/>
          <p:cNvSpPr txBox="1"/>
          <p:nvPr/>
        </p:nvSpPr>
        <p:spPr>
          <a:xfrm>
            <a:off x="841248" y="1417320"/>
            <a:ext cx="11055096" cy="274320"/>
          </a:xfrm>
          <a:prstGeom prst="rect">
            <a:avLst/>
          </a:prstGeom>
          <a:noFill/>
          <a:ln/>
        </p:spPr>
        <p:txBody>
          <a:bodyPr wrap="square" lIns="0" tIns="0" rIns="0" bIns="0" rtlCol="0" anchor="ctr"/>
          <a:lstStyle/>
          <a:p>
            <a:pPr indent="0" marL="0">
              <a:buNone/>
            </a:pPr>
            <a:r>
              <a:rPr lang="en-US" sz="1200" spc="200" kern="0" dirty="0">
                <a:solidFill>
                  <a:srgbClr val="E08B1F"/>
                </a:solidFill>
                <a:latin typeface="Courier New" pitchFamily="34" charset="0"/>
                <a:ea typeface="Courier New" pitchFamily="34" charset="-122"/>
                <a:cs typeface="Courier New" pitchFamily="34" charset="-120"/>
              </a:rPr>
              <a:t>PROJET 5HASH  ·  INFRASTRUCTURE AS CODE</a:t>
            </a:r>
            <a:endParaRPr lang="en-US" sz="1200" dirty="0"/>
          </a:p>
        </p:txBody>
      </p:sp>
      <p:sp>
        <p:nvSpPr>
          <p:cNvPr id="4" name="Text 2"/>
          <p:cNvSpPr txBox="1"/>
          <p:nvPr/>
        </p:nvSpPr>
        <p:spPr>
          <a:xfrm>
            <a:off x="566928" y="1920240"/>
            <a:ext cx="11055096" cy="105156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Taylor Shift</a:t>
            </a:r>
            <a:endParaRPr lang="en-US" sz="6000" dirty="0"/>
          </a:p>
        </p:txBody>
      </p:sp>
      <p:sp>
        <p:nvSpPr>
          <p:cNvPr id="5" name="Text 3"/>
          <p:cNvSpPr txBox="1"/>
          <p:nvPr/>
        </p:nvSpPr>
        <p:spPr>
          <a:xfrm>
            <a:off x="566928" y="2971800"/>
            <a:ext cx="8778240" cy="822960"/>
          </a:xfrm>
          <a:prstGeom prst="rect">
            <a:avLst/>
          </a:prstGeom>
          <a:noFill/>
          <a:ln/>
        </p:spPr>
        <p:txBody>
          <a:bodyPr wrap="square" lIns="0" tIns="0" rIns="0" bIns="0" rtlCol="0" anchor="ctr"/>
          <a:lstStyle/>
          <a:p>
            <a:pPr indent="0" marL="0">
              <a:lnSpc>
                <a:spcPts val="2800"/>
              </a:lnSpc>
              <a:buNone/>
            </a:pPr>
            <a:r>
              <a:rPr lang="en-US" sz="2100" dirty="0">
                <a:solidFill>
                  <a:srgbClr val="A8B8C8"/>
                </a:solidFill>
                <a:latin typeface="Calibri" pitchFamily="34" charset="0"/>
                <a:ea typeface="Calibri" pitchFamily="34" charset="-122"/>
                <a:cs typeface="Calibri" pitchFamily="34" charset="-120"/>
              </a:rPr>
              <a:t>Une boutique de billets qui tient debout</a:t>
            </a:r>
            <a:endParaRPr lang="en-US" sz="2100" dirty="0"/>
          </a:p>
          <a:p>
            <a:pPr indent="0" marL="0">
              <a:lnSpc>
                <a:spcPts val="2800"/>
              </a:lnSpc>
              <a:buNone/>
            </a:pPr>
            <a:r>
              <a:rPr lang="en-US" sz="2100" dirty="0">
                <a:solidFill>
                  <a:srgbClr val="A8B8C8"/>
                </a:solidFill>
                <a:latin typeface="Calibri" pitchFamily="34" charset="0"/>
                <a:ea typeface="Calibri" pitchFamily="34" charset="-122"/>
                <a:cs typeface="Calibri" pitchFamily="34" charset="-120"/>
              </a:rPr>
              <a:t>le jour de l'ouverture des ventes</a:t>
            </a:r>
            <a:endParaRPr lang="en-US" sz="2100" dirty="0"/>
          </a:p>
        </p:txBody>
      </p:sp>
      <p:sp>
        <p:nvSpPr>
          <p:cNvPr id="6" name="Shape 4"/>
          <p:cNvSpPr/>
          <p:nvPr/>
        </p:nvSpPr>
        <p:spPr>
          <a:xfrm>
            <a:off x="566928" y="4114800"/>
            <a:ext cx="1645920" cy="411480"/>
          </a:xfrm>
          <a:prstGeom prst="roundRect">
            <a:avLst>
              <a:gd name="adj" fmla="val 17778"/>
            </a:avLst>
          </a:prstGeom>
          <a:solidFill>
            <a:srgbClr val="1B2732"/>
          </a:solidFill>
          <a:ln w="9525">
            <a:solidFill>
              <a:srgbClr val="35475A"/>
            </a:solidFill>
            <a:prstDash val="solid"/>
          </a:ln>
        </p:spPr>
      </p:sp>
      <p:sp>
        <p:nvSpPr>
          <p:cNvPr id="7" name="Text 5"/>
          <p:cNvSpPr txBox="1"/>
          <p:nvPr/>
        </p:nvSpPr>
        <p:spPr>
          <a:xfrm>
            <a:off x="566928" y="4114800"/>
            <a:ext cx="1645920" cy="411480"/>
          </a:xfrm>
          <a:prstGeom prst="rect">
            <a:avLst/>
          </a:prstGeom>
          <a:noFill/>
          <a:ln/>
        </p:spPr>
        <p:txBody>
          <a:bodyPr wrap="square" lIns="0" tIns="0" rIns="0" bIns="0" rtlCol="0" anchor="ctr"/>
          <a:lstStyle/>
          <a:p>
            <a:pPr algn="ctr" indent="0" marL="0">
              <a:buNone/>
            </a:pPr>
            <a:r>
              <a:rPr lang="en-US" sz="1200" dirty="0">
                <a:solidFill>
                  <a:srgbClr val="C9D6E2"/>
                </a:solidFill>
                <a:latin typeface="Courier New" pitchFamily="34" charset="0"/>
                <a:ea typeface="Courier New" pitchFamily="34" charset="-122"/>
                <a:cs typeface="Courier New" pitchFamily="34" charset="-120"/>
              </a:rPr>
              <a:t>Terraform</a:t>
            </a:r>
            <a:endParaRPr lang="en-US" sz="1200" dirty="0"/>
          </a:p>
        </p:txBody>
      </p:sp>
      <p:sp>
        <p:nvSpPr>
          <p:cNvPr id="8" name="Shape 6"/>
          <p:cNvSpPr/>
          <p:nvPr/>
        </p:nvSpPr>
        <p:spPr>
          <a:xfrm>
            <a:off x="2395728" y="4114800"/>
            <a:ext cx="1645920" cy="411480"/>
          </a:xfrm>
          <a:prstGeom prst="roundRect">
            <a:avLst>
              <a:gd name="adj" fmla="val 17778"/>
            </a:avLst>
          </a:prstGeom>
          <a:solidFill>
            <a:srgbClr val="1B2732"/>
          </a:solidFill>
          <a:ln w="9525">
            <a:solidFill>
              <a:srgbClr val="35475A"/>
            </a:solidFill>
            <a:prstDash val="solid"/>
          </a:ln>
        </p:spPr>
      </p:sp>
      <p:sp>
        <p:nvSpPr>
          <p:cNvPr id="9" name="Text 7"/>
          <p:cNvSpPr txBox="1"/>
          <p:nvPr/>
        </p:nvSpPr>
        <p:spPr>
          <a:xfrm>
            <a:off x="2395728" y="4114800"/>
            <a:ext cx="1645920" cy="411480"/>
          </a:xfrm>
          <a:prstGeom prst="rect">
            <a:avLst/>
          </a:prstGeom>
          <a:noFill/>
          <a:ln/>
        </p:spPr>
        <p:txBody>
          <a:bodyPr wrap="square" lIns="0" tIns="0" rIns="0" bIns="0" rtlCol="0" anchor="ctr"/>
          <a:lstStyle/>
          <a:p>
            <a:pPr algn="ctr" indent="0" marL="0">
              <a:buNone/>
            </a:pPr>
            <a:r>
              <a:rPr lang="en-US" sz="1200" dirty="0">
                <a:solidFill>
                  <a:srgbClr val="C9D6E2"/>
                </a:solidFill>
                <a:latin typeface="Courier New" pitchFamily="34" charset="0"/>
                <a:ea typeface="Courier New" pitchFamily="34" charset="-122"/>
                <a:cs typeface="Courier New" pitchFamily="34" charset="-120"/>
              </a:rPr>
              <a:t>Ansible</a:t>
            </a:r>
            <a:endParaRPr lang="en-US" sz="1200" dirty="0"/>
          </a:p>
        </p:txBody>
      </p:sp>
      <p:sp>
        <p:nvSpPr>
          <p:cNvPr id="10" name="Shape 8"/>
          <p:cNvSpPr/>
          <p:nvPr/>
        </p:nvSpPr>
        <p:spPr>
          <a:xfrm>
            <a:off x="4224528" y="4114800"/>
            <a:ext cx="1645920" cy="411480"/>
          </a:xfrm>
          <a:prstGeom prst="roundRect">
            <a:avLst>
              <a:gd name="adj" fmla="val 17778"/>
            </a:avLst>
          </a:prstGeom>
          <a:solidFill>
            <a:srgbClr val="1B2732"/>
          </a:solidFill>
          <a:ln w="9525">
            <a:solidFill>
              <a:srgbClr val="35475A"/>
            </a:solidFill>
            <a:prstDash val="solid"/>
          </a:ln>
        </p:spPr>
      </p:sp>
      <p:sp>
        <p:nvSpPr>
          <p:cNvPr id="11" name="Text 9"/>
          <p:cNvSpPr txBox="1"/>
          <p:nvPr/>
        </p:nvSpPr>
        <p:spPr>
          <a:xfrm>
            <a:off x="4224528" y="4114800"/>
            <a:ext cx="1645920" cy="411480"/>
          </a:xfrm>
          <a:prstGeom prst="rect">
            <a:avLst/>
          </a:prstGeom>
          <a:noFill/>
          <a:ln/>
        </p:spPr>
        <p:txBody>
          <a:bodyPr wrap="square" lIns="0" tIns="0" rIns="0" bIns="0" rtlCol="0" anchor="ctr"/>
          <a:lstStyle/>
          <a:p>
            <a:pPr algn="ctr" indent="0" marL="0">
              <a:buNone/>
            </a:pPr>
            <a:r>
              <a:rPr lang="en-US" sz="1200" dirty="0">
                <a:solidFill>
                  <a:srgbClr val="C9D6E2"/>
                </a:solidFill>
                <a:latin typeface="Courier New" pitchFamily="34" charset="0"/>
                <a:ea typeface="Courier New" pitchFamily="34" charset="-122"/>
                <a:cs typeface="Courier New" pitchFamily="34" charset="-120"/>
              </a:rPr>
              <a:t>PrestaShop</a:t>
            </a:r>
            <a:endParaRPr lang="en-US" sz="1200" dirty="0"/>
          </a:p>
        </p:txBody>
      </p:sp>
      <p:sp>
        <p:nvSpPr>
          <p:cNvPr id="12" name="Shape 10"/>
          <p:cNvSpPr/>
          <p:nvPr/>
        </p:nvSpPr>
        <p:spPr>
          <a:xfrm>
            <a:off x="6053328" y="4114800"/>
            <a:ext cx="1645920" cy="411480"/>
          </a:xfrm>
          <a:prstGeom prst="roundRect">
            <a:avLst>
              <a:gd name="adj" fmla="val 17778"/>
            </a:avLst>
          </a:prstGeom>
          <a:solidFill>
            <a:srgbClr val="1B2732"/>
          </a:solidFill>
          <a:ln w="9525">
            <a:solidFill>
              <a:srgbClr val="35475A"/>
            </a:solidFill>
            <a:prstDash val="solid"/>
          </a:ln>
        </p:spPr>
      </p:sp>
      <p:sp>
        <p:nvSpPr>
          <p:cNvPr id="13" name="Text 11"/>
          <p:cNvSpPr txBox="1"/>
          <p:nvPr/>
        </p:nvSpPr>
        <p:spPr>
          <a:xfrm>
            <a:off x="6053328" y="4114800"/>
            <a:ext cx="1645920" cy="411480"/>
          </a:xfrm>
          <a:prstGeom prst="rect">
            <a:avLst/>
          </a:prstGeom>
          <a:noFill/>
          <a:ln/>
        </p:spPr>
        <p:txBody>
          <a:bodyPr wrap="square" lIns="0" tIns="0" rIns="0" bIns="0" rtlCol="0" anchor="ctr"/>
          <a:lstStyle/>
          <a:p>
            <a:pPr algn="ctr" indent="0" marL="0">
              <a:buNone/>
            </a:pPr>
            <a:r>
              <a:rPr lang="en-US" sz="1200" dirty="0">
                <a:solidFill>
                  <a:srgbClr val="C9D6E2"/>
                </a:solidFill>
                <a:latin typeface="Courier New" pitchFamily="34" charset="0"/>
                <a:ea typeface="Courier New" pitchFamily="34" charset="-122"/>
                <a:cs typeface="Courier New" pitchFamily="34" charset="-120"/>
              </a:rPr>
              <a:t>AWS</a:t>
            </a:r>
            <a:endParaRPr lang="en-US" sz="1200" dirty="0"/>
          </a:p>
        </p:txBody>
      </p:sp>
      <p:sp>
        <p:nvSpPr>
          <p:cNvPr id="14" name="Text 12"/>
          <p:cNvSpPr txBox="1"/>
          <p:nvPr/>
        </p:nvSpPr>
        <p:spPr>
          <a:xfrm>
            <a:off x="566928" y="5029200"/>
            <a:ext cx="11055096" cy="32004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Prénom 1  ·  Prénom 2  ·  Prénom 3</a:t>
            </a:r>
            <a:endParaRPr lang="en-US" sz="1600" dirty="0"/>
          </a:p>
        </p:txBody>
      </p:sp>
      <p:sp>
        <p:nvSpPr>
          <p:cNvPr id="15" name="Text 13"/>
          <p:cNvSpPr txBox="1"/>
          <p:nvPr/>
        </p:nvSpPr>
        <p:spPr>
          <a:xfrm>
            <a:off x="566928" y="5394960"/>
            <a:ext cx="11055096" cy="274320"/>
          </a:xfrm>
          <a:prstGeom prst="rect">
            <a:avLst/>
          </a:prstGeom>
          <a:noFill/>
          <a:ln/>
        </p:spPr>
        <p:txBody>
          <a:bodyPr wrap="square" lIns="0" tIns="0" rIns="0" bIns="0" rtlCol="0" anchor="ctr"/>
          <a:lstStyle/>
          <a:p>
            <a:pPr indent="0" marL="0">
              <a:buNone/>
            </a:pPr>
            <a:r>
              <a:rPr lang="en-US" sz="1300" dirty="0">
                <a:solidFill>
                  <a:srgbClr val="7A8C9E"/>
                </a:solidFill>
                <a:latin typeface="Calibri" pitchFamily="34" charset="0"/>
                <a:ea typeface="Calibri" pitchFamily="34" charset="-122"/>
                <a:cs typeface="Calibri" pitchFamily="34" charset="-120"/>
              </a:rPr>
              <a:t>En ligne sur un vrai compte AWS, région Paris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384048"/>
            <a:ext cx="11055096" cy="274320"/>
          </a:xfrm>
          <a:prstGeom prst="rect">
            <a:avLst/>
          </a:prstGeom>
          <a:noFill/>
          <a:ln/>
        </p:spPr>
        <p:txBody>
          <a:bodyPr wrap="square" lIns="0" tIns="0" rIns="0" bIns="0" rtlCol="0" anchor="ctr"/>
          <a:lstStyle/>
          <a:p>
            <a:pPr indent="0" marL="0">
              <a:buNone/>
            </a:pPr>
            <a:r>
              <a:rPr lang="en-US" sz="1100" spc="200" kern="0" dirty="0">
                <a:solidFill>
                  <a:srgbClr val="9E5D06"/>
                </a:solidFill>
                <a:latin typeface="Courier New" pitchFamily="34" charset="0"/>
                <a:ea typeface="Courier New" pitchFamily="34" charset="-122"/>
                <a:cs typeface="Courier New" pitchFamily="34" charset="-120"/>
              </a:rPr>
              <a:t>01 — LE BESOIN</a:t>
            </a:r>
            <a:endParaRPr lang="en-US" sz="1100" dirty="0"/>
          </a:p>
        </p:txBody>
      </p:sp>
      <p:sp>
        <p:nvSpPr>
          <p:cNvPr id="3" name="Text 1"/>
          <p:cNvSpPr txBox="1"/>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7222C"/>
                </a:solidFill>
                <a:latin typeface="Arial" pitchFamily="34" charset="0"/>
                <a:ea typeface="Arial" pitchFamily="34" charset="-122"/>
                <a:cs typeface="Arial" pitchFamily="34" charset="-120"/>
              </a:rPr>
              <a:t>On s'est posé trois questions simples</a:t>
            </a:r>
            <a:endParaRPr lang="en-US" sz="3000" dirty="0"/>
          </a:p>
        </p:txBody>
      </p:sp>
      <p:sp>
        <p:nvSpPr>
          <p:cNvPr id="4" name="Shape 2"/>
          <p:cNvSpPr/>
          <p:nvPr/>
        </p:nvSpPr>
        <p:spPr>
          <a:xfrm>
            <a:off x="566928" y="1691640"/>
            <a:ext cx="3520440" cy="2743200"/>
          </a:xfrm>
          <a:prstGeom prst="roundRect">
            <a:avLst>
              <a:gd name="adj" fmla="val 2000"/>
            </a:avLst>
          </a:prstGeom>
          <a:solidFill>
            <a:srgbClr val="F2F5F7"/>
          </a:solidFill>
          <a:ln w="9525">
            <a:solidFill>
              <a:srgbClr val="D3DBE3"/>
            </a:solidFill>
            <a:prstDash val="solid"/>
          </a:ln>
        </p:spPr>
      </p:sp>
      <p:sp>
        <p:nvSpPr>
          <p:cNvPr id="5" name="Shape 3"/>
          <p:cNvSpPr/>
          <p:nvPr/>
        </p:nvSpPr>
        <p:spPr>
          <a:xfrm>
            <a:off x="841248" y="1965960"/>
            <a:ext cx="310896" cy="310896"/>
          </a:xfrm>
          <a:prstGeom prst="ellipse">
            <a:avLst/>
          </a:prstGeom>
          <a:solidFill>
            <a:srgbClr val="E08B1F"/>
          </a:solidFill>
          <a:ln w="12700">
            <a:solidFill>
              <a:srgbClr val="E08B1F"/>
            </a:solidFill>
            <a:prstDash val="solid"/>
          </a:ln>
        </p:spPr>
      </p:sp>
      <p:sp>
        <p:nvSpPr>
          <p:cNvPr id="6" name="Text 4"/>
          <p:cNvSpPr txBox="1"/>
          <p:nvPr/>
        </p:nvSpPr>
        <p:spPr>
          <a:xfrm>
            <a:off x="841248" y="19659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7" name="Text 5"/>
          <p:cNvSpPr txBox="1"/>
          <p:nvPr/>
        </p:nvSpPr>
        <p:spPr>
          <a:xfrm>
            <a:off x="841248" y="2450592"/>
            <a:ext cx="2971800" cy="868680"/>
          </a:xfrm>
          <a:prstGeom prst="rect">
            <a:avLst/>
          </a:prstGeom>
          <a:noFill/>
          <a:ln/>
        </p:spPr>
        <p:txBody>
          <a:bodyPr wrap="square" lIns="0" tIns="0" rIns="0" bIns="0" rtlCol="0" anchor="ctr"/>
          <a:lstStyle/>
          <a:p>
            <a:pPr indent="0" marL="0">
              <a:lnSpc>
                <a:spcPts val="2200"/>
              </a:lnSpc>
              <a:buNone/>
            </a:pPr>
            <a:r>
              <a:rPr lang="en-US" sz="1600" b="1" dirty="0">
                <a:solidFill>
                  <a:srgbClr val="17222C"/>
                </a:solidFill>
                <a:latin typeface="Arial" pitchFamily="34" charset="0"/>
                <a:ea typeface="Arial" pitchFamily="34" charset="-122"/>
                <a:cs typeface="Arial" pitchFamily="34" charset="-120"/>
              </a:rPr>
              <a:t>Comment un client arrive</a:t>
            </a:r>
            <a:endParaRPr lang="en-US" sz="1600" dirty="0"/>
          </a:p>
          <a:p>
            <a:pPr indent="0" marL="0">
              <a:lnSpc>
                <a:spcPts val="2200"/>
              </a:lnSpc>
              <a:buNone/>
            </a:pPr>
            <a:r>
              <a:rPr lang="en-US" sz="1600" b="1" dirty="0">
                <a:solidFill>
                  <a:srgbClr val="17222C"/>
                </a:solidFill>
                <a:latin typeface="Arial" pitchFamily="34" charset="0"/>
                <a:ea typeface="Arial" pitchFamily="34" charset="-122"/>
                <a:cs typeface="Arial" pitchFamily="34" charset="-120"/>
              </a:rPr>
              <a:t>jusqu'à la boutique ?</a:t>
            </a:r>
            <a:endParaRPr lang="en-US" sz="1600" dirty="0"/>
          </a:p>
        </p:txBody>
      </p:sp>
      <p:sp>
        <p:nvSpPr>
          <p:cNvPr id="8" name="Text 6"/>
          <p:cNvSpPr txBox="1"/>
          <p:nvPr/>
        </p:nvSpPr>
        <p:spPr>
          <a:xfrm>
            <a:off x="841248" y="3401568"/>
            <a:ext cx="2971800" cy="868680"/>
          </a:xfrm>
          <a:prstGeom prst="rect">
            <a:avLst/>
          </a:prstGeom>
          <a:noFill/>
          <a:ln/>
        </p:spPr>
        <p:txBody>
          <a:bodyPr wrap="square" lIns="0" tIns="0" rIns="0" bIns="0" rtlCol="0" anchor="ctr"/>
          <a:lstStyle/>
          <a:p>
            <a:pPr indent="0" marL="0">
              <a:buNone/>
            </a:pPr>
            <a:r>
              <a:rPr lang="en-US" sz="1350" dirty="0">
                <a:solidFill>
                  <a:srgbClr val="5C6B7A"/>
                </a:solidFill>
                <a:latin typeface="Calibri" pitchFamily="34" charset="0"/>
                <a:ea typeface="Calibri" pitchFamily="34" charset="-122"/>
                <a:cs typeface="Calibri" pitchFamily="34" charset="-120"/>
              </a:rPr>
              <a:t>Une seule porte ouverte sur Internet. Tout le reste est caché derrière.</a:t>
            </a:r>
            <a:endParaRPr lang="en-US" sz="1350" dirty="0"/>
          </a:p>
        </p:txBody>
      </p:sp>
      <p:sp>
        <p:nvSpPr>
          <p:cNvPr id="9" name="Shape 7"/>
          <p:cNvSpPr/>
          <p:nvPr/>
        </p:nvSpPr>
        <p:spPr>
          <a:xfrm>
            <a:off x="4334256" y="1691640"/>
            <a:ext cx="3520440" cy="2743200"/>
          </a:xfrm>
          <a:prstGeom prst="roundRect">
            <a:avLst>
              <a:gd name="adj" fmla="val 2000"/>
            </a:avLst>
          </a:prstGeom>
          <a:solidFill>
            <a:srgbClr val="F2F5F7"/>
          </a:solidFill>
          <a:ln w="9525">
            <a:solidFill>
              <a:srgbClr val="D3DBE3"/>
            </a:solidFill>
            <a:prstDash val="solid"/>
          </a:ln>
        </p:spPr>
      </p:sp>
      <p:sp>
        <p:nvSpPr>
          <p:cNvPr id="10" name="Shape 8"/>
          <p:cNvSpPr/>
          <p:nvPr/>
        </p:nvSpPr>
        <p:spPr>
          <a:xfrm>
            <a:off x="4608576" y="1965960"/>
            <a:ext cx="310896" cy="310896"/>
          </a:xfrm>
          <a:prstGeom prst="ellipse">
            <a:avLst/>
          </a:prstGeom>
          <a:solidFill>
            <a:srgbClr val="E08B1F"/>
          </a:solidFill>
          <a:ln w="12700">
            <a:solidFill>
              <a:srgbClr val="E08B1F"/>
            </a:solidFill>
            <a:prstDash val="solid"/>
          </a:ln>
        </p:spPr>
      </p:sp>
      <p:sp>
        <p:nvSpPr>
          <p:cNvPr id="11" name="Text 9"/>
          <p:cNvSpPr txBox="1"/>
          <p:nvPr/>
        </p:nvSpPr>
        <p:spPr>
          <a:xfrm>
            <a:off x="4608576" y="19659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2" name="Text 10"/>
          <p:cNvSpPr txBox="1"/>
          <p:nvPr/>
        </p:nvSpPr>
        <p:spPr>
          <a:xfrm>
            <a:off x="4608576" y="2450592"/>
            <a:ext cx="2971800" cy="868680"/>
          </a:xfrm>
          <a:prstGeom prst="rect">
            <a:avLst/>
          </a:prstGeom>
          <a:noFill/>
          <a:ln/>
        </p:spPr>
        <p:txBody>
          <a:bodyPr wrap="square" lIns="0" tIns="0" rIns="0" bIns="0" rtlCol="0" anchor="ctr"/>
          <a:lstStyle/>
          <a:p>
            <a:pPr indent="0" marL="0">
              <a:lnSpc>
                <a:spcPts val="2200"/>
              </a:lnSpc>
              <a:buNone/>
            </a:pPr>
            <a:r>
              <a:rPr lang="en-US" sz="1600" b="1" dirty="0">
                <a:solidFill>
                  <a:srgbClr val="17222C"/>
                </a:solidFill>
                <a:latin typeface="Arial" pitchFamily="34" charset="0"/>
                <a:ea typeface="Arial" pitchFamily="34" charset="-122"/>
                <a:cs typeface="Arial" pitchFamily="34" charset="-120"/>
              </a:rPr>
              <a:t>Et si dix fois plus</a:t>
            </a:r>
            <a:endParaRPr lang="en-US" sz="1600" dirty="0"/>
          </a:p>
          <a:p>
            <a:pPr indent="0" marL="0">
              <a:lnSpc>
                <a:spcPts val="2200"/>
              </a:lnSpc>
              <a:buNone/>
            </a:pPr>
            <a:r>
              <a:rPr lang="en-US" sz="1600" b="1" dirty="0">
                <a:solidFill>
                  <a:srgbClr val="17222C"/>
                </a:solidFill>
                <a:latin typeface="Arial" pitchFamily="34" charset="0"/>
                <a:ea typeface="Arial" pitchFamily="34" charset="-122"/>
                <a:cs typeface="Arial" pitchFamily="34" charset="-120"/>
              </a:rPr>
              <a:t>de monde arrive ?</a:t>
            </a:r>
            <a:endParaRPr lang="en-US" sz="1600" dirty="0"/>
          </a:p>
        </p:txBody>
      </p:sp>
      <p:sp>
        <p:nvSpPr>
          <p:cNvPr id="13" name="Text 11"/>
          <p:cNvSpPr txBox="1"/>
          <p:nvPr/>
        </p:nvSpPr>
        <p:spPr>
          <a:xfrm>
            <a:off x="4608576" y="3401568"/>
            <a:ext cx="2971800" cy="868680"/>
          </a:xfrm>
          <a:prstGeom prst="rect">
            <a:avLst/>
          </a:prstGeom>
          <a:noFill/>
          <a:ln/>
        </p:spPr>
        <p:txBody>
          <a:bodyPr wrap="square" lIns="0" tIns="0" rIns="0" bIns="0" rtlCol="0" anchor="ctr"/>
          <a:lstStyle/>
          <a:p>
            <a:pPr indent="0" marL="0">
              <a:buNone/>
            </a:pPr>
            <a:r>
              <a:rPr lang="en-US" sz="1350" dirty="0">
                <a:solidFill>
                  <a:srgbClr val="5C6B7A"/>
                </a:solidFill>
                <a:latin typeface="Calibri" pitchFamily="34" charset="0"/>
                <a:ea typeface="Calibri" pitchFamily="34" charset="-122"/>
                <a:cs typeface="Calibri" pitchFamily="34" charset="-120"/>
              </a:rPr>
              <a:t>Nos serveurs ne gardent rien. Donc en ajouter, c'est changer un chiffre.</a:t>
            </a:r>
            <a:endParaRPr lang="en-US" sz="1350" dirty="0"/>
          </a:p>
        </p:txBody>
      </p:sp>
      <p:sp>
        <p:nvSpPr>
          <p:cNvPr id="14" name="Shape 12"/>
          <p:cNvSpPr/>
          <p:nvPr/>
        </p:nvSpPr>
        <p:spPr>
          <a:xfrm>
            <a:off x="8101584" y="1691640"/>
            <a:ext cx="3520440" cy="2743200"/>
          </a:xfrm>
          <a:prstGeom prst="roundRect">
            <a:avLst>
              <a:gd name="adj" fmla="val 2000"/>
            </a:avLst>
          </a:prstGeom>
          <a:solidFill>
            <a:srgbClr val="F2F5F7"/>
          </a:solidFill>
          <a:ln w="9525">
            <a:solidFill>
              <a:srgbClr val="D3DBE3"/>
            </a:solidFill>
            <a:prstDash val="solid"/>
          </a:ln>
        </p:spPr>
      </p:sp>
      <p:sp>
        <p:nvSpPr>
          <p:cNvPr id="15" name="Shape 13"/>
          <p:cNvSpPr/>
          <p:nvPr/>
        </p:nvSpPr>
        <p:spPr>
          <a:xfrm>
            <a:off x="8375904" y="1965960"/>
            <a:ext cx="310896" cy="310896"/>
          </a:xfrm>
          <a:prstGeom prst="ellipse">
            <a:avLst/>
          </a:prstGeom>
          <a:solidFill>
            <a:srgbClr val="E08B1F"/>
          </a:solidFill>
          <a:ln w="12700">
            <a:solidFill>
              <a:srgbClr val="E08B1F"/>
            </a:solidFill>
            <a:prstDash val="solid"/>
          </a:ln>
        </p:spPr>
      </p:sp>
      <p:sp>
        <p:nvSpPr>
          <p:cNvPr id="16" name="Text 14"/>
          <p:cNvSpPr txBox="1"/>
          <p:nvPr/>
        </p:nvSpPr>
        <p:spPr>
          <a:xfrm>
            <a:off x="8375904" y="19659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8375904" y="2450592"/>
            <a:ext cx="2971800" cy="868680"/>
          </a:xfrm>
          <a:prstGeom prst="rect">
            <a:avLst/>
          </a:prstGeom>
          <a:noFill/>
          <a:ln/>
        </p:spPr>
        <p:txBody>
          <a:bodyPr wrap="square" lIns="0" tIns="0" rIns="0" bIns="0" rtlCol="0" anchor="ctr"/>
          <a:lstStyle/>
          <a:p>
            <a:pPr indent="0" marL="0">
              <a:lnSpc>
                <a:spcPts val="2200"/>
              </a:lnSpc>
              <a:buNone/>
            </a:pPr>
            <a:r>
              <a:rPr lang="en-US" sz="1600" b="1" dirty="0">
                <a:solidFill>
                  <a:srgbClr val="17222C"/>
                </a:solidFill>
                <a:latin typeface="Arial" pitchFamily="34" charset="0"/>
                <a:ea typeface="Arial" pitchFamily="34" charset="-122"/>
                <a:cs typeface="Arial" pitchFamily="34" charset="-120"/>
              </a:rPr>
              <a:t>Et si une machine</a:t>
            </a:r>
            <a:endParaRPr lang="en-US" sz="1600" dirty="0"/>
          </a:p>
          <a:p>
            <a:pPr indent="0" marL="0">
              <a:lnSpc>
                <a:spcPts val="2200"/>
              </a:lnSpc>
              <a:buNone/>
            </a:pPr>
            <a:r>
              <a:rPr lang="en-US" sz="1600" b="1" dirty="0">
                <a:solidFill>
                  <a:srgbClr val="17222C"/>
                </a:solidFill>
                <a:latin typeface="Arial" pitchFamily="34" charset="0"/>
                <a:ea typeface="Arial" pitchFamily="34" charset="-122"/>
                <a:cs typeface="Arial" pitchFamily="34" charset="-120"/>
              </a:rPr>
              <a:t>tombe en panne ?</a:t>
            </a:r>
            <a:endParaRPr lang="en-US" sz="1600" dirty="0"/>
          </a:p>
        </p:txBody>
      </p:sp>
      <p:sp>
        <p:nvSpPr>
          <p:cNvPr id="18" name="Text 16"/>
          <p:cNvSpPr txBox="1"/>
          <p:nvPr/>
        </p:nvSpPr>
        <p:spPr>
          <a:xfrm>
            <a:off x="8375904" y="3401568"/>
            <a:ext cx="2971800" cy="868680"/>
          </a:xfrm>
          <a:prstGeom prst="rect">
            <a:avLst/>
          </a:prstGeom>
          <a:noFill/>
          <a:ln/>
        </p:spPr>
        <p:txBody>
          <a:bodyPr wrap="square" lIns="0" tIns="0" rIns="0" bIns="0" rtlCol="0" anchor="ctr"/>
          <a:lstStyle/>
          <a:p>
            <a:pPr indent="0" marL="0">
              <a:buNone/>
            </a:pPr>
            <a:r>
              <a:rPr lang="en-US" sz="1350" dirty="0">
                <a:solidFill>
                  <a:srgbClr val="5C6B7A"/>
                </a:solidFill>
                <a:latin typeface="Calibri" pitchFamily="34" charset="0"/>
                <a:ea typeface="Calibri" pitchFamily="34" charset="-122"/>
                <a:cs typeface="Calibri" pitchFamily="34" charset="-120"/>
              </a:rPr>
              <a:t>On l'a mesuré : le client ne voit rien, et son panier est conservé.</a:t>
            </a:r>
            <a:endParaRPr lang="en-US" sz="1350" dirty="0"/>
          </a:p>
        </p:txBody>
      </p:sp>
      <p:sp>
        <p:nvSpPr>
          <p:cNvPr id="19" name="Text 17"/>
          <p:cNvSpPr txBox="1"/>
          <p:nvPr/>
        </p:nvSpPr>
        <p:spPr>
          <a:xfrm>
            <a:off x="566928" y="4800600"/>
            <a:ext cx="11055096" cy="365760"/>
          </a:xfrm>
          <a:prstGeom prst="rect">
            <a:avLst/>
          </a:prstGeom>
          <a:noFill/>
          <a:ln/>
        </p:spPr>
        <p:txBody>
          <a:bodyPr wrap="square" lIns="0" tIns="0" rIns="0" bIns="0" rtlCol="0" anchor="ctr"/>
          <a:lstStyle/>
          <a:p>
            <a:pPr indent="0" marL="0">
              <a:buNone/>
            </a:pPr>
            <a:r>
              <a:rPr lang="en-US" sz="1500" i="1" dirty="0">
                <a:solidFill>
                  <a:srgbClr val="9E5D06"/>
                </a:solidFill>
                <a:latin typeface="Calibri" pitchFamily="34" charset="0"/>
                <a:ea typeface="Calibri" pitchFamily="34" charset="-122"/>
                <a:cs typeface="Calibri" pitchFamily="34" charset="-120"/>
              </a:rPr>
              <a:t>Chaque choix qu'on va vous présenter répond à l'une de ces trois questions.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84048"/>
            <a:ext cx="11055096" cy="274320"/>
          </a:xfrm>
          <a:prstGeom prst="rect">
            <a:avLst/>
          </a:prstGeom>
          <a:noFill/>
          <a:ln/>
        </p:spPr>
        <p:txBody>
          <a:bodyPr wrap="square" lIns="0" tIns="0" rIns="0" bIns="0" rtlCol="0" anchor="ctr"/>
          <a:lstStyle/>
          <a:p>
            <a:pPr indent="0" marL="0">
              <a:buNone/>
            </a:pPr>
            <a:r>
              <a:rPr lang="en-US" sz="1100" spc="200" kern="0" dirty="0">
                <a:solidFill>
                  <a:srgbClr val="9E5D06"/>
                </a:solidFill>
                <a:latin typeface="Courier New" pitchFamily="34" charset="0"/>
                <a:ea typeface="Courier New" pitchFamily="34" charset="-122"/>
                <a:cs typeface="Courier New" pitchFamily="34" charset="-120"/>
              </a:rPr>
              <a:t>02 — L'ARCHITECTURE</a:t>
            </a:r>
            <a:endParaRPr lang="en-US" sz="1100" dirty="0"/>
          </a:p>
        </p:txBody>
      </p:sp>
      <p:sp>
        <p:nvSpPr>
          <p:cNvPr id="3" name="Text 1"/>
          <p:cNvSpPr txBox="1"/>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7222C"/>
                </a:solidFill>
                <a:latin typeface="Arial" pitchFamily="34" charset="0"/>
                <a:ea typeface="Arial" pitchFamily="34" charset="-122"/>
                <a:cs typeface="Arial" pitchFamily="34" charset="-120"/>
              </a:rPr>
              <a:t>Une entrée, des caisses, un coffre</a:t>
            </a:r>
            <a:endParaRPr lang="en-US" sz="3000" dirty="0"/>
          </a:p>
        </p:txBody>
      </p:sp>
      <p:sp>
        <p:nvSpPr>
          <p:cNvPr id="4" name="Shape 2"/>
          <p:cNvSpPr/>
          <p:nvPr/>
        </p:nvSpPr>
        <p:spPr>
          <a:xfrm>
            <a:off x="1417320" y="1956816"/>
            <a:ext cx="10149840" cy="1051560"/>
          </a:xfrm>
          <a:prstGeom prst="roundRect">
            <a:avLst>
              <a:gd name="adj" fmla="val 2609"/>
            </a:avLst>
          </a:prstGeom>
          <a:solidFill>
            <a:srgbClr val="F2F5F7"/>
          </a:solidFill>
          <a:ln w="9525">
            <a:solidFill>
              <a:srgbClr val="D3DBE3"/>
            </a:solidFill>
            <a:prstDash val="solid"/>
          </a:ln>
        </p:spPr>
      </p:sp>
      <p:sp>
        <p:nvSpPr>
          <p:cNvPr id="5" name="Text 3"/>
          <p:cNvSpPr txBox="1"/>
          <p:nvPr/>
        </p:nvSpPr>
        <p:spPr>
          <a:xfrm>
            <a:off x="521208" y="2208276"/>
            <a:ext cx="868680" cy="548640"/>
          </a:xfrm>
          <a:prstGeom prst="rect">
            <a:avLst/>
          </a:prstGeom>
          <a:noFill/>
          <a:ln/>
        </p:spPr>
        <p:txBody>
          <a:bodyPr wrap="square" lIns="0" tIns="0" rIns="0" bIns="0" rtlCol="0" anchor="ctr"/>
          <a:lstStyle/>
          <a:p>
            <a:pPr algn="r" indent="0" marL="0">
              <a:buNone/>
            </a:pPr>
            <a:r>
              <a:rPr lang="en-US" sz="850" dirty="0">
                <a:solidFill>
                  <a:srgbClr val="5C6B7A"/>
                </a:solidFill>
                <a:latin typeface="Courier New" pitchFamily="34" charset="0"/>
                <a:ea typeface="Courier New" pitchFamily="34" charset="-122"/>
                <a:cs typeface="Courier New" pitchFamily="34" charset="-120"/>
              </a:rPr>
              <a:t>CÔTÉ RUE</a:t>
            </a:r>
            <a:endParaRPr lang="en-US" sz="850" dirty="0"/>
          </a:p>
          <a:p>
            <a:pPr algn="r" indent="0" marL="0">
              <a:buNone/>
            </a:pPr>
            <a:r>
              <a:rPr lang="en-US" sz="850" dirty="0">
                <a:solidFill>
                  <a:srgbClr val="5C6B7A"/>
                </a:solidFill>
                <a:latin typeface="Courier New" pitchFamily="34" charset="0"/>
                <a:ea typeface="Courier New" pitchFamily="34" charset="-122"/>
                <a:cs typeface="Courier New" pitchFamily="34" charset="-120"/>
              </a:rPr>
              <a:t>(public)</a:t>
            </a:r>
            <a:endParaRPr lang="en-US" sz="850" dirty="0"/>
          </a:p>
        </p:txBody>
      </p:sp>
      <p:sp>
        <p:nvSpPr>
          <p:cNvPr id="6" name="Shape 4"/>
          <p:cNvSpPr/>
          <p:nvPr/>
        </p:nvSpPr>
        <p:spPr>
          <a:xfrm>
            <a:off x="1417320" y="3355848"/>
            <a:ext cx="10149840" cy="1051560"/>
          </a:xfrm>
          <a:prstGeom prst="roundRect">
            <a:avLst>
              <a:gd name="adj" fmla="val 2609"/>
            </a:avLst>
          </a:prstGeom>
          <a:solidFill>
            <a:srgbClr val="F2F5F7"/>
          </a:solidFill>
          <a:ln w="9525">
            <a:solidFill>
              <a:srgbClr val="D3DBE3"/>
            </a:solidFill>
            <a:prstDash val="solid"/>
          </a:ln>
        </p:spPr>
      </p:sp>
      <p:sp>
        <p:nvSpPr>
          <p:cNvPr id="7" name="Text 5"/>
          <p:cNvSpPr txBox="1"/>
          <p:nvPr/>
        </p:nvSpPr>
        <p:spPr>
          <a:xfrm>
            <a:off x="521208" y="3607308"/>
            <a:ext cx="868680" cy="548640"/>
          </a:xfrm>
          <a:prstGeom prst="rect">
            <a:avLst/>
          </a:prstGeom>
          <a:noFill/>
          <a:ln/>
        </p:spPr>
        <p:txBody>
          <a:bodyPr wrap="square" lIns="0" tIns="0" rIns="0" bIns="0" rtlCol="0" anchor="ctr"/>
          <a:lstStyle/>
          <a:p>
            <a:pPr algn="r" indent="0" marL="0">
              <a:buNone/>
            </a:pPr>
            <a:r>
              <a:rPr lang="en-US" sz="850" dirty="0">
                <a:solidFill>
                  <a:srgbClr val="5C6B7A"/>
                </a:solidFill>
                <a:latin typeface="Courier New" pitchFamily="34" charset="0"/>
                <a:ea typeface="Courier New" pitchFamily="34" charset="-122"/>
                <a:cs typeface="Courier New" pitchFamily="34" charset="-120"/>
              </a:rPr>
              <a:t>LES CAISSES</a:t>
            </a:r>
            <a:endParaRPr lang="en-US" sz="850" dirty="0"/>
          </a:p>
          <a:p>
            <a:pPr algn="r" indent="0" marL="0">
              <a:buNone/>
            </a:pPr>
            <a:r>
              <a:rPr lang="en-US" sz="850" dirty="0">
                <a:solidFill>
                  <a:srgbClr val="5C6B7A"/>
                </a:solidFill>
                <a:latin typeface="Courier New" pitchFamily="34" charset="0"/>
                <a:ea typeface="Courier New" pitchFamily="34" charset="-122"/>
                <a:cs typeface="Courier New" pitchFamily="34" charset="-120"/>
              </a:rPr>
              <a:t>(privé)</a:t>
            </a:r>
            <a:endParaRPr lang="en-US" sz="850" dirty="0"/>
          </a:p>
        </p:txBody>
      </p:sp>
      <p:sp>
        <p:nvSpPr>
          <p:cNvPr id="8" name="Shape 6"/>
          <p:cNvSpPr/>
          <p:nvPr/>
        </p:nvSpPr>
        <p:spPr>
          <a:xfrm>
            <a:off x="1417320" y="4727448"/>
            <a:ext cx="10149840" cy="1188720"/>
          </a:xfrm>
          <a:prstGeom prst="roundRect">
            <a:avLst>
              <a:gd name="adj" fmla="val 2308"/>
            </a:avLst>
          </a:prstGeom>
          <a:solidFill>
            <a:srgbClr val="F2F5F7"/>
          </a:solidFill>
          <a:ln w="9525">
            <a:solidFill>
              <a:srgbClr val="D3DBE3"/>
            </a:solidFill>
            <a:prstDash val="solid"/>
          </a:ln>
        </p:spPr>
      </p:sp>
      <p:sp>
        <p:nvSpPr>
          <p:cNvPr id="9" name="Text 7"/>
          <p:cNvSpPr txBox="1"/>
          <p:nvPr/>
        </p:nvSpPr>
        <p:spPr>
          <a:xfrm>
            <a:off x="521208" y="5047488"/>
            <a:ext cx="868680" cy="548640"/>
          </a:xfrm>
          <a:prstGeom prst="rect">
            <a:avLst/>
          </a:prstGeom>
          <a:noFill/>
          <a:ln/>
        </p:spPr>
        <p:txBody>
          <a:bodyPr wrap="square" lIns="0" tIns="0" rIns="0" bIns="0" rtlCol="0" anchor="ctr"/>
          <a:lstStyle/>
          <a:p>
            <a:pPr algn="r" indent="0" marL="0">
              <a:buNone/>
            </a:pPr>
            <a:r>
              <a:rPr lang="en-US" sz="850" dirty="0">
                <a:solidFill>
                  <a:srgbClr val="5C6B7A"/>
                </a:solidFill>
                <a:latin typeface="Courier New" pitchFamily="34" charset="0"/>
                <a:ea typeface="Courier New" pitchFamily="34" charset="-122"/>
                <a:cs typeface="Courier New" pitchFamily="34" charset="-120"/>
              </a:rPr>
              <a:t>LES RÉSERVES</a:t>
            </a:r>
            <a:endParaRPr lang="en-US" sz="850" dirty="0"/>
          </a:p>
          <a:p>
            <a:pPr algn="r" indent="0" marL="0">
              <a:buNone/>
            </a:pPr>
            <a:r>
              <a:rPr lang="en-US" sz="850" dirty="0">
                <a:solidFill>
                  <a:srgbClr val="5C6B7A"/>
                </a:solidFill>
                <a:latin typeface="Courier New" pitchFamily="34" charset="0"/>
                <a:ea typeface="Courier New" pitchFamily="34" charset="-122"/>
                <a:cs typeface="Courier New" pitchFamily="34" charset="-120"/>
              </a:rPr>
              <a:t>(privé)</a:t>
            </a:r>
            <a:endParaRPr lang="en-US" sz="850" dirty="0"/>
          </a:p>
        </p:txBody>
      </p:sp>
      <p:sp>
        <p:nvSpPr>
          <p:cNvPr id="10" name="Text 8"/>
          <p:cNvSpPr txBox="1"/>
          <p:nvPr/>
        </p:nvSpPr>
        <p:spPr>
          <a:xfrm>
            <a:off x="1691640" y="1554480"/>
            <a:ext cx="1828800" cy="274320"/>
          </a:xfrm>
          <a:prstGeom prst="rect">
            <a:avLst/>
          </a:prstGeom>
          <a:noFill/>
          <a:ln/>
        </p:spPr>
        <p:txBody>
          <a:bodyPr wrap="square" lIns="0" tIns="0" rIns="0" bIns="0" rtlCol="0" anchor="ctr"/>
          <a:lstStyle/>
          <a:p>
            <a:pPr indent="0" marL="0">
              <a:buNone/>
            </a:pPr>
            <a:r>
              <a:rPr lang="en-US" sz="1000" dirty="0">
                <a:solidFill>
                  <a:srgbClr val="5C6B7A"/>
                </a:solidFill>
                <a:latin typeface="Courier New" pitchFamily="34" charset="0"/>
                <a:ea typeface="Courier New" pitchFamily="34" charset="-122"/>
                <a:cs typeface="Courier New" pitchFamily="34" charset="-120"/>
              </a:rPr>
              <a:t>LES CLIENTS</a:t>
            </a:r>
            <a:endParaRPr lang="en-US" sz="1000" dirty="0"/>
          </a:p>
        </p:txBody>
      </p:sp>
      <p:sp>
        <p:nvSpPr>
          <p:cNvPr id="11" name="Shape 9"/>
          <p:cNvSpPr/>
          <p:nvPr/>
        </p:nvSpPr>
        <p:spPr>
          <a:xfrm>
            <a:off x="2103120" y="1810512"/>
            <a:ext cx="0" cy="146304"/>
          </a:xfrm>
          <a:prstGeom prst="line">
            <a:avLst/>
          </a:prstGeom>
          <a:noFill/>
          <a:ln w="19050">
            <a:solidFill>
              <a:srgbClr val="E08B1F"/>
            </a:solidFill>
            <a:prstDash val="solid"/>
          </a:ln>
        </p:spPr>
      </p:sp>
      <p:sp>
        <p:nvSpPr>
          <p:cNvPr id="12" name="Text 10"/>
          <p:cNvSpPr txBox="1"/>
          <p:nvPr/>
        </p:nvSpPr>
        <p:spPr>
          <a:xfrm>
            <a:off x="2286000" y="1737360"/>
            <a:ext cx="1097280" cy="228600"/>
          </a:xfrm>
          <a:prstGeom prst="rect">
            <a:avLst/>
          </a:prstGeom>
          <a:noFill/>
          <a:ln/>
        </p:spPr>
        <p:txBody>
          <a:bodyPr wrap="square" lIns="0" tIns="0" rIns="0" bIns="0" rtlCol="0" anchor="ctr"/>
          <a:lstStyle/>
          <a:p>
            <a:pPr indent="0" marL="0">
              <a:buNone/>
            </a:pPr>
            <a:r>
              <a:rPr lang="en-US" sz="850" dirty="0">
                <a:solidFill>
                  <a:srgbClr val="9E5D06"/>
                </a:solidFill>
                <a:latin typeface="Courier New" pitchFamily="34" charset="0"/>
                <a:ea typeface="Courier New" pitchFamily="34" charset="-122"/>
                <a:cs typeface="Courier New" pitchFamily="34" charset="-120"/>
              </a:rPr>
              <a:t>le site</a:t>
            </a:r>
            <a:endParaRPr lang="en-US" sz="850" dirty="0"/>
          </a:p>
        </p:txBody>
      </p:sp>
      <p:sp>
        <p:nvSpPr>
          <p:cNvPr id="13" name="Shape 11"/>
          <p:cNvSpPr/>
          <p:nvPr/>
        </p:nvSpPr>
        <p:spPr>
          <a:xfrm>
            <a:off x="9281160" y="1810512"/>
            <a:ext cx="0" cy="146304"/>
          </a:xfrm>
          <a:prstGeom prst="line">
            <a:avLst/>
          </a:prstGeom>
          <a:noFill/>
          <a:ln w="15875">
            <a:solidFill>
              <a:srgbClr val="5C6B7A"/>
            </a:solidFill>
            <a:prstDash val="dash"/>
          </a:ln>
        </p:spPr>
      </p:sp>
      <p:sp>
        <p:nvSpPr>
          <p:cNvPr id="14" name="Text 12"/>
          <p:cNvSpPr txBox="1"/>
          <p:nvPr/>
        </p:nvSpPr>
        <p:spPr>
          <a:xfrm>
            <a:off x="9464040" y="1737360"/>
            <a:ext cx="2194560" cy="228600"/>
          </a:xfrm>
          <a:prstGeom prst="rect">
            <a:avLst/>
          </a:prstGeom>
          <a:noFill/>
          <a:ln/>
        </p:spPr>
        <p:txBody>
          <a:bodyPr wrap="square" lIns="0" tIns="0" rIns="0" bIns="0" rtlCol="0" anchor="ctr"/>
          <a:lstStyle/>
          <a:p>
            <a:pPr indent="0" marL="0">
              <a:buNone/>
            </a:pPr>
            <a:r>
              <a:rPr lang="en-US" sz="850" dirty="0">
                <a:solidFill>
                  <a:srgbClr val="5C6B7A"/>
                </a:solidFill>
                <a:latin typeface="Courier New" pitchFamily="34" charset="0"/>
                <a:ea typeface="Courier New" pitchFamily="34" charset="-122"/>
                <a:cs typeface="Courier New" pitchFamily="34" charset="-120"/>
              </a:rPr>
              <a:t>nous, pour installer</a:t>
            </a:r>
            <a:endParaRPr lang="en-US" sz="850" dirty="0"/>
          </a:p>
        </p:txBody>
      </p:sp>
      <p:sp>
        <p:nvSpPr>
          <p:cNvPr id="15" name="Shape 13"/>
          <p:cNvSpPr/>
          <p:nvPr/>
        </p:nvSpPr>
        <p:spPr>
          <a:xfrm>
            <a:off x="1673352" y="2103120"/>
            <a:ext cx="4663440" cy="749808"/>
          </a:xfrm>
          <a:prstGeom prst="roundRect">
            <a:avLst>
              <a:gd name="adj" fmla="val 7317"/>
            </a:avLst>
          </a:prstGeom>
          <a:solidFill>
            <a:srgbClr val="FFFFFF"/>
          </a:solidFill>
          <a:ln w="9525">
            <a:solidFill>
              <a:srgbClr val="E08B1F"/>
            </a:solidFill>
            <a:prstDash val="solid"/>
          </a:ln>
        </p:spPr>
      </p:sp>
      <p:sp>
        <p:nvSpPr>
          <p:cNvPr id="16" name="Text 14"/>
          <p:cNvSpPr txBox="1"/>
          <p:nvPr/>
        </p:nvSpPr>
        <p:spPr>
          <a:xfrm>
            <a:off x="1828800" y="2194560"/>
            <a:ext cx="4389120" cy="274320"/>
          </a:xfrm>
          <a:prstGeom prst="rect">
            <a:avLst/>
          </a:prstGeom>
          <a:noFill/>
          <a:ln/>
        </p:spPr>
        <p:txBody>
          <a:bodyPr wrap="square" lIns="0" tIns="0" rIns="0" bIns="0" rtlCol="0" anchor="ctr"/>
          <a:lstStyle/>
          <a:p>
            <a:pPr indent="0" marL="0">
              <a:buNone/>
            </a:pPr>
            <a:r>
              <a:rPr lang="en-US" sz="1300" b="1" dirty="0">
                <a:solidFill>
                  <a:srgbClr val="17222C"/>
                </a:solidFill>
                <a:latin typeface="Arial" pitchFamily="34" charset="0"/>
                <a:ea typeface="Arial" pitchFamily="34" charset="-122"/>
                <a:cs typeface="Arial" pitchFamily="34" charset="-120"/>
              </a:rPr>
              <a:t>Le répartiteur  (load balancer)</a:t>
            </a:r>
            <a:endParaRPr lang="en-US" sz="1300" dirty="0"/>
          </a:p>
        </p:txBody>
      </p:sp>
      <p:sp>
        <p:nvSpPr>
          <p:cNvPr id="17" name="Text 15"/>
          <p:cNvSpPr txBox="1"/>
          <p:nvPr/>
        </p:nvSpPr>
        <p:spPr>
          <a:xfrm>
            <a:off x="1828800" y="2487168"/>
            <a:ext cx="4389120" cy="274320"/>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il envoie chaque visiteur vers une caisse qui va bien</a:t>
            </a:r>
            <a:endParaRPr lang="en-US" sz="1100" dirty="0"/>
          </a:p>
        </p:txBody>
      </p:sp>
      <p:sp>
        <p:nvSpPr>
          <p:cNvPr id="18" name="Shape 16"/>
          <p:cNvSpPr/>
          <p:nvPr/>
        </p:nvSpPr>
        <p:spPr>
          <a:xfrm>
            <a:off x="8366760" y="2103120"/>
            <a:ext cx="2926080" cy="749808"/>
          </a:xfrm>
          <a:prstGeom prst="roundRect">
            <a:avLst>
              <a:gd name="adj" fmla="val 7317"/>
            </a:avLst>
          </a:prstGeom>
          <a:solidFill>
            <a:srgbClr val="FFFFFF"/>
          </a:solidFill>
          <a:ln w="9525">
            <a:solidFill>
              <a:srgbClr val="B4C0CC"/>
            </a:solidFill>
            <a:prstDash val="solid"/>
          </a:ln>
        </p:spPr>
      </p:sp>
      <p:sp>
        <p:nvSpPr>
          <p:cNvPr id="19" name="Text 17"/>
          <p:cNvSpPr txBox="1"/>
          <p:nvPr/>
        </p:nvSpPr>
        <p:spPr>
          <a:xfrm>
            <a:off x="8531352" y="2194560"/>
            <a:ext cx="2651760" cy="274320"/>
          </a:xfrm>
          <a:prstGeom prst="rect">
            <a:avLst/>
          </a:prstGeom>
          <a:noFill/>
          <a:ln/>
        </p:spPr>
        <p:txBody>
          <a:bodyPr wrap="square" lIns="0" tIns="0" rIns="0" bIns="0" rtlCol="0" anchor="ctr"/>
          <a:lstStyle/>
          <a:p>
            <a:pPr indent="0" marL="0">
              <a:buNone/>
            </a:pPr>
            <a:r>
              <a:rPr lang="en-US" sz="1300" b="1" dirty="0">
                <a:solidFill>
                  <a:srgbClr val="17222C"/>
                </a:solidFill>
                <a:latin typeface="Arial" pitchFamily="34" charset="0"/>
                <a:ea typeface="Arial" pitchFamily="34" charset="-122"/>
                <a:cs typeface="Arial" pitchFamily="34" charset="-120"/>
              </a:rPr>
              <a:t>L'entrée de service</a:t>
            </a:r>
            <a:endParaRPr lang="en-US" sz="1300" dirty="0"/>
          </a:p>
        </p:txBody>
      </p:sp>
      <p:sp>
        <p:nvSpPr>
          <p:cNvPr id="20" name="Text 18"/>
          <p:cNvSpPr txBox="1"/>
          <p:nvPr/>
        </p:nvSpPr>
        <p:spPr>
          <a:xfrm>
            <a:off x="8531352" y="2487168"/>
            <a:ext cx="2651760" cy="274320"/>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réservée à l'équipe, jamais aux clients</a:t>
            </a:r>
            <a:endParaRPr lang="en-US" sz="1100" dirty="0"/>
          </a:p>
        </p:txBody>
      </p:sp>
      <p:sp>
        <p:nvSpPr>
          <p:cNvPr id="21" name="Shape 19"/>
          <p:cNvSpPr/>
          <p:nvPr/>
        </p:nvSpPr>
        <p:spPr>
          <a:xfrm>
            <a:off x="3611880" y="2871216"/>
            <a:ext cx="0" cy="457200"/>
          </a:xfrm>
          <a:prstGeom prst="line">
            <a:avLst/>
          </a:prstGeom>
          <a:noFill/>
          <a:ln w="22225">
            <a:solidFill>
              <a:srgbClr val="E08B1F"/>
            </a:solidFill>
            <a:prstDash val="solid"/>
            <a:tailEnd type="triangle"/>
          </a:ln>
        </p:spPr>
      </p:sp>
      <p:sp>
        <p:nvSpPr>
          <p:cNvPr id="22" name="Shape 20"/>
          <p:cNvSpPr/>
          <p:nvPr/>
        </p:nvSpPr>
        <p:spPr>
          <a:xfrm>
            <a:off x="9829800" y="2871216"/>
            <a:ext cx="0" cy="457200"/>
          </a:xfrm>
          <a:prstGeom prst="line">
            <a:avLst/>
          </a:prstGeom>
          <a:noFill/>
          <a:ln w="15875">
            <a:solidFill>
              <a:srgbClr val="5C6B7A"/>
            </a:solidFill>
            <a:prstDash val="dash"/>
            <a:tailEnd type="triangle"/>
          </a:ln>
        </p:spPr>
      </p:sp>
      <p:sp>
        <p:nvSpPr>
          <p:cNvPr id="23" name="Shape 21"/>
          <p:cNvSpPr/>
          <p:nvPr/>
        </p:nvSpPr>
        <p:spPr>
          <a:xfrm>
            <a:off x="1673352" y="3511296"/>
            <a:ext cx="9601200" cy="749808"/>
          </a:xfrm>
          <a:prstGeom prst="roundRect">
            <a:avLst>
              <a:gd name="adj" fmla="val 7317"/>
            </a:avLst>
          </a:prstGeom>
          <a:solidFill>
            <a:srgbClr val="FFFFFF"/>
          </a:solidFill>
          <a:ln w="9525">
            <a:solidFill>
              <a:srgbClr val="B4C0CC"/>
            </a:solidFill>
            <a:prstDash val="solid"/>
          </a:ln>
        </p:spPr>
      </p:sp>
      <p:sp>
        <p:nvSpPr>
          <p:cNvPr id="24" name="Text 22"/>
          <p:cNvSpPr txBox="1"/>
          <p:nvPr/>
        </p:nvSpPr>
        <p:spPr>
          <a:xfrm>
            <a:off x="1828800" y="3584448"/>
            <a:ext cx="9235440" cy="274320"/>
          </a:xfrm>
          <a:prstGeom prst="rect">
            <a:avLst/>
          </a:prstGeom>
          <a:noFill/>
          <a:ln/>
        </p:spPr>
        <p:txBody>
          <a:bodyPr wrap="square" lIns="0" tIns="0" rIns="0" bIns="0" rtlCol="0" anchor="ctr"/>
          <a:lstStyle/>
          <a:p>
            <a:pPr indent="0" marL="0">
              <a:buNone/>
            </a:pPr>
            <a:r>
              <a:rPr lang="en-US" sz="1300" b="1" dirty="0">
                <a:solidFill>
                  <a:srgbClr val="17222C"/>
                </a:solidFill>
                <a:latin typeface="Arial" pitchFamily="34" charset="0"/>
                <a:ea typeface="Arial" pitchFamily="34" charset="-122"/>
                <a:cs typeface="Arial" pitchFamily="34" charset="-120"/>
              </a:rPr>
              <a:t>Les caisses : des serveurs qui font tourner PrestaShop</a:t>
            </a:r>
            <a:endParaRPr lang="en-US" sz="1300" dirty="0"/>
          </a:p>
        </p:txBody>
      </p:sp>
      <p:sp>
        <p:nvSpPr>
          <p:cNvPr id="25" name="Text 23"/>
          <p:cNvSpPr txBox="1"/>
          <p:nvPr/>
        </p:nvSpPr>
        <p:spPr>
          <a:xfrm>
            <a:off x="1828800" y="3877056"/>
            <a:ext cx="9235440" cy="274320"/>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toutes identiques, interchangeables — et aucune n'est joignable depuis Internet</a:t>
            </a:r>
            <a:endParaRPr lang="en-US" sz="1100" dirty="0"/>
          </a:p>
        </p:txBody>
      </p:sp>
      <p:sp>
        <p:nvSpPr>
          <p:cNvPr id="26" name="Shape 24"/>
          <p:cNvSpPr/>
          <p:nvPr/>
        </p:nvSpPr>
        <p:spPr>
          <a:xfrm>
            <a:off x="3611880" y="4279392"/>
            <a:ext cx="0" cy="420624"/>
          </a:xfrm>
          <a:prstGeom prst="line">
            <a:avLst/>
          </a:prstGeom>
          <a:noFill/>
          <a:ln w="22225">
            <a:solidFill>
              <a:srgbClr val="0C6A72"/>
            </a:solidFill>
            <a:prstDash val="solid"/>
            <a:tailEnd type="triangle"/>
          </a:ln>
        </p:spPr>
      </p:sp>
      <p:sp>
        <p:nvSpPr>
          <p:cNvPr id="27" name="Shape 25"/>
          <p:cNvSpPr/>
          <p:nvPr/>
        </p:nvSpPr>
        <p:spPr>
          <a:xfrm>
            <a:off x="8915400" y="4279392"/>
            <a:ext cx="0" cy="420624"/>
          </a:xfrm>
          <a:prstGeom prst="line">
            <a:avLst/>
          </a:prstGeom>
          <a:noFill/>
          <a:ln w="22225">
            <a:solidFill>
              <a:srgbClr val="0C6A72"/>
            </a:solidFill>
            <a:prstDash val="solid"/>
            <a:tailEnd type="triangle"/>
          </a:ln>
        </p:spPr>
      </p:sp>
      <p:sp>
        <p:nvSpPr>
          <p:cNvPr id="28" name="Shape 26"/>
          <p:cNvSpPr/>
          <p:nvPr/>
        </p:nvSpPr>
        <p:spPr>
          <a:xfrm>
            <a:off x="1673352" y="4882896"/>
            <a:ext cx="4663440" cy="877824"/>
          </a:xfrm>
          <a:prstGeom prst="roundRect">
            <a:avLst>
              <a:gd name="adj" fmla="val 6250"/>
            </a:avLst>
          </a:prstGeom>
          <a:solidFill>
            <a:srgbClr val="FFFFFF"/>
          </a:solidFill>
          <a:ln w="9525">
            <a:solidFill>
              <a:srgbClr val="0C6A72"/>
            </a:solidFill>
            <a:prstDash val="solid"/>
          </a:ln>
        </p:spPr>
      </p:sp>
      <p:sp>
        <p:nvSpPr>
          <p:cNvPr id="29" name="Text 27"/>
          <p:cNvSpPr txBox="1"/>
          <p:nvPr/>
        </p:nvSpPr>
        <p:spPr>
          <a:xfrm>
            <a:off x="1828800" y="4974336"/>
            <a:ext cx="4389120" cy="274320"/>
          </a:xfrm>
          <a:prstGeom prst="rect">
            <a:avLst/>
          </a:prstGeom>
          <a:noFill/>
          <a:ln/>
        </p:spPr>
        <p:txBody>
          <a:bodyPr wrap="square" lIns="0" tIns="0" rIns="0" bIns="0" rtlCol="0" anchor="ctr"/>
          <a:lstStyle/>
          <a:p>
            <a:pPr indent="0" marL="0">
              <a:buNone/>
            </a:pPr>
            <a:r>
              <a:rPr lang="en-US" sz="1300" b="1" dirty="0">
                <a:solidFill>
                  <a:srgbClr val="17222C"/>
                </a:solidFill>
                <a:latin typeface="Arial" pitchFamily="34" charset="0"/>
                <a:ea typeface="Arial" pitchFamily="34" charset="-122"/>
                <a:cs typeface="Arial" pitchFamily="34" charset="-120"/>
              </a:rPr>
              <a:t>Le coffre : la base de données</a:t>
            </a:r>
            <a:endParaRPr lang="en-US" sz="1300" dirty="0"/>
          </a:p>
        </p:txBody>
      </p:sp>
      <p:sp>
        <p:nvSpPr>
          <p:cNvPr id="30" name="Text 28"/>
          <p:cNvSpPr txBox="1"/>
          <p:nvPr/>
        </p:nvSpPr>
        <p:spPr>
          <a:xfrm>
            <a:off x="1828800" y="5285232"/>
            <a:ext cx="4389120" cy="320040"/>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les billets, les paniers, les commandes</a:t>
            </a:r>
            <a:endParaRPr lang="en-US" sz="1100" dirty="0"/>
          </a:p>
        </p:txBody>
      </p:sp>
      <p:sp>
        <p:nvSpPr>
          <p:cNvPr id="31" name="Shape 29"/>
          <p:cNvSpPr/>
          <p:nvPr/>
        </p:nvSpPr>
        <p:spPr>
          <a:xfrm>
            <a:off x="6629400" y="4882896"/>
            <a:ext cx="4663440" cy="877824"/>
          </a:xfrm>
          <a:prstGeom prst="roundRect">
            <a:avLst>
              <a:gd name="adj" fmla="val 6250"/>
            </a:avLst>
          </a:prstGeom>
          <a:solidFill>
            <a:srgbClr val="FFFFFF"/>
          </a:solidFill>
          <a:ln w="9525">
            <a:solidFill>
              <a:srgbClr val="0C6A72"/>
            </a:solidFill>
            <a:prstDash val="solid"/>
          </a:ln>
        </p:spPr>
      </p:sp>
      <p:sp>
        <p:nvSpPr>
          <p:cNvPr id="32" name="Text 30"/>
          <p:cNvSpPr txBox="1"/>
          <p:nvPr/>
        </p:nvSpPr>
        <p:spPr>
          <a:xfrm>
            <a:off x="6793992" y="4974336"/>
            <a:ext cx="4389120" cy="274320"/>
          </a:xfrm>
          <a:prstGeom prst="rect">
            <a:avLst/>
          </a:prstGeom>
          <a:noFill/>
          <a:ln/>
        </p:spPr>
        <p:txBody>
          <a:bodyPr wrap="square" lIns="0" tIns="0" rIns="0" bIns="0" rtlCol="0" anchor="ctr"/>
          <a:lstStyle/>
          <a:p>
            <a:pPr indent="0" marL="0">
              <a:buNone/>
            </a:pPr>
            <a:r>
              <a:rPr lang="en-US" sz="1300" b="1" dirty="0">
                <a:solidFill>
                  <a:srgbClr val="17222C"/>
                </a:solidFill>
                <a:latin typeface="Arial" pitchFamily="34" charset="0"/>
                <a:ea typeface="Arial" pitchFamily="34" charset="-122"/>
                <a:cs typeface="Arial" pitchFamily="34" charset="-120"/>
              </a:rPr>
              <a:t>Le vestiaire : un disque partagé</a:t>
            </a:r>
            <a:endParaRPr lang="en-US" sz="1300" dirty="0"/>
          </a:p>
        </p:txBody>
      </p:sp>
      <p:sp>
        <p:nvSpPr>
          <p:cNvPr id="33" name="Text 31"/>
          <p:cNvSpPr txBox="1"/>
          <p:nvPr/>
        </p:nvSpPr>
        <p:spPr>
          <a:xfrm>
            <a:off x="6793992" y="5285232"/>
            <a:ext cx="4389120" cy="320040"/>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les images, le thème, et les paniers en cours</a:t>
            </a:r>
            <a:endParaRPr lang="en-US" sz="1100" dirty="0"/>
          </a:p>
        </p:txBody>
      </p:sp>
      <p:sp>
        <p:nvSpPr>
          <p:cNvPr id="34" name="Text 32"/>
          <p:cNvSpPr txBox="1"/>
          <p:nvPr/>
        </p:nvSpPr>
        <p:spPr>
          <a:xfrm>
            <a:off x="566928" y="6035040"/>
            <a:ext cx="11055096" cy="365760"/>
          </a:xfrm>
          <a:prstGeom prst="rect">
            <a:avLst/>
          </a:prstGeom>
          <a:noFill/>
          <a:ln/>
        </p:spPr>
        <p:txBody>
          <a:bodyPr wrap="square" lIns="0" tIns="0" rIns="0" bIns="0" rtlCol="0" anchor="ctr"/>
          <a:lstStyle/>
          <a:p>
            <a:pPr indent="0" marL="0">
              <a:buNone/>
            </a:pPr>
            <a:r>
              <a:rPr lang="en-US" sz="1500" i="1" dirty="0">
                <a:solidFill>
                  <a:srgbClr val="9E5D06"/>
                </a:solidFill>
                <a:latin typeface="Calibri" pitchFamily="34" charset="0"/>
                <a:ea typeface="Calibri" pitchFamily="34" charset="-122"/>
                <a:cs typeface="Calibri" pitchFamily="34" charset="-120"/>
              </a:rPr>
              <a:t>Les caisses ne gardent rien : tout est dans le coffre et le vestiaire. C'est ce qui rend tout le reste possible.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84048"/>
            <a:ext cx="11055096" cy="274320"/>
          </a:xfrm>
          <a:prstGeom prst="rect">
            <a:avLst/>
          </a:prstGeom>
          <a:noFill/>
          <a:ln/>
        </p:spPr>
        <p:txBody>
          <a:bodyPr wrap="square" lIns="0" tIns="0" rIns="0" bIns="0" rtlCol="0" anchor="ctr"/>
          <a:lstStyle/>
          <a:p>
            <a:pPr indent="0" marL="0">
              <a:buNone/>
            </a:pPr>
            <a:r>
              <a:rPr lang="en-US" sz="1100" spc="200" kern="0" dirty="0">
                <a:solidFill>
                  <a:srgbClr val="9E5D06"/>
                </a:solidFill>
                <a:latin typeface="Courier New" pitchFamily="34" charset="0"/>
                <a:ea typeface="Courier New" pitchFamily="34" charset="-122"/>
                <a:cs typeface="Courier New" pitchFamily="34" charset="-120"/>
              </a:rPr>
              <a:t>03 — NOS CHOIX</a:t>
            </a:r>
            <a:endParaRPr lang="en-US" sz="1100" dirty="0"/>
          </a:p>
        </p:txBody>
      </p:sp>
      <p:sp>
        <p:nvSpPr>
          <p:cNvPr id="3" name="Text 1"/>
          <p:cNvSpPr txBox="1"/>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7222C"/>
                </a:solidFill>
                <a:latin typeface="Arial" pitchFamily="34" charset="0"/>
                <a:ea typeface="Arial" pitchFamily="34" charset="-122"/>
                <a:cs typeface="Arial" pitchFamily="34" charset="-120"/>
              </a:rPr>
              <a:t>Ce qu'on gère, ce qu'on laisse à AWS</a:t>
            </a:r>
            <a:endParaRPr lang="en-US" sz="3000" dirty="0"/>
          </a:p>
        </p:txBody>
      </p:sp>
      <p:sp>
        <p:nvSpPr>
          <p:cNvPr id="4" name="Text 2"/>
          <p:cNvSpPr txBox="1"/>
          <p:nvPr/>
        </p:nvSpPr>
        <p:spPr>
          <a:xfrm>
            <a:off x="566928" y="1463040"/>
            <a:ext cx="10789920" cy="411480"/>
          </a:xfrm>
          <a:prstGeom prst="rect">
            <a:avLst/>
          </a:prstGeom>
          <a:noFill/>
          <a:ln/>
        </p:spPr>
        <p:txBody>
          <a:bodyPr wrap="square" lIns="0" tIns="0" rIns="0" bIns="0" rtlCol="0" anchor="ctr"/>
          <a:lstStyle/>
          <a:p>
            <a:pPr indent="0" marL="0">
              <a:buNone/>
            </a:pPr>
            <a:r>
              <a:rPr lang="en-US" sz="1400" dirty="0">
                <a:solidFill>
                  <a:srgbClr val="5C6B7A"/>
                </a:solidFill>
                <a:latin typeface="Calibri" pitchFamily="34" charset="0"/>
                <a:ea typeface="Calibri" pitchFamily="34" charset="-122"/>
                <a:cs typeface="Calibri" pitchFamily="34" charset="-120"/>
              </a:rPr>
              <a:t>La règle qu'on s'est donnée : on garde la main sur ce qui est propre à la boutique, et on laisse à AWS ce que personne n'a envie de réparer un soir d'ouverture.</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2011680"/>
          <a:ext cx="11055096" cy="914400"/>
        </p:xfrm>
        <a:graphic>
          <a:graphicData uri="http://schemas.openxmlformats.org/drawingml/2006/table">
            <a:tbl>
              <a:tblPr/>
              <a:tblGrid>
                <a:gridCol w="2011680"/>
                <a:gridCol w="2468880"/>
                <a:gridCol w="6574536"/>
              </a:tblGrid>
              <a:tr h="566928">
                <a:tc>
                  <a:txBody>
                    <a:bodyPr/>
                    <a:lstStyle/>
                    <a:p>
                      <a:pPr indent="0" marL="0">
                        <a:buNone/>
                      </a:pPr>
                      <a:r>
                        <a:rPr lang="en-US" sz="1250" b="1" dirty="0">
                          <a:solidFill>
                            <a:srgbClr val="17222C"/>
                          </a:solidFill>
                          <a:latin typeface="Calibri" pitchFamily="34" charset="0"/>
                          <a:ea typeface="Calibri" pitchFamily="34" charset="-122"/>
                          <a:cs typeface="Calibri" pitchFamily="34" charset="-120"/>
                        </a:rPr>
                        <a:t>QUOI</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b="1" dirty="0">
                          <a:solidFill>
                            <a:srgbClr val="17222C"/>
                          </a:solidFill>
                          <a:latin typeface="Calibri" pitchFamily="34" charset="0"/>
                          <a:ea typeface="Calibri" pitchFamily="34" charset="-122"/>
                          <a:cs typeface="Calibri" pitchFamily="34" charset="-120"/>
                        </a:rPr>
                        <a:t>NOTRE CHOIX</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b="1" dirty="0">
                          <a:solidFill>
                            <a:srgbClr val="17222C"/>
                          </a:solidFill>
                          <a:latin typeface="Calibri" pitchFamily="34" charset="0"/>
                          <a:ea typeface="Calibri" pitchFamily="34" charset="-122"/>
                          <a:cs typeface="Calibri" pitchFamily="34" charset="-120"/>
                        </a:rPr>
                        <a:t>POURQUOI</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r>
              <a:tr h="566928">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La boutique</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Docker sur un serveur EC2</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Le sujet demande l'image PrestaShop sur EC2. Changer de version, c'est une ligne à modifier.</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r>
              <a:tr h="566928">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La base de données</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RDS, le service géré d'AWS</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Sauvegardes, mises à jour, machine de secours : AWS le fait mieux que nous, et sans nous réveiller la nuit.</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r>
              <a:tr h="566928">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Les fichiers</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EFS, un disque partagé</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Plusieurs serveurs doivent voir les mêmes images. Un disque normal ne se partage pas.</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r>
              <a:tr h="566928">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L'entrée</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Un load balancer</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Il surveille les serveurs et répartit les visiteurs tout seul.</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r>
              <a:tr h="566928">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Les mots de passe</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Coffre AWS + Ansible Vault</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Le mot de passe de la base n'est écrit nulle part : chaque serveur va le chercher lui-même.</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r>
              <a:tr h="566928">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Notre accès</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Un serveur d'entrée dédié</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Une seule porte pour l'équipe, ouverte à une seule adresse IP.</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84048"/>
            <a:ext cx="11055096" cy="274320"/>
          </a:xfrm>
          <a:prstGeom prst="rect">
            <a:avLst/>
          </a:prstGeom>
          <a:noFill/>
          <a:ln/>
        </p:spPr>
        <p:txBody>
          <a:bodyPr wrap="square" lIns="0" tIns="0" rIns="0" bIns="0" rtlCol="0" anchor="ctr"/>
          <a:lstStyle/>
          <a:p>
            <a:pPr indent="0" marL="0">
              <a:buNone/>
            </a:pPr>
            <a:r>
              <a:rPr lang="en-US" sz="1100" spc="200" kern="0" dirty="0">
                <a:solidFill>
                  <a:srgbClr val="9E5D06"/>
                </a:solidFill>
                <a:latin typeface="Courier New" pitchFamily="34" charset="0"/>
                <a:ea typeface="Courier New" pitchFamily="34" charset="-122"/>
                <a:cs typeface="Courier New" pitchFamily="34" charset="-120"/>
              </a:rPr>
              <a:t>04 — TERRAFORM</a:t>
            </a:r>
            <a:endParaRPr lang="en-US" sz="1100" dirty="0"/>
          </a:p>
        </p:txBody>
      </p:sp>
      <p:sp>
        <p:nvSpPr>
          <p:cNvPr id="3" name="Text 1"/>
          <p:cNvSpPr txBox="1"/>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7222C"/>
                </a:solidFill>
                <a:latin typeface="Arial" pitchFamily="34" charset="0"/>
                <a:ea typeface="Arial" pitchFamily="34" charset="-122"/>
                <a:cs typeface="Arial" pitchFamily="34" charset="-120"/>
              </a:rPr>
              <a:t>On décrit ce qu'on veut, Terraform le construit</a:t>
            </a:r>
            <a:endParaRPr lang="en-US" sz="3000" dirty="0"/>
          </a:p>
        </p:txBody>
      </p:sp>
      <p:sp>
        <p:nvSpPr>
          <p:cNvPr id="4" name="Text 2"/>
          <p:cNvSpPr txBox="1"/>
          <p:nvPr/>
        </p:nvSpPr>
        <p:spPr>
          <a:xfrm>
            <a:off x="566928" y="1444752"/>
            <a:ext cx="10789920" cy="411480"/>
          </a:xfrm>
          <a:prstGeom prst="rect">
            <a:avLst/>
          </a:prstGeom>
          <a:noFill/>
          <a:ln/>
        </p:spPr>
        <p:txBody>
          <a:bodyPr wrap="square" lIns="0" tIns="0" rIns="0" bIns="0" rtlCol="0" anchor="ctr"/>
          <a:lstStyle/>
          <a:p>
            <a:pPr indent="0" marL="0">
              <a:buNone/>
            </a:pPr>
            <a:r>
              <a:rPr lang="en-US" sz="1400" dirty="0">
                <a:solidFill>
                  <a:srgbClr val="5C6B7A"/>
                </a:solidFill>
                <a:latin typeface="Calibri" pitchFamily="34" charset="0"/>
                <a:ea typeface="Calibri" pitchFamily="34" charset="-122"/>
                <a:cs typeface="Calibri" pitchFamily="34" charset="-120"/>
              </a:rPr>
              <a:t>Six briques, une par couche. On les assemble, et la même description donne un petit environnement de test ou une vraie production.</a:t>
            </a:r>
            <a:endParaRPr lang="en-US" sz="1400" dirty="0"/>
          </a:p>
        </p:txBody>
      </p:sp>
      <p:sp>
        <p:nvSpPr>
          <p:cNvPr id="5" name="Shape 3"/>
          <p:cNvSpPr/>
          <p:nvPr/>
        </p:nvSpPr>
        <p:spPr>
          <a:xfrm>
            <a:off x="566928" y="2066544"/>
            <a:ext cx="91440" cy="256032"/>
          </a:xfrm>
          <a:prstGeom prst="rect">
            <a:avLst/>
          </a:prstGeom>
          <a:solidFill>
            <a:srgbClr val="0C6A72"/>
          </a:solidFill>
          <a:ln w="12700">
            <a:solidFill>
              <a:srgbClr val="0C6A72"/>
            </a:solidFill>
            <a:prstDash val="solid"/>
          </a:ln>
        </p:spPr>
      </p:sp>
      <p:sp>
        <p:nvSpPr>
          <p:cNvPr id="6" name="Text 4"/>
          <p:cNvSpPr txBox="1"/>
          <p:nvPr/>
        </p:nvSpPr>
        <p:spPr>
          <a:xfrm>
            <a:off x="768096" y="2011680"/>
            <a:ext cx="1645920" cy="365760"/>
          </a:xfrm>
          <a:prstGeom prst="rect">
            <a:avLst/>
          </a:prstGeom>
          <a:noFill/>
          <a:ln/>
        </p:spPr>
        <p:txBody>
          <a:bodyPr wrap="square" lIns="0" tIns="0" rIns="0" bIns="0" rtlCol="0" anchor="ctr"/>
          <a:lstStyle/>
          <a:p>
            <a:pPr indent="0" marL="0">
              <a:buNone/>
            </a:pPr>
            <a:r>
              <a:rPr lang="en-US" sz="1200" b="1" dirty="0">
                <a:solidFill>
                  <a:srgbClr val="17222C"/>
                </a:solidFill>
                <a:latin typeface="Courier New" pitchFamily="34" charset="0"/>
                <a:ea typeface="Courier New" pitchFamily="34" charset="-122"/>
                <a:cs typeface="Courier New" pitchFamily="34" charset="-120"/>
              </a:rPr>
              <a:t>network</a:t>
            </a:r>
            <a:endParaRPr lang="en-US" sz="1200" dirty="0"/>
          </a:p>
        </p:txBody>
      </p:sp>
      <p:sp>
        <p:nvSpPr>
          <p:cNvPr id="7" name="Text 5"/>
          <p:cNvSpPr txBox="1"/>
          <p:nvPr/>
        </p:nvSpPr>
        <p:spPr>
          <a:xfrm>
            <a:off x="2395728" y="2011680"/>
            <a:ext cx="3931920" cy="365760"/>
          </a:xfrm>
          <a:prstGeom prst="rect">
            <a:avLst/>
          </a:prstGeom>
          <a:noFill/>
          <a:ln/>
        </p:spPr>
        <p:txBody>
          <a:bodyPr wrap="square" lIns="0" tIns="0" rIns="0" bIns="0" rtlCol="0" anchor="ctr"/>
          <a:lstStyle/>
          <a:p>
            <a:pPr indent="0" marL="0">
              <a:buNone/>
            </a:pPr>
            <a:r>
              <a:rPr lang="en-US" sz="1250" dirty="0">
                <a:solidFill>
                  <a:srgbClr val="5C6B7A"/>
                </a:solidFill>
                <a:latin typeface="Calibri" pitchFamily="34" charset="0"/>
                <a:ea typeface="Calibri" pitchFamily="34" charset="-122"/>
                <a:cs typeface="Calibri" pitchFamily="34" charset="-120"/>
              </a:rPr>
              <a:t>le réseau et ses trois niveaux</a:t>
            </a:r>
            <a:endParaRPr lang="en-US" sz="1250" dirty="0"/>
          </a:p>
        </p:txBody>
      </p:sp>
      <p:sp>
        <p:nvSpPr>
          <p:cNvPr id="8" name="Shape 6"/>
          <p:cNvSpPr/>
          <p:nvPr/>
        </p:nvSpPr>
        <p:spPr>
          <a:xfrm>
            <a:off x="566928" y="2542032"/>
            <a:ext cx="91440" cy="256032"/>
          </a:xfrm>
          <a:prstGeom prst="rect">
            <a:avLst/>
          </a:prstGeom>
          <a:solidFill>
            <a:srgbClr val="0C6A72"/>
          </a:solidFill>
          <a:ln w="12700">
            <a:solidFill>
              <a:srgbClr val="0C6A72"/>
            </a:solidFill>
            <a:prstDash val="solid"/>
          </a:ln>
        </p:spPr>
      </p:sp>
      <p:sp>
        <p:nvSpPr>
          <p:cNvPr id="9" name="Text 7"/>
          <p:cNvSpPr txBox="1"/>
          <p:nvPr/>
        </p:nvSpPr>
        <p:spPr>
          <a:xfrm>
            <a:off x="768096" y="2487168"/>
            <a:ext cx="1645920" cy="365760"/>
          </a:xfrm>
          <a:prstGeom prst="rect">
            <a:avLst/>
          </a:prstGeom>
          <a:noFill/>
          <a:ln/>
        </p:spPr>
        <p:txBody>
          <a:bodyPr wrap="square" lIns="0" tIns="0" rIns="0" bIns="0" rtlCol="0" anchor="ctr"/>
          <a:lstStyle/>
          <a:p>
            <a:pPr indent="0" marL="0">
              <a:buNone/>
            </a:pPr>
            <a:r>
              <a:rPr lang="en-US" sz="1200" b="1" dirty="0">
                <a:solidFill>
                  <a:srgbClr val="17222C"/>
                </a:solidFill>
                <a:latin typeface="Courier New" pitchFamily="34" charset="0"/>
                <a:ea typeface="Courier New" pitchFamily="34" charset="-122"/>
                <a:cs typeface="Courier New" pitchFamily="34" charset="-120"/>
              </a:rPr>
              <a:t>security</a:t>
            </a:r>
            <a:endParaRPr lang="en-US" sz="1200" dirty="0"/>
          </a:p>
        </p:txBody>
      </p:sp>
      <p:sp>
        <p:nvSpPr>
          <p:cNvPr id="10" name="Text 8"/>
          <p:cNvSpPr txBox="1"/>
          <p:nvPr/>
        </p:nvSpPr>
        <p:spPr>
          <a:xfrm>
            <a:off x="2395728" y="2487168"/>
            <a:ext cx="3931920" cy="365760"/>
          </a:xfrm>
          <a:prstGeom prst="rect">
            <a:avLst/>
          </a:prstGeom>
          <a:noFill/>
          <a:ln/>
        </p:spPr>
        <p:txBody>
          <a:bodyPr wrap="square" lIns="0" tIns="0" rIns="0" bIns="0" rtlCol="0" anchor="ctr"/>
          <a:lstStyle/>
          <a:p>
            <a:pPr indent="0" marL="0">
              <a:buNone/>
            </a:pPr>
            <a:r>
              <a:rPr lang="en-US" sz="1250" dirty="0">
                <a:solidFill>
                  <a:srgbClr val="5C6B7A"/>
                </a:solidFill>
                <a:latin typeface="Calibri" pitchFamily="34" charset="0"/>
                <a:ea typeface="Calibri" pitchFamily="34" charset="-122"/>
                <a:cs typeface="Calibri" pitchFamily="34" charset="-120"/>
              </a:rPr>
              <a:t>qui a le droit de parler à qui</a:t>
            </a:r>
            <a:endParaRPr lang="en-US" sz="1250" dirty="0"/>
          </a:p>
        </p:txBody>
      </p:sp>
      <p:sp>
        <p:nvSpPr>
          <p:cNvPr id="11" name="Shape 9"/>
          <p:cNvSpPr/>
          <p:nvPr/>
        </p:nvSpPr>
        <p:spPr>
          <a:xfrm>
            <a:off x="566928" y="3017520"/>
            <a:ext cx="91440" cy="256032"/>
          </a:xfrm>
          <a:prstGeom prst="rect">
            <a:avLst/>
          </a:prstGeom>
          <a:solidFill>
            <a:srgbClr val="0C6A72"/>
          </a:solidFill>
          <a:ln w="12700">
            <a:solidFill>
              <a:srgbClr val="0C6A72"/>
            </a:solidFill>
            <a:prstDash val="solid"/>
          </a:ln>
        </p:spPr>
      </p:sp>
      <p:sp>
        <p:nvSpPr>
          <p:cNvPr id="12" name="Text 10"/>
          <p:cNvSpPr txBox="1"/>
          <p:nvPr/>
        </p:nvSpPr>
        <p:spPr>
          <a:xfrm>
            <a:off x="768096" y="2962656"/>
            <a:ext cx="1645920" cy="365760"/>
          </a:xfrm>
          <a:prstGeom prst="rect">
            <a:avLst/>
          </a:prstGeom>
          <a:noFill/>
          <a:ln/>
        </p:spPr>
        <p:txBody>
          <a:bodyPr wrap="square" lIns="0" tIns="0" rIns="0" bIns="0" rtlCol="0" anchor="ctr"/>
          <a:lstStyle/>
          <a:p>
            <a:pPr indent="0" marL="0">
              <a:buNone/>
            </a:pPr>
            <a:r>
              <a:rPr lang="en-US" sz="1200" b="1" dirty="0">
                <a:solidFill>
                  <a:srgbClr val="17222C"/>
                </a:solidFill>
                <a:latin typeface="Courier New" pitchFamily="34" charset="0"/>
                <a:ea typeface="Courier New" pitchFamily="34" charset="-122"/>
                <a:cs typeface="Courier New" pitchFamily="34" charset="-120"/>
              </a:rPr>
              <a:t>storage</a:t>
            </a:r>
            <a:endParaRPr lang="en-US" sz="1200" dirty="0"/>
          </a:p>
        </p:txBody>
      </p:sp>
      <p:sp>
        <p:nvSpPr>
          <p:cNvPr id="13" name="Text 11"/>
          <p:cNvSpPr txBox="1"/>
          <p:nvPr/>
        </p:nvSpPr>
        <p:spPr>
          <a:xfrm>
            <a:off x="2395728" y="2962656"/>
            <a:ext cx="3931920" cy="365760"/>
          </a:xfrm>
          <a:prstGeom prst="rect">
            <a:avLst/>
          </a:prstGeom>
          <a:noFill/>
          <a:ln/>
        </p:spPr>
        <p:txBody>
          <a:bodyPr wrap="square" lIns="0" tIns="0" rIns="0" bIns="0" rtlCol="0" anchor="ctr"/>
          <a:lstStyle/>
          <a:p>
            <a:pPr indent="0" marL="0">
              <a:buNone/>
            </a:pPr>
            <a:r>
              <a:rPr lang="en-US" sz="1250" dirty="0">
                <a:solidFill>
                  <a:srgbClr val="5C6B7A"/>
                </a:solidFill>
                <a:latin typeface="Calibri" pitchFamily="34" charset="0"/>
                <a:ea typeface="Calibri" pitchFamily="34" charset="-122"/>
                <a:cs typeface="Calibri" pitchFamily="34" charset="-120"/>
              </a:rPr>
              <a:t>le disque partagé</a:t>
            </a:r>
            <a:endParaRPr lang="en-US" sz="1250" dirty="0"/>
          </a:p>
        </p:txBody>
      </p:sp>
      <p:sp>
        <p:nvSpPr>
          <p:cNvPr id="14" name="Shape 12"/>
          <p:cNvSpPr/>
          <p:nvPr/>
        </p:nvSpPr>
        <p:spPr>
          <a:xfrm>
            <a:off x="566928" y="3493008"/>
            <a:ext cx="91440" cy="256032"/>
          </a:xfrm>
          <a:prstGeom prst="rect">
            <a:avLst/>
          </a:prstGeom>
          <a:solidFill>
            <a:srgbClr val="0C6A72"/>
          </a:solidFill>
          <a:ln w="12700">
            <a:solidFill>
              <a:srgbClr val="0C6A72"/>
            </a:solidFill>
            <a:prstDash val="solid"/>
          </a:ln>
        </p:spPr>
      </p:sp>
      <p:sp>
        <p:nvSpPr>
          <p:cNvPr id="15" name="Text 13"/>
          <p:cNvSpPr txBox="1"/>
          <p:nvPr/>
        </p:nvSpPr>
        <p:spPr>
          <a:xfrm>
            <a:off x="768096" y="3438144"/>
            <a:ext cx="1645920" cy="365760"/>
          </a:xfrm>
          <a:prstGeom prst="rect">
            <a:avLst/>
          </a:prstGeom>
          <a:noFill/>
          <a:ln/>
        </p:spPr>
        <p:txBody>
          <a:bodyPr wrap="square" lIns="0" tIns="0" rIns="0" bIns="0" rtlCol="0" anchor="ctr"/>
          <a:lstStyle/>
          <a:p>
            <a:pPr indent="0" marL="0">
              <a:buNone/>
            </a:pPr>
            <a:r>
              <a:rPr lang="en-US" sz="1200" b="1" dirty="0">
                <a:solidFill>
                  <a:srgbClr val="17222C"/>
                </a:solidFill>
                <a:latin typeface="Courier New" pitchFamily="34" charset="0"/>
                <a:ea typeface="Courier New" pitchFamily="34" charset="-122"/>
                <a:cs typeface="Courier New" pitchFamily="34" charset="-120"/>
              </a:rPr>
              <a:t>database</a:t>
            </a:r>
            <a:endParaRPr lang="en-US" sz="1200" dirty="0"/>
          </a:p>
        </p:txBody>
      </p:sp>
      <p:sp>
        <p:nvSpPr>
          <p:cNvPr id="16" name="Text 14"/>
          <p:cNvSpPr txBox="1"/>
          <p:nvPr/>
        </p:nvSpPr>
        <p:spPr>
          <a:xfrm>
            <a:off x="2395728" y="3438144"/>
            <a:ext cx="3931920" cy="365760"/>
          </a:xfrm>
          <a:prstGeom prst="rect">
            <a:avLst/>
          </a:prstGeom>
          <a:noFill/>
          <a:ln/>
        </p:spPr>
        <p:txBody>
          <a:bodyPr wrap="square" lIns="0" tIns="0" rIns="0" bIns="0" rtlCol="0" anchor="ctr"/>
          <a:lstStyle/>
          <a:p>
            <a:pPr indent="0" marL="0">
              <a:buNone/>
            </a:pPr>
            <a:r>
              <a:rPr lang="en-US" sz="1250" dirty="0">
                <a:solidFill>
                  <a:srgbClr val="5C6B7A"/>
                </a:solidFill>
                <a:latin typeface="Calibri" pitchFamily="34" charset="0"/>
                <a:ea typeface="Calibri" pitchFamily="34" charset="-122"/>
                <a:cs typeface="Calibri" pitchFamily="34" charset="-120"/>
              </a:rPr>
              <a:t>la base de données</a:t>
            </a:r>
            <a:endParaRPr lang="en-US" sz="1250" dirty="0"/>
          </a:p>
        </p:txBody>
      </p:sp>
      <p:sp>
        <p:nvSpPr>
          <p:cNvPr id="17" name="Shape 15"/>
          <p:cNvSpPr/>
          <p:nvPr/>
        </p:nvSpPr>
        <p:spPr>
          <a:xfrm>
            <a:off x="566928" y="3968496"/>
            <a:ext cx="91440" cy="256032"/>
          </a:xfrm>
          <a:prstGeom prst="rect">
            <a:avLst/>
          </a:prstGeom>
          <a:solidFill>
            <a:srgbClr val="0C6A72"/>
          </a:solidFill>
          <a:ln w="12700">
            <a:solidFill>
              <a:srgbClr val="0C6A72"/>
            </a:solidFill>
            <a:prstDash val="solid"/>
          </a:ln>
        </p:spPr>
      </p:sp>
      <p:sp>
        <p:nvSpPr>
          <p:cNvPr id="18" name="Text 16"/>
          <p:cNvSpPr txBox="1"/>
          <p:nvPr/>
        </p:nvSpPr>
        <p:spPr>
          <a:xfrm>
            <a:off x="768096" y="3913632"/>
            <a:ext cx="1645920" cy="365760"/>
          </a:xfrm>
          <a:prstGeom prst="rect">
            <a:avLst/>
          </a:prstGeom>
          <a:noFill/>
          <a:ln/>
        </p:spPr>
        <p:txBody>
          <a:bodyPr wrap="square" lIns="0" tIns="0" rIns="0" bIns="0" rtlCol="0" anchor="ctr"/>
          <a:lstStyle/>
          <a:p>
            <a:pPr indent="0" marL="0">
              <a:buNone/>
            </a:pPr>
            <a:r>
              <a:rPr lang="en-US" sz="1200" b="1" dirty="0">
                <a:solidFill>
                  <a:srgbClr val="17222C"/>
                </a:solidFill>
                <a:latin typeface="Courier New" pitchFamily="34" charset="0"/>
                <a:ea typeface="Courier New" pitchFamily="34" charset="-122"/>
                <a:cs typeface="Courier New" pitchFamily="34" charset="-120"/>
              </a:rPr>
              <a:t>compute</a:t>
            </a:r>
            <a:endParaRPr lang="en-US" sz="1200" dirty="0"/>
          </a:p>
        </p:txBody>
      </p:sp>
      <p:sp>
        <p:nvSpPr>
          <p:cNvPr id="19" name="Text 17"/>
          <p:cNvSpPr txBox="1"/>
          <p:nvPr/>
        </p:nvSpPr>
        <p:spPr>
          <a:xfrm>
            <a:off x="2395728" y="3913632"/>
            <a:ext cx="3931920" cy="365760"/>
          </a:xfrm>
          <a:prstGeom prst="rect">
            <a:avLst/>
          </a:prstGeom>
          <a:noFill/>
          <a:ln/>
        </p:spPr>
        <p:txBody>
          <a:bodyPr wrap="square" lIns="0" tIns="0" rIns="0" bIns="0" rtlCol="0" anchor="ctr"/>
          <a:lstStyle/>
          <a:p>
            <a:pPr indent="0" marL="0">
              <a:buNone/>
            </a:pPr>
            <a:r>
              <a:rPr lang="en-US" sz="1250" dirty="0">
                <a:solidFill>
                  <a:srgbClr val="5C6B7A"/>
                </a:solidFill>
                <a:latin typeface="Calibri" pitchFamily="34" charset="0"/>
                <a:ea typeface="Calibri" pitchFamily="34" charset="-122"/>
                <a:cs typeface="Calibri" pitchFamily="34" charset="-120"/>
              </a:rPr>
              <a:t>les serveurs</a:t>
            </a:r>
            <a:endParaRPr lang="en-US" sz="1250" dirty="0"/>
          </a:p>
        </p:txBody>
      </p:sp>
      <p:sp>
        <p:nvSpPr>
          <p:cNvPr id="20" name="Shape 18"/>
          <p:cNvSpPr/>
          <p:nvPr/>
        </p:nvSpPr>
        <p:spPr>
          <a:xfrm>
            <a:off x="566928" y="4443984"/>
            <a:ext cx="91440" cy="256032"/>
          </a:xfrm>
          <a:prstGeom prst="rect">
            <a:avLst/>
          </a:prstGeom>
          <a:solidFill>
            <a:srgbClr val="0C6A72"/>
          </a:solidFill>
          <a:ln w="12700">
            <a:solidFill>
              <a:srgbClr val="0C6A72"/>
            </a:solidFill>
            <a:prstDash val="solid"/>
          </a:ln>
        </p:spPr>
      </p:sp>
      <p:sp>
        <p:nvSpPr>
          <p:cNvPr id="21" name="Text 19"/>
          <p:cNvSpPr txBox="1"/>
          <p:nvPr/>
        </p:nvSpPr>
        <p:spPr>
          <a:xfrm>
            <a:off x="768096" y="4389120"/>
            <a:ext cx="1645920" cy="365760"/>
          </a:xfrm>
          <a:prstGeom prst="rect">
            <a:avLst/>
          </a:prstGeom>
          <a:noFill/>
          <a:ln/>
        </p:spPr>
        <p:txBody>
          <a:bodyPr wrap="square" lIns="0" tIns="0" rIns="0" bIns="0" rtlCol="0" anchor="ctr"/>
          <a:lstStyle/>
          <a:p>
            <a:pPr indent="0" marL="0">
              <a:buNone/>
            </a:pPr>
            <a:r>
              <a:rPr lang="en-US" sz="1200" b="1" dirty="0">
                <a:solidFill>
                  <a:srgbClr val="17222C"/>
                </a:solidFill>
                <a:latin typeface="Courier New" pitchFamily="34" charset="0"/>
                <a:ea typeface="Courier New" pitchFamily="34" charset="-122"/>
                <a:cs typeface="Courier New" pitchFamily="34" charset="-120"/>
              </a:rPr>
              <a:t>loadbalancer</a:t>
            </a:r>
            <a:endParaRPr lang="en-US" sz="1200" dirty="0"/>
          </a:p>
        </p:txBody>
      </p:sp>
      <p:sp>
        <p:nvSpPr>
          <p:cNvPr id="22" name="Text 20"/>
          <p:cNvSpPr txBox="1"/>
          <p:nvPr/>
        </p:nvSpPr>
        <p:spPr>
          <a:xfrm>
            <a:off x="2395728" y="4389120"/>
            <a:ext cx="3931920" cy="365760"/>
          </a:xfrm>
          <a:prstGeom prst="rect">
            <a:avLst/>
          </a:prstGeom>
          <a:noFill/>
          <a:ln/>
        </p:spPr>
        <p:txBody>
          <a:bodyPr wrap="square" lIns="0" tIns="0" rIns="0" bIns="0" rtlCol="0" anchor="ctr"/>
          <a:lstStyle/>
          <a:p>
            <a:pPr indent="0" marL="0">
              <a:buNone/>
            </a:pPr>
            <a:r>
              <a:rPr lang="en-US" sz="1250" dirty="0">
                <a:solidFill>
                  <a:srgbClr val="5C6B7A"/>
                </a:solidFill>
                <a:latin typeface="Calibri" pitchFamily="34" charset="0"/>
                <a:ea typeface="Calibri" pitchFamily="34" charset="-122"/>
                <a:cs typeface="Calibri" pitchFamily="34" charset="-120"/>
              </a:rPr>
              <a:t>l'entrée et la surveillance</a:t>
            </a:r>
            <a:endParaRPr lang="en-US" sz="1250" dirty="0"/>
          </a:p>
        </p:txBody>
      </p:sp>
      <p:sp>
        <p:nvSpPr>
          <p:cNvPr id="23" name="Shape 21"/>
          <p:cNvSpPr/>
          <p:nvPr/>
        </p:nvSpPr>
        <p:spPr>
          <a:xfrm>
            <a:off x="6446520" y="2011680"/>
            <a:ext cx="5175504" cy="1097280"/>
          </a:xfrm>
          <a:prstGeom prst="roundRect">
            <a:avLst>
              <a:gd name="adj" fmla="val 5000"/>
            </a:avLst>
          </a:prstGeom>
          <a:solidFill>
            <a:srgbClr val="F2F5F7"/>
          </a:solidFill>
          <a:ln w="9525">
            <a:solidFill>
              <a:srgbClr val="D3DBE3"/>
            </a:solidFill>
            <a:prstDash val="solid"/>
          </a:ln>
        </p:spPr>
      </p:sp>
      <p:sp>
        <p:nvSpPr>
          <p:cNvPr id="24" name="Text 22"/>
          <p:cNvSpPr txBox="1"/>
          <p:nvPr/>
        </p:nvSpPr>
        <p:spPr>
          <a:xfrm>
            <a:off x="6629400" y="2121408"/>
            <a:ext cx="4846320" cy="274320"/>
          </a:xfrm>
          <a:prstGeom prst="rect">
            <a:avLst/>
          </a:prstGeom>
          <a:noFill/>
          <a:ln/>
        </p:spPr>
        <p:txBody>
          <a:bodyPr wrap="square" lIns="0" tIns="0" rIns="0" bIns="0" rtlCol="0" anchor="ctr"/>
          <a:lstStyle/>
          <a:p>
            <a:pPr indent="0" marL="0">
              <a:buNone/>
            </a:pPr>
            <a:r>
              <a:rPr lang="en-US" sz="1300" b="1" dirty="0">
                <a:solidFill>
                  <a:srgbClr val="17222C"/>
                </a:solidFill>
                <a:latin typeface="Arial" pitchFamily="34" charset="0"/>
                <a:ea typeface="Arial" pitchFamily="34" charset="-122"/>
                <a:cs typeface="Arial" pitchFamily="34" charset="-120"/>
              </a:rPr>
              <a:t>Trois environnements, un seul code</a:t>
            </a:r>
            <a:endParaRPr lang="en-US" sz="1300" dirty="0"/>
          </a:p>
        </p:txBody>
      </p:sp>
      <p:sp>
        <p:nvSpPr>
          <p:cNvPr id="25" name="Text 23"/>
          <p:cNvSpPr txBox="1"/>
          <p:nvPr/>
        </p:nvSpPr>
        <p:spPr>
          <a:xfrm>
            <a:off x="6629400" y="2414016"/>
            <a:ext cx="4846320" cy="658368"/>
          </a:xfrm>
          <a:prstGeom prst="rect">
            <a:avLst/>
          </a:prstGeom>
          <a:noFill/>
          <a:ln/>
        </p:spPr>
        <p:txBody>
          <a:bodyPr wrap="square" lIns="0" tIns="0" rIns="0" bIns="0" rtlCol="0" anchor="ctr"/>
          <a:lstStyle/>
          <a:p>
            <a:pPr indent="0" marL="0">
              <a:buNone/>
            </a:pPr>
            <a:r>
              <a:rPr lang="en-US" sz="1150" dirty="0">
                <a:solidFill>
                  <a:srgbClr val="5C6B7A"/>
                </a:solidFill>
                <a:latin typeface="Calibri" pitchFamily="34" charset="0"/>
                <a:ea typeface="Calibri" pitchFamily="34" charset="-122"/>
                <a:cs typeface="Calibri" pitchFamily="34" charset="-120"/>
              </a:rPr>
              <a:t>Test, pré-production, production : on change un mot, pas le code. Le test a 1 serveur, la production en a 3 répartis sur 3 zones.</a:t>
            </a:r>
            <a:endParaRPr lang="en-US" sz="1150" dirty="0"/>
          </a:p>
        </p:txBody>
      </p:sp>
      <p:sp>
        <p:nvSpPr>
          <p:cNvPr id="26" name="Shape 24"/>
          <p:cNvSpPr/>
          <p:nvPr/>
        </p:nvSpPr>
        <p:spPr>
          <a:xfrm>
            <a:off x="6446520" y="3227832"/>
            <a:ext cx="5175504" cy="1097280"/>
          </a:xfrm>
          <a:prstGeom prst="roundRect">
            <a:avLst>
              <a:gd name="adj" fmla="val 5000"/>
            </a:avLst>
          </a:prstGeom>
          <a:solidFill>
            <a:srgbClr val="F2F5F7"/>
          </a:solidFill>
          <a:ln w="9525">
            <a:solidFill>
              <a:srgbClr val="D3DBE3"/>
            </a:solidFill>
            <a:prstDash val="solid"/>
          </a:ln>
        </p:spPr>
      </p:sp>
      <p:sp>
        <p:nvSpPr>
          <p:cNvPr id="27" name="Text 25"/>
          <p:cNvSpPr txBox="1"/>
          <p:nvPr/>
        </p:nvSpPr>
        <p:spPr>
          <a:xfrm>
            <a:off x="6629400" y="3337560"/>
            <a:ext cx="4846320" cy="274320"/>
          </a:xfrm>
          <a:prstGeom prst="rect">
            <a:avLst/>
          </a:prstGeom>
          <a:noFill/>
          <a:ln/>
        </p:spPr>
        <p:txBody>
          <a:bodyPr wrap="square" lIns="0" tIns="0" rIns="0" bIns="0" rtlCol="0" anchor="ctr"/>
          <a:lstStyle/>
          <a:p>
            <a:pPr indent="0" marL="0">
              <a:buNone/>
            </a:pPr>
            <a:r>
              <a:rPr lang="en-US" sz="1300" b="1" dirty="0">
                <a:solidFill>
                  <a:srgbClr val="17222C"/>
                </a:solidFill>
                <a:latin typeface="Arial" pitchFamily="34" charset="0"/>
                <a:ea typeface="Arial" pitchFamily="34" charset="-122"/>
                <a:cs typeface="Arial" pitchFamily="34" charset="-120"/>
              </a:rPr>
              <a:t>Le travail à trois est protégé</a:t>
            </a:r>
            <a:endParaRPr lang="en-US" sz="1300" dirty="0"/>
          </a:p>
        </p:txBody>
      </p:sp>
      <p:sp>
        <p:nvSpPr>
          <p:cNvPr id="28" name="Text 26"/>
          <p:cNvSpPr txBox="1"/>
          <p:nvPr/>
        </p:nvSpPr>
        <p:spPr>
          <a:xfrm>
            <a:off x="6629400" y="3630168"/>
            <a:ext cx="4846320" cy="658368"/>
          </a:xfrm>
          <a:prstGeom prst="rect">
            <a:avLst/>
          </a:prstGeom>
          <a:noFill/>
          <a:ln/>
        </p:spPr>
        <p:txBody>
          <a:bodyPr wrap="square" lIns="0" tIns="0" rIns="0" bIns="0" rtlCol="0" anchor="ctr"/>
          <a:lstStyle/>
          <a:p>
            <a:pPr indent="0" marL="0">
              <a:buNone/>
            </a:pPr>
            <a:r>
              <a:rPr lang="en-US" sz="1150" dirty="0">
                <a:solidFill>
                  <a:srgbClr val="5C6B7A"/>
                </a:solidFill>
                <a:latin typeface="Calibri" pitchFamily="34" charset="0"/>
                <a:ea typeface="Calibri" pitchFamily="34" charset="-122"/>
                <a:cs typeface="Calibri" pitchFamily="34" charset="-120"/>
              </a:rPr>
              <a:t>La description de l'infrastructure est stockée sur AWS, verrouillée : deux personnes ne peuvent pas la modifier en même temps.</a:t>
            </a:r>
            <a:endParaRPr lang="en-US" sz="1150" dirty="0"/>
          </a:p>
        </p:txBody>
      </p:sp>
      <p:sp>
        <p:nvSpPr>
          <p:cNvPr id="29" name="Shape 27"/>
          <p:cNvSpPr/>
          <p:nvPr/>
        </p:nvSpPr>
        <p:spPr>
          <a:xfrm>
            <a:off x="6446520" y="4443984"/>
            <a:ext cx="5175504" cy="1097280"/>
          </a:xfrm>
          <a:prstGeom prst="roundRect">
            <a:avLst>
              <a:gd name="adj" fmla="val 5000"/>
            </a:avLst>
          </a:prstGeom>
          <a:solidFill>
            <a:srgbClr val="F2F5F7"/>
          </a:solidFill>
          <a:ln w="9525">
            <a:solidFill>
              <a:srgbClr val="D3DBE3"/>
            </a:solidFill>
            <a:prstDash val="solid"/>
          </a:ln>
        </p:spPr>
      </p:sp>
      <p:sp>
        <p:nvSpPr>
          <p:cNvPr id="30" name="Text 28"/>
          <p:cNvSpPr txBox="1"/>
          <p:nvPr/>
        </p:nvSpPr>
        <p:spPr>
          <a:xfrm>
            <a:off x="6629400" y="4553712"/>
            <a:ext cx="4846320" cy="274320"/>
          </a:xfrm>
          <a:prstGeom prst="rect">
            <a:avLst/>
          </a:prstGeom>
          <a:noFill/>
          <a:ln/>
        </p:spPr>
        <p:txBody>
          <a:bodyPr wrap="square" lIns="0" tIns="0" rIns="0" bIns="0" rtlCol="0" anchor="ctr"/>
          <a:lstStyle/>
          <a:p>
            <a:pPr indent="0" marL="0">
              <a:buNone/>
            </a:pPr>
            <a:r>
              <a:rPr lang="en-US" sz="1300" b="1" dirty="0">
                <a:solidFill>
                  <a:srgbClr val="17222C"/>
                </a:solidFill>
                <a:latin typeface="Arial" pitchFamily="34" charset="0"/>
                <a:ea typeface="Arial" pitchFamily="34" charset="-122"/>
                <a:cs typeface="Arial" pitchFamily="34" charset="-120"/>
              </a:rPr>
              <a:t>Rien n'est écrit en dur</a:t>
            </a:r>
            <a:endParaRPr lang="en-US" sz="1300" dirty="0"/>
          </a:p>
        </p:txBody>
      </p:sp>
      <p:sp>
        <p:nvSpPr>
          <p:cNvPr id="31" name="Text 29"/>
          <p:cNvSpPr txBox="1"/>
          <p:nvPr/>
        </p:nvSpPr>
        <p:spPr>
          <a:xfrm>
            <a:off x="6629400" y="4846320"/>
            <a:ext cx="4846320" cy="658368"/>
          </a:xfrm>
          <a:prstGeom prst="rect">
            <a:avLst/>
          </a:prstGeom>
          <a:noFill/>
          <a:ln/>
        </p:spPr>
        <p:txBody>
          <a:bodyPr wrap="square" lIns="0" tIns="0" rIns="0" bIns="0" rtlCol="0" anchor="ctr"/>
          <a:lstStyle/>
          <a:p>
            <a:pPr indent="0" marL="0">
              <a:buNone/>
            </a:pPr>
            <a:r>
              <a:rPr lang="en-US" sz="1150" dirty="0">
                <a:solidFill>
                  <a:srgbClr val="5C6B7A"/>
                </a:solidFill>
                <a:latin typeface="Calibri" pitchFamily="34" charset="0"/>
                <a:ea typeface="Calibri" pitchFamily="34" charset="-122"/>
                <a:cs typeface="Calibri" pitchFamily="34" charset="-120"/>
              </a:rPr>
              <a:t>Terraform va chercher lui-même l'image système, les zones disponibles, et même notre adresse IP — celle qui aura le droit de se connecter.</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84048"/>
            <a:ext cx="11055096" cy="274320"/>
          </a:xfrm>
          <a:prstGeom prst="rect">
            <a:avLst/>
          </a:prstGeom>
          <a:noFill/>
          <a:ln/>
        </p:spPr>
        <p:txBody>
          <a:bodyPr wrap="square" lIns="0" tIns="0" rIns="0" bIns="0" rtlCol="0" anchor="ctr"/>
          <a:lstStyle/>
          <a:p>
            <a:pPr indent="0" marL="0">
              <a:buNone/>
            </a:pPr>
            <a:r>
              <a:rPr lang="en-US" sz="1100" spc="200" kern="0" dirty="0">
                <a:solidFill>
                  <a:srgbClr val="9E5D06"/>
                </a:solidFill>
                <a:latin typeface="Courier New" pitchFamily="34" charset="0"/>
                <a:ea typeface="Courier New" pitchFamily="34" charset="-122"/>
                <a:cs typeface="Courier New" pitchFamily="34" charset="-120"/>
              </a:rPr>
              <a:t>05 — ANSIBLE</a:t>
            </a:r>
            <a:endParaRPr lang="en-US" sz="1100" dirty="0"/>
          </a:p>
        </p:txBody>
      </p:sp>
      <p:sp>
        <p:nvSpPr>
          <p:cNvPr id="3" name="Text 1"/>
          <p:cNvSpPr txBox="1"/>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7222C"/>
                </a:solidFill>
                <a:latin typeface="Arial" pitchFamily="34" charset="0"/>
                <a:ea typeface="Arial" pitchFamily="34" charset="-122"/>
                <a:cs typeface="Arial" pitchFamily="34" charset="-120"/>
              </a:rPr>
              <a:t>Ansible lit les adresses chez Terraform</a:t>
            </a:r>
            <a:endParaRPr lang="en-US" sz="3000" dirty="0"/>
          </a:p>
        </p:txBody>
      </p:sp>
      <p:sp>
        <p:nvSpPr>
          <p:cNvPr id="4" name="Text 2"/>
          <p:cNvSpPr txBox="1"/>
          <p:nvPr/>
        </p:nvSpPr>
        <p:spPr>
          <a:xfrm>
            <a:off x="566928" y="1444752"/>
            <a:ext cx="10789920" cy="365760"/>
          </a:xfrm>
          <a:prstGeom prst="rect">
            <a:avLst/>
          </a:prstGeom>
          <a:noFill/>
          <a:ln/>
        </p:spPr>
        <p:txBody>
          <a:bodyPr wrap="square" lIns="0" tIns="0" rIns="0" bIns="0" rtlCol="0" anchor="ctr"/>
          <a:lstStyle/>
          <a:p>
            <a:pPr indent="0" marL="0">
              <a:buNone/>
            </a:pPr>
            <a:r>
              <a:rPr lang="en-US" sz="1400" dirty="0">
                <a:solidFill>
                  <a:srgbClr val="5C6B7A"/>
                </a:solidFill>
                <a:latin typeface="Calibri" pitchFamily="34" charset="0"/>
                <a:ea typeface="Calibri" pitchFamily="34" charset="-122"/>
                <a:cs typeface="Calibri" pitchFamily="34" charset="-120"/>
              </a:rPr>
              <a:t>Terraform connaît déjà les adresses des serveurs. Plutôt que de les recopier à la main, Ansible va les lire chez lui.</a:t>
            </a:r>
            <a:endParaRPr lang="en-US" sz="1400" dirty="0"/>
          </a:p>
        </p:txBody>
      </p:sp>
      <p:sp>
        <p:nvSpPr>
          <p:cNvPr id="5" name="Shape 3"/>
          <p:cNvSpPr/>
          <p:nvPr/>
        </p:nvSpPr>
        <p:spPr>
          <a:xfrm>
            <a:off x="566928" y="1938528"/>
            <a:ext cx="6537960" cy="2286000"/>
          </a:xfrm>
          <a:prstGeom prst="roundRect">
            <a:avLst>
              <a:gd name="adj" fmla="val 1600"/>
            </a:avLst>
          </a:prstGeom>
          <a:solidFill>
            <a:srgbClr val="EDF1F4"/>
          </a:solidFill>
          <a:ln w="9525">
            <a:solidFill>
              <a:srgbClr val="D3DBE3"/>
            </a:solidFill>
            <a:prstDash val="solid"/>
          </a:ln>
        </p:spPr>
      </p:sp>
      <p:sp>
        <p:nvSpPr>
          <p:cNvPr id="6" name="Text 4"/>
          <p:cNvSpPr txBox="1"/>
          <p:nvPr/>
        </p:nvSpPr>
        <p:spPr>
          <a:xfrm>
            <a:off x="731520" y="2048256"/>
            <a:ext cx="6208776" cy="2066544"/>
          </a:xfrm>
          <a:prstGeom prst="rect">
            <a:avLst/>
          </a:prstGeom>
          <a:noFill/>
          <a:ln/>
        </p:spPr>
        <p:txBody>
          <a:bodyPr wrap="square" lIns="0" tIns="0" rIns="0" bIns="0" rtlCol="0" anchor="ctr"/>
          <a:lstStyle/>
          <a:p>
            <a:pPr indent="0" marL="0">
              <a:lnSpc>
                <a:spcPts val="1725"/>
              </a:lnSpc>
              <a:buNone/>
            </a:pPr>
            <a:r>
              <a:rPr lang="en-US" sz="1150" dirty="0">
                <a:solidFill>
                  <a:srgbClr val="17222C"/>
                </a:solidFill>
                <a:latin typeface="Courier New" pitchFamily="34" charset="0"/>
                <a:ea typeface="Courier New" pitchFamily="34" charset="-122"/>
                <a:cs typeface="Courier New" pitchFamily="34" charset="-120"/>
              </a:rPr>
              <a:t># Terraform écrit la liste des serveurs…</a:t>
            </a:r>
            <a:endParaRPr lang="en-US" sz="1150" dirty="0"/>
          </a:p>
          <a:p>
            <a:pPr indent="0" marL="0">
              <a:lnSpc>
                <a:spcPts val="1725"/>
              </a:lnSpc>
              <a:buNone/>
            </a:pPr>
            <a:r>
              <a:rPr lang="en-US" sz="1150" dirty="0">
                <a:solidFill>
                  <a:srgbClr val="17222C"/>
                </a:solidFill>
                <a:latin typeface="Courier New" pitchFamily="34" charset="0"/>
                <a:ea typeface="Courier New" pitchFamily="34" charset="-122"/>
                <a:cs typeface="Courier New" pitchFamily="34" charset="-120"/>
              </a:rPr>
              <a:t>resource "ansible_host" "app" {</a:t>
            </a:r>
            <a:endParaRPr lang="en-US" sz="1150" dirty="0"/>
          </a:p>
          <a:p>
            <a:pPr indent="0" marL="0">
              <a:lnSpc>
                <a:spcPts val="1725"/>
              </a:lnSpc>
              <a:buNone/>
            </a:pPr>
            <a:r>
              <a:rPr lang="en-US" sz="1150" dirty="0">
                <a:solidFill>
                  <a:srgbClr val="17222C"/>
                </a:solidFill>
                <a:latin typeface="Courier New" pitchFamily="34" charset="0"/>
                <a:ea typeface="Courier New" pitchFamily="34" charset="-122"/>
                <a:cs typeface="Courier New" pitchFamily="34" charset="-120"/>
              </a:rPr>
              <a:t>  name      = "taylorshift-dev-app-1"</a:t>
            </a:r>
            <a:endParaRPr lang="en-US" sz="1150" dirty="0"/>
          </a:p>
          <a:p>
            <a:pPr indent="0" marL="0">
              <a:lnSpc>
                <a:spcPts val="1725"/>
              </a:lnSpc>
              <a:buNone/>
            </a:pPr>
            <a:r>
              <a:rPr lang="en-US" sz="1150" dirty="0">
                <a:solidFill>
                  <a:srgbClr val="17222C"/>
                </a:solidFill>
                <a:latin typeface="Courier New" pitchFamily="34" charset="0"/>
                <a:ea typeface="Courier New" pitchFamily="34" charset="-122"/>
                <a:cs typeface="Courier New" pitchFamily="34" charset="-120"/>
              </a:rPr>
              <a:t>  groups    = ["prestashop"]</a:t>
            </a:r>
            <a:endParaRPr lang="en-US" sz="1150" dirty="0"/>
          </a:p>
          <a:p>
            <a:pPr indent="0" marL="0">
              <a:lnSpc>
                <a:spcPts val="1725"/>
              </a:lnSpc>
              <a:buNone/>
            </a:pPr>
            <a:r>
              <a:rPr lang="en-US" sz="1150" dirty="0">
                <a:solidFill>
                  <a:srgbClr val="17222C"/>
                </a:solidFill>
                <a:latin typeface="Courier New" pitchFamily="34" charset="0"/>
                <a:ea typeface="Courier New" pitchFamily="34" charset="-122"/>
                <a:cs typeface="Courier New" pitchFamily="34" charset="-120"/>
              </a:rPr>
              <a:t>  variables = { ansible_host = ..., db_host = ... }</a:t>
            </a:r>
            <a:endParaRPr lang="en-US" sz="1150" dirty="0"/>
          </a:p>
          <a:p>
            <a:pPr indent="0" marL="0">
              <a:lnSpc>
                <a:spcPts val="1725"/>
              </a:lnSpc>
              <a:buNone/>
            </a:pPr>
            <a:r>
              <a:rPr lang="en-US" sz="1150" dirty="0">
                <a:solidFill>
                  <a:srgbClr val="17222C"/>
                </a:solidFill>
                <a:latin typeface="Courier New" pitchFamily="34" charset="0"/>
                <a:ea typeface="Courier New" pitchFamily="34" charset="-122"/>
                <a:cs typeface="Courier New" pitchFamily="34" charset="-120"/>
              </a:rPr>
              <a:t>}</a:t>
            </a:r>
            <a:endParaRPr lang="en-US" sz="1150" dirty="0"/>
          </a:p>
          <a:p>
            <a:pPr indent="0" marL="0">
              <a:lnSpc>
                <a:spcPts val="1725"/>
              </a:lnSpc>
              <a:buNone/>
            </a:pPr>
            <a:endParaRPr lang="en-US" sz="1150" dirty="0"/>
          </a:p>
          <a:p>
            <a:pPr indent="0" marL="0">
              <a:lnSpc>
                <a:spcPts val="1725"/>
              </a:lnSpc>
              <a:buNone/>
            </a:pPr>
            <a:r>
              <a:rPr lang="en-US" sz="1150" dirty="0">
                <a:solidFill>
                  <a:srgbClr val="17222C"/>
                </a:solidFill>
                <a:latin typeface="Courier New" pitchFamily="34" charset="0"/>
                <a:ea typeface="Courier New" pitchFamily="34" charset="-122"/>
                <a:cs typeface="Courier New" pitchFamily="34" charset="-120"/>
              </a:rPr>
              <a:t># …et Ansible la relit. C'est tout.</a:t>
            </a:r>
            <a:endParaRPr lang="en-US" sz="1150" dirty="0"/>
          </a:p>
          <a:p>
            <a:pPr indent="0" marL="0">
              <a:lnSpc>
                <a:spcPts val="1725"/>
              </a:lnSpc>
              <a:buNone/>
            </a:pPr>
            <a:r>
              <a:rPr lang="en-US" sz="1150" dirty="0">
                <a:solidFill>
                  <a:srgbClr val="17222C"/>
                </a:solidFill>
                <a:latin typeface="Courier New" pitchFamily="34" charset="0"/>
                <a:ea typeface="Courier New" pitchFamily="34" charset="-122"/>
                <a:cs typeface="Courier New" pitchFamily="34" charset="-120"/>
              </a:rPr>
              <a:t>plugin: cloud.terraform.terraform_provider</a:t>
            </a:r>
            <a:endParaRPr lang="en-US" sz="1150" dirty="0"/>
          </a:p>
        </p:txBody>
      </p:sp>
      <p:sp>
        <p:nvSpPr>
          <p:cNvPr id="7" name="Shape 5"/>
          <p:cNvSpPr/>
          <p:nvPr/>
        </p:nvSpPr>
        <p:spPr>
          <a:xfrm>
            <a:off x="7360920" y="1938528"/>
            <a:ext cx="4261104" cy="1234440"/>
          </a:xfrm>
          <a:prstGeom prst="roundRect">
            <a:avLst>
              <a:gd name="adj" fmla="val 4444"/>
            </a:avLst>
          </a:prstGeom>
          <a:solidFill>
            <a:srgbClr val="F2F5F7"/>
          </a:solidFill>
          <a:ln w="9525">
            <a:solidFill>
              <a:srgbClr val="D3DBE3"/>
            </a:solidFill>
            <a:prstDash val="solid"/>
          </a:ln>
        </p:spPr>
      </p:sp>
      <p:sp>
        <p:nvSpPr>
          <p:cNvPr id="8" name="Text 6"/>
          <p:cNvSpPr txBox="1"/>
          <p:nvPr/>
        </p:nvSpPr>
        <p:spPr>
          <a:xfrm>
            <a:off x="7543800" y="2057400"/>
            <a:ext cx="3931920" cy="274320"/>
          </a:xfrm>
          <a:prstGeom prst="rect">
            <a:avLst/>
          </a:prstGeom>
          <a:noFill/>
          <a:ln/>
        </p:spPr>
        <p:txBody>
          <a:bodyPr wrap="square" lIns="0" tIns="0" rIns="0" bIns="0" rtlCol="0" anchor="ctr"/>
          <a:lstStyle/>
          <a:p>
            <a:pPr indent="0" marL="0">
              <a:buNone/>
            </a:pPr>
            <a:r>
              <a:rPr lang="en-US" sz="1300" b="1" dirty="0">
                <a:solidFill>
                  <a:srgbClr val="17222C"/>
                </a:solidFill>
                <a:latin typeface="Arial" pitchFamily="34" charset="0"/>
                <a:ea typeface="Arial" pitchFamily="34" charset="-122"/>
                <a:cs typeface="Arial" pitchFamily="34" charset="-120"/>
              </a:rPr>
              <a:t>Des rôles qu'on réutilise</a:t>
            </a:r>
            <a:endParaRPr lang="en-US" sz="1300" dirty="0"/>
          </a:p>
        </p:txBody>
      </p:sp>
      <p:sp>
        <p:nvSpPr>
          <p:cNvPr id="9" name="Text 7"/>
          <p:cNvSpPr txBox="1"/>
          <p:nvPr/>
        </p:nvSpPr>
        <p:spPr>
          <a:xfrm>
            <a:off x="7543800" y="2359152"/>
            <a:ext cx="3931920" cy="777240"/>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Le serveur d'entrée et les caisses partagent le même rôle de base, avec des réglages différents. Docker vient d'un rôle public, installé depuis Galaxy.</a:t>
            </a:r>
            <a:endParaRPr lang="en-US" sz="1100" dirty="0"/>
          </a:p>
        </p:txBody>
      </p:sp>
      <p:sp>
        <p:nvSpPr>
          <p:cNvPr id="10" name="Shape 8"/>
          <p:cNvSpPr/>
          <p:nvPr/>
        </p:nvSpPr>
        <p:spPr>
          <a:xfrm>
            <a:off x="7360920" y="3310128"/>
            <a:ext cx="4261104" cy="1234440"/>
          </a:xfrm>
          <a:prstGeom prst="roundRect">
            <a:avLst>
              <a:gd name="adj" fmla="val 4444"/>
            </a:avLst>
          </a:prstGeom>
          <a:solidFill>
            <a:srgbClr val="F2F5F7"/>
          </a:solidFill>
          <a:ln w="9525">
            <a:solidFill>
              <a:srgbClr val="D3DBE3"/>
            </a:solidFill>
            <a:prstDash val="solid"/>
          </a:ln>
        </p:spPr>
      </p:sp>
      <p:sp>
        <p:nvSpPr>
          <p:cNvPr id="11" name="Text 9"/>
          <p:cNvSpPr txBox="1"/>
          <p:nvPr/>
        </p:nvSpPr>
        <p:spPr>
          <a:xfrm>
            <a:off x="7543800" y="3429000"/>
            <a:ext cx="3931920" cy="274320"/>
          </a:xfrm>
          <a:prstGeom prst="rect">
            <a:avLst/>
          </a:prstGeom>
          <a:noFill/>
          <a:ln/>
        </p:spPr>
        <p:txBody>
          <a:bodyPr wrap="square" lIns="0" tIns="0" rIns="0" bIns="0" rtlCol="0" anchor="ctr"/>
          <a:lstStyle/>
          <a:p>
            <a:pPr indent="0" marL="0">
              <a:buNone/>
            </a:pPr>
            <a:r>
              <a:rPr lang="en-US" sz="1300" b="1" dirty="0">
                <a:solidFill>
                  <a:srgbClr val="17222C"/>
                </a:solidFill>
                <a:latin typeface="Arial" pitchFamily="34" charset="0"/>
                <a:ea typeface="Arial" pitchFamily="34" charset="-122"/>
                <a:cs typeface="Arial" pitchFamily="34" charset="-120"/>
              </a:rPr>
              <a:t>Les secrets sont chiffrés</a:t>
            </a:r>
            <a:endParaRPr lang="en-US" sz="1300" dirty="0"/>
          </a:p>
        </p:txBody>
      </p:sp>
      <p:sp>
        <p:nvSpPr>
          <p:cNvPr id="12" name="Text 10"/>
          <p:cNvSpPr txBox="1"/>
          <p:nvPr/>
        </p:nvSpPr>
        <p:spPr>
          <a:xfrm>
            <a:off x="7543800" y="3730752"/>
            <a:ext cx="3931920" cy="777240"/>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Le mot de passe de l'administration est chiffré dans le dépôt. Celui de la base n'y est même pas.</a:t>
            </a:r>
            <a:endParaRPr lang="en-US" sz="1100" dirty="0"/>
          </a:p>
        </p:txBody>
      </p:sp>
      <p:sp>
        <p:nvSpPr>
          <p:cNvPr id="13" name="Shape 11"/>
          <p:cNvSpPr/>
          <p:nvPr/>
        </p:nvSpPr>
        <p:spPr>
          <a:xfrm>
            <a:off x="7360920" y="4681728"/>
            <a:ext cx="4261104" cy="1234440"/>
          </a:xfrm>
          <a:prstGeom prst="roundRect">
            <a:avLst>
              <a:gd name="adj" fmla="val 4444"/>
            </a:avLst>
          </a:prstGeom>
          <a:solidFill>
            <a:srgbClr val="F2F5F7"/>
          </a:solidFill>
          <a:ln w="9525">
            <a:solidFill>
              <a:srgbClr val="D3DBE3"/>
            </a:solidFill>
            <a:prstDash val="solid"/>
          </a:ln>
        </p:spPr>
      </p:sp>
      <p:sp>
        <p:nvSpPr>
          <p:cNvPr id="14" name="Text 12"/>
          <p:cNvSpPr txBox="1"/>
          <p:nvPr/>
        </p:nvSpPr>
        <p:spPr>
          <a:xfrm>
            <a:off x="7543800" y="4800600"/>
            <a:ext cx="3931920" cy="274320"/>
          </a:xfrm>
          <a:prstGeom prst="rect">
            <a:avLst/>
          </a:prstGeom>
          <a:noFill/>
          <a:ln/>
        </p:spPr>
        <p:txBody>
          <a:bodyPr wrap="square" lIns="0" tIns="0" rIns="0" bIns="0" rtlCol="0" anchor="ctr"/>
          <a:lstStyle/>
          <a:p>
            <a:pPr indent="0" marL="0">
              <a:buNone/>
            </a:pPr>
            <a:r>
              <a:rPr lang="en-US" sz="1300" b="1" dirty="0">
                <a:solidFill>
                  <a:srgbClr val="17222C"/>
                </a:solidFill>
                <a:latin typeface="Arial" pitchFamily="34" charset="0"/>
                <a:ea typeface="Arial" pitchFamily="34" charset="-122"/>
                <a:cs typeface="Arial" pitchFamily="34" charset="-120"/>
              </a:rPr>
              <a:t>On peut le relancer sans risque</a:t>
            </a:r>
            <a:endParaRPr lang="en-US" sz="1300" dirty="0"/>
          </a:p>
        </p:txBody>
      </p:sp>
      <p:sp>
        <p:nvSpPr>
          <p:cNvPr id="15" name="Text 13"/>
          <p:cNvSpPr txBox="1"/>
          <p:nvPr/>
        </p:nvSpPr>
        <p:spPr>
          <a:xfrm>
            <a:off x="7543800" y="5102352"/>
            <a:ext cx="3931920" cy="777240"/>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Ansible décrit l'état voulu, pas des étapes. Si tout est déjà en place, il ne touche à rien.</a:t>
            </a:r>
            <a:endParaRPr lang="en-US" sz="1100" dirty="0"/>
          </a:p>
        </p:txBody>
      </p:sp>
      <p:sp>
        <p:nvSpPr>
          <p:cNvPr id="16" name="Shape 14"/>
          <p:cNvSpPr/>
          <p:nvPr/>
        </p:nvSpPr>
        <p:spPr>
          <a:xfrm>
            <a:off x="566928" y="4434840"/>
            <a:ext cx="6537960" cy="914400"/>
          </a:xfrm>
          <a:prstGeom prst="roundRect">
            <a:avLst>
              <a:gd name="adj" fmla="val 5000"/>
            </a:avLst>
          </a:prstGeom>
          <a:solidFill>
            <a:srgbClr val="E8F3EC"/>
          </a:solidFill>
          <a:ln w="9525">
            <a:solidFill>
              <a:srgbClr val="2E7D4F"/>
            </a:solidFill>
            <a:prstDash val="solid"/>
          </a:ln>
        </p:spPr>
      </p:sp>
      <p:sp>
        <p:nvSpPr>
          <p:cNvPr id="17" name="Text 15"/>
          <p:cNvSpPr txBox="1"/>
          <p:nvPr/>
        </p:nvSpPr>
        <p:spPr>
          <a:xfrm>
            <a:off x="795528" y="4553712"/>
            <a:ext cx="6126480" cy="320040"/>
          </a:xfrm>
          <a:prstGeom prst="rect">
            <a:avLst/>
          </a:prstGeom>
          <a:noFill/>
          <a:ln/>
        </p:spPr>
        <p:txBody>
          <a:bodyPr wrap="square" lIns="0" tIns="0" rIns="0" bIns="0" rtlCol="0" anchor="ctr"/>
          <a:lstStyle/>
          <a:p>
            <a:pPr indent="0" marL="0">
              <a:buNone/>
            </a:pPr>
            <a:r>
              <a:rPr lang="en-US" sz="1600" b="1" dirty="0">
                <a:solidFill>
                  <a:srgbClr val="2E7D4F"/>
                </a:solidFill>
                <a:latin typeface="Arial" pitchFamily="34" charset="0"/>
                <a:ea typeface="Arial" pitchFamily="34" charset="-122"/>
                <a:cs typeface="Arial" pitchFamily="34" charset="-120"/>
              </a:rPr>
              <a:t>On relance : « changed=0 »</a:t>
            </a:r>
            <a:endParaRPr lang="en-US" sz="1600" dirty="0"/>
          </a:p>
        </p:txBody>
      </p:sp>
      <p:sp>
        <p:nvSpPr>
          <p:cNvPr id="18" name="Text 16"/>
          <p:cNvSpPr txBox="1"/>
          <p:nvPr/>
        </p:nvSpPr>
        <p:spPr>
          <a:xfrm>
            <a:off x="795528" y="4901184"/>
            <a:ext cx="6126480" cy="320040"/>
          </a:xfrm>
          <a:prstGeom prst="rect">
            <a:avLst/>
          </a:prstGeom>
          <a:noFill/>
          <a:ln/>
        </p:spPr>
        <p:txBody>
          <a:bodyPr wrap="square" lIns="0" tIns="0" rIns="0" bIns="0" rtlCol="0" anchor="ctr"/>
          <a:lstStyle/>
          <a:p>
            <a:pPr indent="0" marL="0">
              <a:buNone/>
            </a:pPr>
            <a:r>
              <a:rPr lang="en-US" sz="1250" dirty="0">
                <a:solidFill>
                  <a:srgbClr val="5C6B7A"/>
                </a:solidFill>
                <a:latin typeface="Calibri" pitchFamily="34" charset="0"/>
                <a:ea typeface="Calibri" pitchFamily="34" charset="-122"/>
                <a:cs typeface="Calibri" pitchFamily="34" charset="-120"/>
              </a:rPr>
              <a:t>Zéro modification. La machine était déjà dans l'état demandé.</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84048"/>
            <a:ext cx="11055096" cy="274320"/>
          </a:xfrm>
          <a:prstGeom prst="rect">
            <a:avLst/>
          </a:prstGeom>
          <a:noFill/>
          <a:ln/>
        </p:spPr>
        <p:txBody>
          <a:bodyPr wrap="square" lIns="0" tIns="0" rIns="0" bIns="0" rtlCol="0" anchor="ctr"/>
          <a:lstStyle/>
          <a:p>
            <a:pPr indent="0" marL="0">
              <a:buNone/>
            </a:pPr>
            <a:r>
              <a:rPr lang="en-US" sz="1100" spc="200" kern="0" dirty="0">
                <a:solidFill>
                  <a:srgbClr val="9E5D06"/>
                </a:solidFill>
                <a:latin typeface="Courier New" pitchFamily="34" charset="0"/>
                <a:ea typeface="Courier New" pitchFamily="34" charset="-122"/>
                <a:cs typeface="Courier New" pitchFamily="34" charset="-120"/>
              </a:rPr>
              <a:t>06 — LE JOUR DE L'OUVERTURE</a:t>
            </a:r>
            <a:endParaRPr lang="en-US" sz="1100" dirty="0"/>
          </a:p>
        </p:txBody>
      </p:sp>
      <p:sp>
        <p:nvSpPr>
          <p:cNvPr id="3" name="Text 1"/>
          <p:cNvSpPr txBox="1"/>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7222C"/>
                </a:solidFill>
                <a:latin typeface="Arial" pitchFamily="34" charset="0"/>
                <a:ea typeface="Arial" pitchFamily="34" charset="-122"/>
                <a:cs typeface="Arial" pitchFamily="34" charset="-120"/>
              </a:rPr>
              <a:t>Plus de monde ? On change un chiffre</a:t>
            </a:r>
            <a:endParaRPr lang="en-US" sz="3000" dirty="0"/>
          </a:p>
        </p:txBody>
      </p:sp>
      <p:sp>
        <p:nvSpPr>
          <p:cNvPr id="4" name="Text 2"/>
          <p:cNvSpPr txBox="1"/>
          <p:nvPr/>
        </p:nvSpPr>
        <p:spPr>
          <a:xfrm>
            <a:off x="566928" y="1463040"/>
            <a:ext cx="10789920" cy="457200"/>
          </a:xfrm>
          <a:prstGeom prst="rect">
            <a:avLst/>
          </a:prstGeom>
          <a:noFill/>
          <a:ln/>
        </p:spPr>
        <p:txBody>
          <a:bodyPr wrap="square" lIns="0" tIns="0" rIns="0" bIns="0" rtlCol="0" anchor="ctr"/>
          <a:lstStyle/>
          <a:p>
            <a:pPr indent="0" marL="0">
              <a:buNone/>
            </a:pPr>
            <a:r>
              <a:rPr lang="en-US" sz="1400" dirty="0">
                <a:solidFill>
                  <a:srgbClr val="5C6B7A"/>
                </a:solidFill>
                <a:latin typeface="Calibri" pitchFamily="34" charset="0"/>
                <a:ea typeface="Calibri" pitchFamily="34" charset="-122"/>
                <a:cs typeface="Calibri" pitchFamily="34" charset="-120"/>
              </a:rPr>
              <a:t>Aucune commande, aucune image, aucun panier ne vit sur un serveur : tout est dans la base et sur le disque partagé. Du coup, ajouter un serveur ne dérange pas ceux qui travaillent déjà.</a:t>
            </a:r>
            <a:endParaRPr lang="en-US" sz="1400" dirty="0"/>
          </a:p>
        </p:txBody>
      </p:sp>
      <p:sp>
        <p:nvSpPr>
          <p:cNvPr id="5" name="Shape 3"/>
          <p:cNvSpPr/>
          <p:nvPr/>
        </p:nvSpPr>
        <p:spPr>
          <a:xfrm>
            <a:off x="566928" y="2148840"/>
            <a:ext cx="11055096" cy="1234440"/>
          </a:xfrm>
          <a:prstGeom prst="roundRect">
            <a:avLst>
              <a:gd name="adj" fmla="val 2963"/>
            </a:avLst>
          </a:prstGeom>
          <a:solidFill>
            <a:srgbClr val="1B2732"/>
          </a:solidFill>
          <a:ln w="9525">
            <a:solidFill>
              <a:srgbClr val="1B2732"/>
            </a:solidFill>
            <a:prstDash val="solid"/>
          </a:ln>
        </p:spPr>
      </p:sp>
      <p:sp>
        <p:nvSpPr>
          <p:cNvPr id="6" name="Text 4"/>
          <p:cNvSpPr txBox="1"/>
          <p:nvPr/>
        </p:nvSpPr>
        <p:spPr>
          <a:xfrm>
            <a:off x="731520" y="2258568"/>
            <a:ext cx="10725912" cy="1014984"/>
          </a:xfrm>
          <a:prstGeom prst="rect">
            <a:avLst/>
          </a:prstGeom>
          <a:noFill/>
          <a:ln/>
        </p:spPr>
        <p:txBody>
          <a:bodyPr wrap="square" lIns="0" tIns="0" rIns="0" bIns="0" rtlCol="0" anchor="ctr"/>
          <a:lstStyle/>
          <a:p>
            <a:pPr indent="0" marL="0">
              <a:lnSpc>
                <a:spcPts val="1875"/>
              </a:lnSpc>
              <a:buNone/>
            </a:pPr>
            <a:r>
              <a:rPr lang="en-US" sz="1250" dirty="0">
                <a:solidFill>
                  <a:srgbClr val="C9D6E2"/>
                </a:solidFill>
                <a:latin typeface="Courier New" pitchFamily="34" charset="0"/>
                <a:ea typeface="Courier New" pitchFamily="34" charset="-122"/>
                <a:cs typeface="Courier New" pitchFamily="34" charset="-120"/>
              </a:rPr>
              <a:t>terraform apply -var app_instance_count=6      # on passe de 1 à 6 serveurs</a:t>
            </a:r>
            <a:endParaRPr lang="en-US" sz="1250" dirty="0"/>
          </a:p>
          <a:p>
            <a:pPr indent="0" marL="0">
              <a:lnSpc>
                <a:spcPts val="1875"/>
              </a:lnSpc>
              <a:buNone/>
            </a:pPr>
            <a:r>
              <a:rPr lang="en-US" sz="1250" dirty="0">
                <a:solidFill>
                  <a:srgbClr val="C9D6E2"/>
                </a:solidFill>
                <a:latin typeface="Courier New" pitchFamily="34" charset="0"/>
                <a:ea typeface="Courier New" pitchFamily="34" charset="-122"/>
                <a:cs typeface="Courier New" pitchFamily="34" charset="-120"/>
              </a:rPr>
              <a:t>ansible-playbook ... site.yml                  # on les installe</a:t>
            </a:r>
            <a:endParaRPr lang="en-US" sz="1250" dirty="0"/>
          </a:p>
          <a:p>
            <a:pPr indent="0" marL="0">
              <a:lnSpc>
                <a:spcPts val="1875"/>
              </a:lnSpc>
              <a:buNone/>
            </a:pPr>
            <a:endParaRPr lang="en-US" sz="1250" dirty="0"/>
          </a:p>
          <a:p>
            <a:pPr indent="0" marL="0">
              <a:lnSpc>
                <a:spcPts val="1875"/>
              </a:lnSpc>
              <a:buNone/>
            </a:pPr>
            <a:r>
              <a:rPr lang="en-US" sz="1250" dirty="0">
                <a:solidFill>
                  <a:srgbClr val="C9D6E2"/>
                </a:solidFill>
                <a:latin typeface="Courier New" pitchFamily="34" charset="0"/>
                <a:ea typeface="Courier New" pitchFamily="34" charset="-122"/>
                <a:cs typeface="Courier New" pitchFamily="34" charset="-120"/>
              </a:rPr>
              <a:t># environ 3 minutes, sans couper la boutique</a:t>
            </a:r>
            <a:endParaRPr lang="en-US" sz="1250" dirty="0"/>
          </a:p>
        </p:txBody>
      </p:sp>
      <p:sp>
        <p:nvSpPr>
          <p:cNvPr id="7" name="Shape 5"/>
          <p:cNvSpPr/>
          <p:nvPr/>
        </p:nvSpPr>
        <p:spPr>
          <a:xfrm>
            <a:off x="566928" y="3657600"/>
            <a:ext cx="3520440" cy="1691640"/>
          </a:xfrm>
          <a:prstGeom prst="roundRect">
            <a:avLst>
              <a:gd name="adj" fmla="val 3243"/>
            </a:avLst>
          </a:prstGeom>
          <a:solidFill>
            <a:srgbClr val="F2F5F7"/>
          </a:solidFill>
          <a:ln w="9525">
            <a:solidFill>
              <a:srgbClr val="D3DBE3"/>
            </a:solidFill>
            <a:prstDash val="solid"/>
          </a:ln>
        </p:spPr>
      </p:sp>
      <p:sp>
        <p:nvSpPr>
          <p:cNvPr id="8" name="Text 6"/>
          <p:cNvSpPr txBox="1"/>
          <p:nvPr/>
        </p:nvSpPr>
        <p:spPr>
          <a:xfrm>
            <a:off x="795528" y="3794760"/>
            <a:ext cx="3108960" cy="228600"/>
          </a:xfrm>
          <a:prstGeom prst="rect">
            <a:avLst/>
          </a:prstGeom>
          <a:noFill/>
          <a:ln/>
        </p:spPr>
        <p:txBody>
          <a:bodyPr wrap="square" lIns="0" tIns="0" rIns="0" bIns="0" rtlCol="0" anchor="ctr"/>
          <a:lstStyle/>
          <a:p>
            <a:pPr indent="0" marL="0">
              <a:buNone/>
            </a:pPr>
            <a:r>
              <a:rPr lang="en-US" sz="900" spc="100" kern="0" dirty="0">
                <a:solidFill>
                  <a:srgbClr val="9E5D06"/>
                </a:solidFill>
                <a:latin typeface="Courier New" pitchFamily="34" charset="0"/>
                <a:ea typeface="Courier New" pitchFamily="34" charset="-122"/>
                <a:cs typeface="Courier New" pitchFamily="34" charset="-120"/>
              </a:rPr>
              <a:t>AWS NOUS PRÉVIENT SI…</a:t>
            </a:r>
            <a:endParaRPr lang="en-US" sz="900" dirty="0"/>
          </a:p>
        </p:txBody>
      </p:sp>
      <p:sp>
        <p:nvSpPr>
          <p:cNvPr id="9" name="Text 7"/>
          <p:cNvSpPr txBox="1"/>
          <p:nvPr/>
        </p:nvSpPr>
        <p:spPr>
          <a:xfrm>
            <a:off x="795528" y="4069080"/>
            <a:ext cx="3108960" cy="320040"/>
          </a:xfrm>
          <a:prstGeom prst="rect">
            <a:avLst/>
          </a:prstGeom>
          <a:noFill/>
          <a:ln/>
        </p:spPr>
        <p:txBody>
          <a:bodyPr wrap="square" lIns="0" tIns="0" rIns="0" bIns="0" rtlCol="0" anchor="ctr"/>
          <a:lstStyle/>
          <a:p>
            <a:pPr indent="0" marL="0">
              <a:buNone/>
            </a:pPr>
            <a:r>
              <a:rPr lang="en-US" sz="1400" b="1" dirty="0">
                <a:solidFill>
                  <a:srgbClr val="17222C"/>
                </a:solidFill>
                <a:latin typeface="Arial" pitchFamily="34" charset="0"/>
                <a:ea typeface="Arial" pitchFamily="34" charset="-122"/>
                <a:cs typeface="Arial" pitchFamily="34" charset="-120"/>
              </a:rPr>
              <a:t>Le site devient lent</a:t>
            </a:r>
            <a:endParaRPr lang="en-US" sz="1400" dirty="0"/>
          </a:p>
        </p:txBody>
      </p:sp>
      <p:sp>
        <p:nvSpPr>
          <p:cNvPr id="10" name="Text 8"/>
          <p:cNvSpPr txBox="1"/>
          <p:nvPr/>
        </p:nvSpPr>
        <p:spPr>
          <a:xfrm>
            <a:off x="795528" y="4462272"/>
            <a:ext cx="3108960" cy="777240"/>
          </a:xfrm>
          <a:prstGeom prst="rect">
            <a:avLst/>
          </a:prstGeom>
          <a:noFill/>
          <a:ln/>
        </p:spPr>
        <p:txBody>
          <a:bodyPr wrap="square" lIns="0" tIns="0" rIns="0" bIns="0" rtlCol="0" anchor="ctr"/>
          <a:lstStyle/>
          <a:p>
            <a:pPr indent="0" marL="0">
              <a:buNone/>
            </a:pPr>
            <a:r>
              <a:rPr lang="en-US" sz="1150" dirty="0">
                <a:solidFill>
                  <a:srgbClr val="5C6B7A"/>
                </a:solidFill>
                <a:latin typeface="Calibri" pitchFamily="34" charset="0"/>
                <a:ea typeface="Calibri" pitchFamily="34" charset="-122"/>
                <a:cs typeface="Calibri" pitchFamily="34" charset="-120"/>
              </a:rPr>
              <a:t>Plus de 2 secondes de réponse pendant 3 minutes : la flotte sature, il faut ajouter des serveurs.</a:t>
            </a:r>
            <a:endParaRPr lang="en-US" sz="1150" dirty="0"/>
          </a:p>
        </p:txBody>
      </p:sp>
      <p:sp>
        <p:nvSpPr>
          <p:cNvPr id="11" name="Shape 9"/>
          <p:cNvSpPr/>
          <p:nvPr/>
        </p:nvSpPr>
        <p:spPr>
          <a:xfrm>
            <a:off x="4334256" y="3657600"/>
            <a:ext cx="3520440" cy="1691640"/>
          </a:xfrm>
          <a:prstGeom prst="roundRect">
            <a:avLst>
              <a:gd name="adj" fmla="val 3243"/>
            </a:avLst>
          </a:prstGeom>
          <a:solidFill>
            <a:srgbClr val="F2F5F7"/>
          </a:solidFill>
          <a:ln w="9525">
            <a:solidFill>
              <a:srgbClr val="D3DBE3"/>
            </a:solidFill>
            <a:prstDash val="solid"/>
          </a:ln>
        </p:spPr>
      </p:sp>
      <p:sp>
        <p:nvSpPr>
          <p:cNvPr id="12" name="Text 10"/>
          <p:cNvSpPr txBox="1"/>
          <p:nvPr/>
        </p:nvSpPr>
        <p:spPr>
          <a:xfrm>
            <a:off x="4562856" y="3794760"/>
            <a:ext cx="3108960" cy="228600"/>
          </a:xfrm>
          <a:prstGeom prst="rect">
            <a:avLst/>
          </a:prstGeom>
          <a:noFill/>
          <a:ln/>
        </p:spPr>
        <p:txBody>
          <a:bodyPr wrap="square" lIns="0" tIns="0" rIns="0" bIns="0" rtlCol="0" anchor="ctr"/>
          <a:lstStyle/>
          <a:p>
            <a:pPr indent="0" marL="0">
              <a:buNone/>
            </a:pPr>
            <a:r>
              <a:rPr lang="en-US" sz="900" spc="100" kern="0" dirty="0">
                <a:solidFill>
                  <a:srgbClr val="9E5D06"/>
                </a:solidFill>
                <a:latin typeface="Courier New" pitchFamily="34" charset="0"/>
                <a:ea typeface="Courier New" pitchFamily="34" charset="-122"/>
                <a:cs typeface="Courier New" pitchFamily="34" charset="-120"/>
              </a:rPr>
              <a:t>AWS NOUS PRÉVIENT SI…</a:t>
            </a:r>
            <a:endParaRPr lang="en-US" sz="900" dirty="0"/>
          </a:p>
        </p:txBody>
      </p:sp>
      <p:sp>
        <p:nvSpPr>
          <p:cNvPr id="13" name="Text 11"/>
          <p:cNvSpPr txBox="1"/>
          <p:nvPr/>
        </p:nvSpPr>
        <p:spPr>
          <a:xfrm>
            <a:off x="4562856" y="4069080"/>
            <a:ext cx="3108960" cy="320040"/>
          </a:xfrm>
          <a:prstGeom prst="rect">
            <a:avLst/>
          </a:prstGeom>
          <a:noFill/>
          <a:ln/>
        </p:spPr>
        <p:txBody>
          <a:bodyPr wrap="square" lIns="0" tIns="0" rIns="0" bIns="0" rtlCol="0" anchor="ctr"/>
          <a:lstStyle/>
          <a:p>
            <a:pPr indent="0" marL="0">
              <a:buNone/>
            </a:pPr>
            <a:r>
              <a:rPr lang="en-US" sz="1400" b="1" dirty="0">
                <a:solidFill>
                  <a:srgbClr val="17222C"/>
                </a:solidFill>
                <a:latin typeface="Arial" pitchFamily="34" charset="0"/>
                <a:ea typeface="Arial" pitchFamily="34" charset="-122"/>
                <a:cs typeface="Arial" pitchFamily="34" charset="-120"/>
              </a:rPr>
              <a:t>Un serveur ne répond plus</a:t>
            </a:r>
            <a:endParaRPr lang="en-US" sz="1400" dirty="0"/>
          </a:p>
        </p:txBody>
      </p:sp>
      <p:sp>
        <p:nvSpPr>
          <p:cNvPr id="14" name="Text 12"/>
          <p:cNvSpPr txBox="1"/>
          <p:nvPr/>
        </p:nvSpPr>
        <p:spPr>
          <a:xfrm>
            <a:off x="4562856" y="4462272"/>
            <a:ext cx="3108960" cy="777240"/>
          </a:xfrm>
          <a:prstGeom prst="rect">
            <a:avLst/>
          </a:prstGeom>
          <a:noFill/>
          <a:ln/>
        </p:spPr>
        <p:txBody>
          <a:bodyPr wrap="square" lIns="0" tIns="0" rIns="0" bIns="0" rtlCol="0" anchor="ctr"/>
          <a:lstStyle/>
          <a:p>
            <a:pPr indent="0" marL="0">
              <a:buNone/>
            </a:pPr>
            <a:r>
              <a:rPr lang="en-US" sz="1150" dirty="0">
                <a:solidFill>
                  <a:srgbClr val="5C6B7A"/>
                </a:solidFill>
                <a:latin typeface="Calibri" pitchFamily="34" charset="0"/>
                <a:ea typeface="Calibri" pitchFamily="34" charset="-122"/>
                <a:cs typeface="Calibri" pitchFamily="34" charset="-120"/>
              </a:rPr>
              <a:t>Il est sorti tout seul de la rotation. On va voir pourquoi avant qu'il y en ait deux.</a:t>
            </a:r>
            <a:endParaRPr lang="en-US" sz="1150" dirty="0"/>
          </a:p>
        </p:txBody>
      </p:sp>
      <p:sp>
        <p:nvSpPr>
          <p:cNvPr id="15" name="Shape 13"/>
          <p:cNvSpPr/>
          <p:nvPr/>
        </p:nvSpPr>
        <p:spPr>
          <a:xfrm>
            <a:off x="8101584" y="3657600"/>
            <a:ext cx="3520440" cy="1691640"/>
          </a:xfrm>
          <a:prstGeom prst="roundRect">
            <a:avLst>
              <a:gd name="adj" fmla="val 3243"/>
            </a:avLst>
          </a:prstGeom>
          <a:solidFill>
            <a:srgbClr val="F2F5F7"/>
          </a:solidFill>
          <a:ln w="9525">
            <a:solidFill>
              <a:srgbClr val="D3DBE3"/>
            </a:solidFill>
            <a:prstDash val="solid"/>
          </a:ln>
        </p:spPr>
      </p:sp>
      <p:sp>
        <p:nvSpPr>
          <p:cNvPr id="16" name="Text 14"/>
          <p:cNvSpPr txBox="1"/>
          <p:nvPr/>
        </p:nvSpPr>
        <p:spPr>
          <a:xfrm>
            <a:off x="8330184" y="3794760"/>
            <a:ext cx="3108960" cy="228600"/>
          </a:xfrm>
          <a:prstGeom prst="rect">
            <a:avLst/>
          </a:prstGeom>
          <a:noFill/>
          <a:ln/>
        </p:spPr>
        <p:txBody>
          <a:bodyPr wrap="square" lIns="0" tIns="0" rIns="0" bIns="0" rtlCol="0" anchor="ctr"/>
          <a:lstStyle/>
          <a:p>
            <a:pPr indent="0" marL="0">
              <a:buNone/>
            </a:pPr>
            <a:r>
              <a:rPr lang="en-US" sz="900" spc="100" kern="0" dirty="0">
                <a:solidFill>
                  <a:srgbClr val="9E5D06"/>
                </a:solidFill>
                <a:latin typeface="Courier New" pitchFamily="34" charset="0"/>
                <a:ea typeface="Courier New" pitchFamily="34" charset="-122"/>
                <a:cs typeface="Courier New" pitchFamily="34" charset="-120"/>
              </a:rPr>
              <a:t>AWS NOUS PRÉVIENT SI…</a:t>
            </a:r>
            <a:endParaRPr lang="en-US" sz="900" dirty="0"/>
          </a:p>
        </p:txBody>
      </p:sp>
      <p:sp>
        <p:nvSpPr>
          <p:cNvPr id="17" name="Text 15"/>
          <p:cNvSpPr txBox="1"/>
          <p:nvPr/>
        </p:nvSpPr>
        <p:spPr>
          <a:xfrm>
            <a:off x="8330184" y="4069080"/>
            <a:ext cx="3108960" cy="320040"/>
          </a:xfrm>
          <a:prstGeom prst="rect">
            <a:avLst/>
          </a:prstGeom>
          <a:noFill/>
          <a:ln/>
        </p:spPr>
        <p:txBody>
          <a:bodyPr wrap="square" lIns="0" tIns="0" rIns="0" bIns="0" rtlCol="0" anchor="ctr"/>
          <a:lstStyle/>
          <a:p>
            <a:pPr indent="0" marL="0">
              <a:buNone/>
            </a:pPr>
            <a:r>
              <a:rPr lang="en-US" sz="1400" b="1" dirty="0">
                <a:solidFill>
                  <a:srgbClr val="17222C"/>
                </a:solidFill>
                <a:latin typeface="Arial" pitchFamily="34" charset="0"/>
                <a:ea typeface="Arial" pitchFamily="34" charset="-122"/>
                <a:cs typeface="Arial" pitchFamily="34" charset="-120"/>
              </a:rPr>
              <a:t>Le site renvoie des erreurs</a:t>
            </a:r>
            <a:endParaRPr lang="en-US" sz="1400" dirty="0"/>
          </a:p>
        </p:txBody>
      </p:sp>
      <p:sp>
        <p:nvSpPr>
          <p:cNvPr id="18" name="Text 16"/>
          <p:cNvSpPr txBox="1"/>
          <p:nvPr/>
        </p:nvSpPr>
        <p:spPr>
          <a:xfrm>
            <a:off x="8330184" y="4462272"/>
            <a:ext cx="3108960" cy="777240"/>
          </a:xfrm>
          <a:prstGeom prst="rect">
            <a:avLst/>
          </a:prstGeom>
          <a:noFill/>
          <a:ln/>
        </p:spPr>
        <p:txBody>
          <a:bodyPr wrap="square" lIns="0" tIns="0" rIns="0" bIns="0" rtlCol="0" anchor="ctr"/>
          <a:lstStyle/>
          <a:p>
            <a:pPr indent="0" marL="0">
              <a:buNone/>
            </a:pPr>
            <a:r>
              <a:rPr lang="en-US" sz="1150" dirty="0">
                <a:solidFill>
                  <a:srgbClr val="5C6B7A"/>
                </a:solidFill>
                <a:latin typeface="Calibri" pitchFamily="34" charset="0"/>
                <a:ea typeface="Calibri" pitchFamily="34" charset="-122"/>
                <a:cs typeface="Calibri" pitchFamily="34" charset="-120"/>
              </a:rPr>
              <a:t>Plus de 10 erreurs par minute : la boutique répond, mais mal.</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84048"/>
            <a:ext cx="11055096" cy="274320"/>
          </a:xfrm>
          <a:prstGeom prst="rect">
            <a:avLst/>
          </a:prstGeom>
          <a:noFill/>
          <a:ln/>
        </p:spPr>
        <p:txBody>
          <a:bodyPr wrap="square" lIns="0" tIns="0" rIns="0" bIns="0" rtlCol="0" anchor="ctr"/>
          <a:lstStyle/>
          <a:p>
            <a:pPr indent="0" marL="0">
              <a:buNone/>
            </a:pPr>
            <a:r>
              <a:rPr lang="en-US" sz="1100" spc="200" kern="0" dirty="0">
                <a:solidFill>
                  <a:srgbClr val="9E5D06"/>
                </a:solidFill>
                <a:latin typeface="Courier New" pitchFamily="34" charset="0"/>
                <a:ea typeface="Courier New" pitchFamily="34" charset="-122"/>
                <a:cs typeface="Courier New" pitchFamily="34" charset="-120"/>
              </a:rPr>
              <a:t>07 — QUAND ÇA CASSE</a:t>
            </a:r>
            <a:endParaRPr lang="en-US" sz="1100" dirty="0"/>
          </a:p>
        </p:txBody>
      </p:sp>
      <p:sp>
        <p:nvSpPr>
          <p:cNvPr id="3" name="Text 1"/>
          <p:cNvSpPr txBox="1"/>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7222C"/>
                </a:solidFill>
                <a:latin typeface="Arial" pitchFamily="34" charset="0"/>
                <a:ea typeface="Arial" pitchFamily="34" charset="-122"/>
                <a:cs typeface="Arial" pitchFamily="34" charset="-120"/>
              </a:rPr>
              <a:t>On a chronométré chaque panne</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600200"/>
          <a:ext cx="11055096" cy="914400"/>
        </p:xfrm>
        <a:graphic>
          <a:graphicData uri="http://schemas.openxmlformats.org/drawingml/2006/table">
            <a:tbl>
              <a:tblPr/>
              <a:tblGrid>
                <a:gridCol w="2194560"/>
                <a:gridCol w="5660136"/>
                <a:gridCol w="1737360"/>
                <a:gridCol w="1463040"/>
              </a:tblGrid>
              <a:tr h="713232">
                <a:tc>
                  <a:txBody>
                    <a:bodyPr/>
                    <a:lstStyle/>
                    <a:p>
                      <a:pPr indent="0" marL="0">
                        <a:buNone/>
                      </a:pPr>
                      <a:r>
                        <a:rPr lang="en-US" sz="1250" b="1" dirty="0">
                          <a:solidFill>
                            <a:srgbClr val="17222C"/>
                          </a:solidFill>
                          <a:latin typeface="Calibri" pitchFamily="34" charset="0"/>
                          <a:ea typeface="Calibri" pitchFamily="34" charset="-122"/>
                          <a:cs typeface="Calibri" pitchFamily="34" charset="-120"/>
                        </a:rPr>
                        <a:t>CE QUI TOMBE</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b="1" dirty="0">
                          <a:solidFill>
                            <a:srgbClr val="17222C"/>
                          </a:solidFill>
                          <a:latin typeface="Calibri" pitchFamily="34" charset="0"/>
                          <a:ea typeface="Calibri" pitchFamily="34" charset="-122"/>
                          <a:cs typeface="Calibri" pitchFamily="34" charset="-120"/>
                        </a:rPr>
                        <a:t>CE QUE VOIT LE CLIENT</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b="1" dirty="0">
                          <a:solidFill>
                            <a:srgbClr val="17222C"/>
                          </a:solidFill>
                          <a:latin typeface="Calibri" pitchFamily="34" charset="0"/>
                          <a:ea typeface="Calibri" pitchFamily="34" charset="-122"/>
                          <a:cs typeface="Calibri" pitchFamily="34" charset="-120"/>
                        </a:rPr>
                        <a:t>TEMPS</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b="1" dirty="0">
                          <a:solidFill>
                            <a:srgbClr val="17222C"/>
                          </a:solidFill>
                          <a:latin typeface="Calibri" pitchFamily="34" charset="0"/>
                          <a:ea typeface="Calibri" pitchFamily="34" charset="-122"/>
                          <a:cs typeface="Calibri" pitchFamily="34" charset="-120"/>
                        </a:rPr>
                        <a:t>ON INTERVIENT ?</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r>
              <a:tr h="713232">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Un serveur</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Rien. Il est sorti de la rotation en 30 secondes, et les achats en cours ont le temps de se terminer.</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~30 s</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non</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r>
              <a:tr h="713232">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Une zone AWS entière</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Rien. Les serveurs des autres zones prennent le relais.</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quelques secondes</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non</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r>
              <a:tr h="713232">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La base de données</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Quelques secondes d'erreur, puis ça repart sur la machine de secours.</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1 à 2 min</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non (en prod)</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r>
              <a:tr h="713232">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Notre serveur d'entrée</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Rien du tout : aucun client ne passe par là.</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~2 min</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c>
                  <a:txBody>
                    <a:bodyPr/>
                    <a:lstStyle/>
                    <a:p>
                      <a:pPr indent="0" marL="0">
                        <a:buNone/>
                      </a:pPr>
                      <a:r>
                        <a:rPr lang="en-US" sz="1250" dirty="0">
                          <a:solidFill>
                            <a:srgbClr val="17222C"/>
                          </a:solidFill>
                          <a:latin typeface="Calibri" pitchFamily="34" charset="0"/>
                          <a:ea typeface="Calibri" pitchFamily="34" charset="-122"/>
                          <a:cs typeface="Calibri" pitchFamily="34" charset="-120"/>
                        </a:rPr>
                        <a:t>on le recrée</a:t>
                      </a:r>
                      <a:endParaRPr lang="en-US" sz="1250" dirty="0">
                        <a:latin typeface="Calibri" charset="0"/>
                        <a:ea typeface="Calibri" charset="0"/>
                        <a:cs typeface="Calibri" charset="0"/>
                      </a:endParaRPr>
                    </a:p>
                  </a:txBody>
                  <a:tcPr marL="91440" marR="91440" marT="45720" marB="45720" anchor="t">
                    <a:lnL w="6350" cap="flat" cmpd="sng" algn="ctr">
                      <a:solidFill>
                        <a:srgbClr val="D3DBE3"/>
                      </a:solidFill>
                      <a:prstDash val="solid"/>
                      <a:round/>
                      <a:headEnd type="none" w="med" len="med"/>
                      <a:tailEnd type="none" w="med" len="med"/>
                    </a:lnL>
                    <a:lnR w="6350" cap="flat" cmpd="sng" algn="ctr">
                      <a:solidFill>
                        <a:srgbClr val="D3DBE3"/>
                      </a:solidFill>
                      <a:prstDash val="solid"/>
                      <a:round/>
                      <a:headEnd type="none" w="med" len="med"/>
                      <a:tailEnd type="none" w="med" len="med"/>
                    </a:lnR>
                    <a:lnT w="6350" cap="flat" cmpd="sng" algn="ctr">
                      <a:solidFill>
                        <a:srgbClr val="D3DBE3"/>
                      </a:solidFill>
                      <a:prstDash val="solid"/>
                      <a:round/>
                      <a:headEnd type="none" w="med" len="med"/>
                      <a:tailEnd type="none" w="med" len="med"/>
                    </a:lnT>
                    <a:lnB w="6350" cap="flat" cmpd="sng" algn="ctr">
                      <a:solidFill>
                        <a:srgbClr val="D3DBE3"/>
                      </a:solidFill>
                      <a:prstDash val="solid"/>
                      <a:round/>
                      <a:headEnd type="none" w="med" len="med"/>
                      <a:tailEnd type="none" w="med" len="med"/>
                    </a:lnB>
                    <a:solidFill>
                      <a:srgbClr val="FFFFFF"/>
                    </a:solidFill>
                  </a:tcPr>
                </a:tc>
              </a:tr>
            </a:tbl>
          </a:graphicData>
        </a:graphic>
      </p:graphicFrame>
      <p:sp>
        <p:nvSpPr>
          <p:cNvPr id="5" name="Shape 2"/>
          <p:cNvSpPr/>
          <p:nvPr/>
        </p:nvSpPr>
        <p:spPr>
          <a:xfrm>
            <a:off x="566928" y="4892040"/>
            <a:ext cx="11055096" cy="868680"/>
          </a:xfrm>
          <a:prstGeom prst="roundRect">
            <a:avLst>
              <a:gd name="adj" fmla="val 5263"/>
            </a:avLst>
          </a:prstGeom>
          <a:solidFill>
            <a:srgbClr val="FDF4E6"/>
          </a:solidFill>
          <a:ln w="9525">
            <a:solidFill>
              <a:srgbClr val="E08B1F"/>
            </a:solidFill>
            <a:prstDash val="solid"/>
          </a:ln>
        </p:spPr>
      </p:sp>
      <p:sp>
        <p:nvSpPr>
          <p:cNvPr id="6" name="Text 3"/>
          <p:cNvSpPr txBox="1"/>
          <p:nvPr/>
        </p:nvSpPr>
        <p:spPr>
          <a:xfrm>
            <a:off x="822960" y="5029200"/>
            <a:ext cx="10543032" cy="640080"/>
          </a:xfrm>
          <a:prstGeom prst="rect">
            <a:avLst/>
          </a:prstGeom>
          <a:noFill/>
          <a:ln/>
        </p:spPr>
        <p:txBody>
          <a:bodyPr wrap="square" lIns="0" tIns="0" rIns="0" bIns="0" rtlCol="0" anchor="ctr"/>
          <a:lstStyle/>
          <a:p>
            <a:pPr indent="0" marL="0">
              <a:buNone/>
            </a:pPr>
            <a:r>
              <a:rPr lang="en-US" sz="1350" dirty="0">
                <a:solidFill>
                  <a:srgbClr val="17222C"/>
                </a:solidFill>
                <a:latin typeface="Calibri" pitchFamily="34" charset="0"/>
                <a:ea typeface="Calibri" pitchFamily="34" charset="-122"/>
                <a:cs typeface="Calibri" pitchFamily="34" charset="-120"/>
              </a:rPr>
              <a:t>Et surtout : le panier du client est conservé. Les paniers sont sur le disque partagé, pas sur le serveur qui tombe. C'est la différence entre « un serveur est tombé » et « mon panier est vide ».</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84048"/>
            <a:ext cx="11055096" cy="274320"/>
          </a:xfrm>
          <a:prstGeom prst="rect">
            <a:avLst/>
          </a:prstGeom>
          <a:noFill/>
          <a:ln/>
        </p:spPr>
        <p:txBody>
          <a:bodyPr wrap="square" lIns="0" tIns="0" rIns="0" bIns="0" rtlCol="0" anchor="ctr"/>
          <a:lstStyle/>
          <a:p>
            <a:pPr indent="0" marL="0">
              <a:buNone/>
            </a:pPr>
            <a:r>
              <a:rPr lang="en-US" sz="1100" spc="200" kern="0" dirty="0">
                <a:solidFill>
                  <a:srgbClr val="9E5D06"/>
                </a:solidFill>
                <a:latin typeface="Courier New" pitchFamily="34" charset="0"/>
                <a:ea typeface="Courier New" pitchFamily="34" charset="-122"/>
                <a:cs typeface="Courier New" pitchFamily="34" charset="-120"/>
              </a:rPr>
              <a:t>08 — CE QU'ON A APPRIS</a:t>
            </a:r>
            <a:endParaRPr lang="en-US" sz="1100" dirty="0"/>
          </a:p>
        </p:txBody>
      </p:sp>
      <p:sp>
        <p:nvSpPr>
          <p:cNvPr id="3" name="Text 1"/>
          <p:cNvSpPr txBox="1"/>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7222C"/>
                </a:solidFill>
                <a:latin typeface="Arial" pitchFamily="34" charset="0"/>
                <a:ea typeface="Arial" pitchFamily="34" charset="-122"/>
                <a:cs typeface="Arial" pitchFamily="34" charset="-120"/>
              </a:rPr>
              <a:t>Quatre problèmes vus seulement en vrai</a:t>
            </a:r>
            <a:endParaRPr lang="en-US" sz="3000" dirty="0"/>
          </a:p>
        </p:txBody>
      </p:sp>
      <p:sp>
        <p:nvSpPr>
          <p:cNvPr id="4" name="Shape 2"/>
          <p:cNvSpPr/>
          <p:nvPr/>
        </p:nvSpPr>
        <p:spPr>
          <a:xfrm>
            <a:off x="566928" y="1627632"/>
            <a:ext cx="5394960" cy="1737360"/>
          </a:xfrm>
          <a:prstGeom prst="roundRect">
            <a:avLst>
              <a:gd name="adj" fmla="val 3158"/>
            </a:avLst>
          </a:prstGeom>
          <a:solidFill>
            <a:srgbClr val="F2F5F7"/>
          </a:solidFill>
          <a:ln w="9525">
            <a:solidFill>
              <a:srgbClr val="D3DBE3"/>
            </a:solidFill>
            <a:prstDash val="solid"/>
          </a:ln>
        </p:spPr>
      </p:sp>
      <p:sp>
        <p:nvSpPr>
          <p:cNvPr id="5" name="Shape 3"/>
          <p:cNvSpPr/>
          <p:nvPr/>
        </p:nvSpPr>
        <p:spPr>
          <a:xfrm>
            <a:off x="822960" y="1865376"/>
            <a:ext cx="310896" cy="310896"/>
          </a:xfrm>
          <a:prstGeom prst="ellipse">
            <a:avLst/>
          </a:prstGeom>
          <a:solidFill>
            <a:srgbClr val="0C6A72"/>
          </a:solidFill>
          <a:ln w="12700">
            <a:solidFill>
              <a:srgbClr val="0C6A72"/>
            </a:solidFill>
            <a:prstDash val="solid"/>
          </a:ln>
        </p:spPr>
      </p:sp>
      <p:sp>
        <p:nvSpPr>
          <p:cNvPr id="6" name="Text 4"/>
          <p:cNvSpPr txBox="1"/>
          <p:nvPr/>
        </p:nvSpPr>
        <p:spPr>
          <a:xfrm>
            <a:off x="822960" y="186537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7" name="Text 5"/>
          <p:cNvSpPr txBox="1"/>
          <p:nvPr/>
        </p:nvSpPr>
        <p:spPr>
          <a:xfrm>
            <a:off x="1280160" y="1847088"/>
            <a:ext cx="4480560" cy="347472"/>
          </a:xfrm>
          <a:prstGeom prst="rect">
            <a:avLst/>
          </a:prstGeom>
          <a:noFill/>
          <a:ln/>
        </p:spPr>
        <p:txBody>
          <a:bodyPr wrap="square" lIns="0" tIns="0" rIns="0" bIns="0" rtlCol="0" anchor="ctr"/>
          <a:lstStyle/>
          <a:p>
            <a:pPr indent="0" marL="0">
              <a:buNone/>
            </a:pPr>
            <a:r>
              <a:rPr lang="en-US" sz="1500" b="1" dirty="0">
                <a:solidFill>
                  <a:srgbClr val="17222C"/>
                </a:solidFill>
                <a:latin typeface="Arial" pitchFamily="34" charset="0"/>
                <a:ea typeface="Arial" pitchFamily="34" charset="-122"/>
                <a:cs typeface="Arial" pitchFamily="34" charset="-120"/>
              </a:rPr>
              <a:t>Un caractère interdit</a:t>
            </a:r>
            <a:endParaRPr lang="en-US" sz="1500" dirty="0"/>
          </a:p>
        </p:txBody>
      </p:sp>
      <p:sp>
        <p:nvSpPr>
          <p:cNvPr id="8" name="Text 6"/>
          <p:cNvSpPr txBox="1"/>
          <p:nvPr/>
        </p:nvSpPr>
        <p:spPr>
          <a:xfrm>
            <a:off x="822960" y="2340864"/>
            <a:ext cx="4892040" cy="914400"/>
          </a:xfrm>
          <a:prstGeom prst="rect">
            <a:avLst/>
          </a:prstGeom>
          <a:noFill/>
          <a:ln/>
        </p:spPr>
        <p:txBody>
          <a:bodyPr wrap="square" lIns="0" tIns="0" rIns="0" bIns="0" rtlCol="0" anchor="ctr"/>
          <a:lstStyle/>
          <a:p>
            <a:pPr indent="0" marL="0">
              <a:buNone/>
            </a:pPr>
            <a:r>
              <a:rPr lang="en-US" sz="1250" dirty="0">
                <a:solidFill>
                  <a:srgbClr val="5C6B7A"/>
                </a:solidFill>
                <a:latin typeface="Calibri" pitchFamily="34" charset="0"/>
                <a:ea typeface="Calibri" pitchFamily="34" charset="-122"/>
                <a:cs typeface="Calibri" pitchFamily="34" charset="-120"/>
              </a:rPr>
              <a:t>AWS refuse certains caractères dans les descriptions. On avait écrit une flèche « -&gt; ». Création refusée.</a:t>
            </a:r>
            <a:endParaRPr lang="en-US" sz="1250" dirty="0"/>
          </a:p>
        </p:txBody>
      </p:sp>
      <p:sp>
        <p:nvSpPr>
          <p:cNvPr id="9" name="Shape 7"/>
          <p:cNvSpPr/>
          <p:nvPr/>
        </p:nvSpPr>
        <p:spPr>
          <a:xfrm>
            <a:off x="6190488" y="1627632"/>
            <a:ext cx="5394960" cy="1737360"/>
          </a:xfrm>
          <a:prstGeom prst="roundRect">
            <a:avLst>
              <a:gd name="adj" fmla="val 3158"/>
            </a:avLst>
          </a:prstGeom>
          <a:solidFill>
            <a:srgbClr val="F2F5F7"/>
          </a:solidFill>
          <a:ln w="9525">
            <a:solidFill>
              <a:srgbClr val="D3DBE3"/>
            </a:solidFill>
            <a:prstDash val="solid"/>
          </a:ln>
        </p:spPr>
      </p:sp>
      <p:sp>
        <p:nvSpPr>
          <p:cNvPr id="10" name="Shape 8"/>
          <p:cNvSpPr/>
          <p:nvPr/>
        </p:nvSpPr>
        <p:spPr>
          <a:xfrm>
            <a:off x="6446520" y="1865376"/>
            <a:ext cx="310896" cy="310896"/>
          </a:xfrm>
          <a:prstGeom prst="ellipse">
            <a:avLst/>
          </a:prstGeom>
          <a:solidFill>
            <a:srgbClr val="0C6A72"/>
          </a:solidFill>
          <a:ln w="12700">
            <a:solidFill>
              <a:srgbClr val="0C6A72"/>
            </a:solidFill>
            <a:prstDash val="solid"/>
          </a:ln>
        </p:spPr>
      </p:sp>
      <p:sp>
        <p:nvSpPr>
          <p:cNvPr id="11" name="Text 9"/>
          <p:cNvSpPr txBox="1"/>
          <p:nvPr/>
        </p:nvSpPr>
        <p:spPr>
          <a:xfrm>
            <a:off x="6446520" y="186537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2" name="Text 10"/>
          <p:cNvSpPr txBox="1"/>
          <p:nvPr/>
        </p:nvSpPr>
        <p:spPr>
          <a:xfrm>
            <a:off x="6903720" y="1847088"/>
            <a:ext cx="4480560" cy="347472"/>
          </a:xfrm>
          <a:prstGeom prst="rect">
            <a:avLst/>
          </a:prstGeom>
          <a:noFill/>
          <a:ln/>
        </p:spPr>
        <p:txBody>
          <a:bodyPr wrap="square" lIns="0" tIns="0" rIns="0" bIns="0" rtlCol="0" anchor="ctr"/>
          <a:lstStyle/>
          <a:p>
            <a:pPr indent="0" marL="0">
              <a:buNone/>
            </a:pPr>
            <a:r>
              <a:rPr lang="en-US" sz="1500" b="1" dirty="0">
                <a:solidFill>
                  <a:srgbClr val="17222C"/>
                </a:solidFill>
                <a:latin typeface="Arial" pitchFamily="34" charset="0"/>
                <a:ea typeface="Arial" pitchFamily="34" charset="-122"/>
                <a:cs typeface="Arial" pitchFamily="34" charset="-120"/>
              </a:rPr>
              <a:t>Un outil qui n'existe plus</a:t>
            </a:r>
            <a:endParaRPr lang="en-US" sz="1500" dirty="0"/>
          </a:p>
        </p:txBody>
      </p:sp>
      <p:sp>
        <p:nvSpPr>
          <p:cNvPr id="13" name="Text 11"/>
          <p:cNvSpPr txBox="1"/>
          <p:nvPr/>
        </p:nvSpPr>
        <p:spPr>
          <a:xfrm>
            <a:off x="6446520" y="2340864"/>
            <a:ext cx="4892040" cy="914400"/>
          </a:xfrm>
          <a:prstGeom prst="rect">
            <a:avLst/>
          </a:prstGeom>
          <a:noFill/>
          <a:ln/>
        </p:spPr>
        <p:txBody>
          <a:bodyPr wrap="square" lIns="0" tIns="0" rIns="0" bIns="0" rtlCol="0" anchor="ctr"/>
          <a:lstStyle/>
          <a:p>
            <a:pPr indent="0" marL="0">
              <a:buNone/>
            </a:pPr>
            <a:r>
              <a:rPr lang="en-US" sz="1250" dirty="0">
                <a:solidFill>
                  <a:srgbClr val="5C6B7A"/>
                </a:solidFill>
                <a:latin typeface="Calibri" pitchFamily="34" charset="0"/>
                <a:ea typeface="Calibri" pitchFamily="34" charset="-122"/>
                <a:cs typeface="Calibri" pitchFamily="34" charset="-120"/>
              </a:rPr>
              <a:t>Le paquet awscli a disparu d'Ubuntu 24.04. On est passés à une bibliothèque Python : 60 Mo de moins par serveur.</a:t>
            </a:r>
            <a:endParaRPr lang="en-US" sz="1250" dirty="0"/>
          </a:p>
        </p:txBody>
      </p:sp>
      <p:sp>
        <p:nvSpPr>
          <p:cNvPr id="14" name="Shape 12"/>
          <p:cNvSpPr/>
          <p:nvPr/>
        </p:nvSpPr>
        <p:spPr>
          <a:xfrm>
            <a:off x="566928" y="3547872"/>
            <a:ext cx="5394960" cy="1737360"/>
          </a:xfrm>
          <a:prstGeom prst="roundRect">
            <a:avLst>
              <a:gd name="adj" fmla="val 3158"/>
            </a:avLst>
          </a:prstGeom>
          <a:solidFill>
            <a:srgbClr val="F2F5F7"/>
          </a:solidFill>
          <a:ln w="9525">
            <a:solidFill>
              <a:srgbClr val="D3DBE3"/>
            </a:solidFill>
            <a:prstDash val="solid"/>
          </a:ln>
        </p:spPr>
      </p:sp>
      <p:sp>
        <p:nvSpPr>
          <p:cNvPr id="15" name="Shape 13"/>
          <p:cNvSpPr/>
          <p:nvPr/>
        </p:nvSpPr>
        <p:spPr>
          <a:xfrm>
            <a:off x="822960" y="3785616"/>
            <a:ext cx="310896" cy="310896"/>
          </a:xfrm>
          <a:prstGeom prst="ellipse">
            <a:avLst/>
          </a:prstGeom>
          <a:solidFill>
            <a:srgbClr val="0C6A72"/>
          </a:solidFill>
          <a:ln w="12700">
            <a:solidFill>
              <a:srgbClr val="0C6A72"/>
            </a:solidFill>
            <a:prstDash val="solid"/>
          </a:ln>
        </p:spPr>
      </p:sp>
      <p:sp>
        <p:nvSpPr>
          <p:cNvPr id="16" name="Text 14"/>
          <p:cNvSpPr txBox="1"/>
          <p:nvPr/>
        </p:nvSpPr>
        <p:spPr>
          <a:xfrm>
            <a:off x="822960" y="37856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280160" y="3767328"/>
            <a:ext cx="4480560" cy="347472"/>
          </a:xfrm>
          <a:prstGeom prst="rect">
            <a:avLst/>
          </a:prstGeom>
          <a:noFill/>
          <a:ln/>
        </p:spPr>
        <p:txBody>
          <a:bodyPr wrap="square" lIns="0" tIns="0" rIns="0" bIns="0" rtlCol="0" anchor="ctr"/>
          <a:lstStyle/>
          <a:p>
            <a:pPr indent="0" marL="0">
              <a:buNone/>
            </a:pPr>
            <a:r>
              <a:rPr lang="en-US" sz="1500" b="1" dirty="0">
                <a:solidFill>
                  <a:srgbClr val="17222C"/>
                </a:solidFill>
                <a:latin typeface="Arial" pitchFamily="34" charset="0"/>
                <a:ea typeface="Arial" pitchFamily="34" charset="-122"/>
                <a:cs typeface="Arial" pitchFamily="34" charset="-120"/>
              </a:rPr>
              <a:t>Un mot de passe exécuté</a:t>
            </a:r>
            <a:endParaRPr lang="en-US" sz="1500" dirty="0"/>
          </a:p>
        </p:txBody>
      </p:sp>
      <p:sp>
        <p:nvSpPr>
          <p:cNvPr id="18" name="Text 16"/>
          <p:cNvSpPr txBox="1"/>
          <p:nvPr/>
        </p:nvSpPr>
        <p:spPr>
          <a:xfrm>
            <a:off x="822960" y="4261104"/>
            <a:ext cx="4892040" cy="914400"/>
          </a:xfrm>
          <a:prstGeom prst="rect">
            <a:avLst/>
          </a:prstGeom>
          <a:noFill/>
          <a:ln/>
        </p:spPr>
        <p:txBody>
          <a:bodyPr wrap="square" lIns="0" tIns="0" rIns="0" bIns="0" rtlCol="0" anchor="ctr"/>
          <a:lstStyle/>
          <a:p>
            <a:pPr indent="0" marL="0">
              <a:buNone/>
            </a:pPr>
            <a:r>
              <a:rPr lang="en-US" sz="1250" dirty="0">
                <a:solidFill>
                  <a:srgbClr val="5C6B7A"/>
                </a:solidFill>
                <a:latin typeface="Calibri" pitchFamily="34" charset="0"/>
                <a:ea typeface="Calibri" pitchFamily="34" charset="-122"/>
                <a:cs typeface="Calibri" pitchFamily="34" charset="-120"/>
              </a:rPr>
              <a:t>Le mot de passe généré contenait un « &amp; ». Le shell a cru que c'était une commande et a essayé de l'exécuter.</a:t>
            </a:r>
            <a:endParaRPr lang="en-US" sz="1250" dirty="0"/>
          </a:p>
        </p:txBody>
      </p:sp>
      <p:sp>
        <p:nvSpPr>
          <p:cNvPr id="19" name="Shape 17"/>
          <p:cNvSpPr/>
          <p:nvPr/>
        </p:nvSpPr>
        <p:spPr>
          <a:xfrm>
            <a:off x="6190488" y="3547872"/>
            <a:ext cx="5394960" cy="1737360"/>
          </a:xfrm>
          <a:prstGeom prst="roundRect">
            <a:avLst>
              <a:gd name="adj" fmla="val 3158"/>
            </a:avLst>
          </a:prstGeom>
          <a:solidFill>
            <a:srgbClr val="F2F5F7"/>
          </a:solidFill>
          <a:ln w="9525">
            <a:solidFill>
              <a:srgbClr val="D3DBE3"/>
            </a:solidFill>
            <a:prstDash val="solid"/>
          </a:ln>
        </p:spPr>
      </p:sp>
      <p:sp>
        <p:nvSpPr>
          <p:cNvPr id="20" name="Shape 18"/>
          <p:cNvSpPr/>
          <p:nvPr/>
        </p:nvSpPr>
        <p:spPr>
          <a:xfrm>
            <a:off x="6446520" y="3785616"/>
            <a:ext cx="310896" cy="310896"/>
          </a:xfrm>
          <a:prstGeom prst="ellipse">
            <a:avLst/>
          </a:prstGeom>
          <a:solidFill>
            <a:srgbClr val="0C6A72"/>
          </a:solidFill>
          <a:ln w="12700">
            <a:solidFill>
              <a:srgbClr val="0C6A72"/>
            </a:solidFill>
            <a:prstDash val="solid"/>
          </a:ln>
        </p:spPr>
      </p:sp>
      <p:sp>
        <p:nvSpPr>
          <p:cNvPr id="21" name="Text 19"/>
          <p:cNvSpPr txBox="1"/>
          <p:nvPr/>
        </p:nvSpPr>
        <p:spPr>
          <a:xfrm>
            <a:off x="6446520" y="37856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2" name="Text 20"/>
          <p:cNvSpPr txBox="1"/>
          <p:nvPr/>
        </p:nvSpPr>
        <p:spPr>
          <a:xfrm>
            <a:off x="6903720" y="3767328"/>
            <a:ext cx="4480560" cy="347472"/>
          </a:xfrm>
          <a:prstGeom prst="rect">
            <a:avLst/>
          </a:prstGeom>
          <a:noFill/>
          <a:ln/>
        </p:spPr>
        <p:txBody>
          <a:bodyPr wrap="square" lIns="0" tIns="0" rIns="0" bIns="0" rtlCol="0" anchor="ctr"/>
          <a:lstStyle/>
          <a:p>
            <a:pPr indent="0" marL="0">
              <a:buNone/>
            </a:pPr>
            <a:r>
              <a:rPr lang="en-US" sz="1500" b="1" dirty="0">
                <a:solidFill>
                  <a:srgbClr val="17222C"/>
                </a:solidFill>
                <a:latin typeface="Arial" pitchFamily="34" charset="0"/>
                <a:ea typeface="Arial" pitchFamily="34" charset="-122"/>
                <a:cs typeface="Arial" pitchFamily="34" charset="-120"/>
              </a:rPr>
              <a:t>Un cache incompatible</a:t>
            </a:r>
            <a:endParaRPr lang="en-US" sz="1500" dirty="0"/>
          </a:p>
        </p:txBody>
      </p:sp>
      <p:sp>
        <p:nvSpPr>
          <p:cNvPr id="23" name="Text 21"/>
          <p:cNvSpPr txBox="1"/>
          <p:nvPr/>
        </p:nvSpPr>
        <p:spPr>
          <a:xfrm>
            <a:off x="6446520" y="4261104"/>
            <a:ext cx="4892040" cy="914400"/>
          </a:xfrm>
          <a:prstGeom prst="rect">
            <a:avLst/>
          </a:prstGeom>
          <a:noFill/>
          <a:ln/>
        </p:spPr>
        <p:txBody>
          <a:bodyPr wrap="square" lIns="0" tIns="0" rIns="0" bIns="0" rtlCol="0" anchor="ctr"/>
          <a:lstStyle/>
          <a:p>
            <a:pPr indent="0" marL="0">
              <a:buNone/>
            </a:pPr>
            <a:r>
              <a:rPr lang="en-US" sz="1250" dirty="0">
                <a:solidFill>
                  <a:srgbClr val="5C6B7A"/>
                </a:solidFill>
                <a:latin typeface="Calibri" pitchFamily="34" charset="0"/>
                <a:ea typeface="Calibri" pitchFamily="34" charset="-122"/>
                <a:cs typeface="Calibri" pitchFamily="34" charset="-120"/>
              </a:rPr>
              <a:t>Sur un disque partagé, PrestaShop n'arrivait pas à vider son cache. On l'a remis sur le disque local du serveur.</a:t>
            </a:r>
            <a:endParaRPr lang="en-US" sz="1250" dirty="0"/>
          </a:p>
        </p:txBody>
      </p:sp>
      <p:sp>
        <p:nvSpPr>
          <p:cNvPr id="24" name="Text 22"/>
          <p:cNvSpPr txBox="1"/>
          <p:nvPr/>
        </p:nvSpPr>
        <p:spPr>
          <a:xfrm>
            <a:off x="566928" y="5623560"/>
            <a:ext cx="11055096" cy="365760"/>
          </a:xfrm>
          <a:prstGeom prst="rect">
            <a:avLst/>
          </a:prstGeom>
          <a:noFill/>
          <a:ln/>
        </p:spPr>
        <p:txBody>
          <a:bodyPr wrap="square" lIns="0" tIns="0" rIns="0" bIns="0" rtlCol="0" anchor="ctr"/>
          <a:lstStyle/>
          <a:p>
            <a:pPr indent="0" marL="0">
              <a:buNone/>
            </a:pPr>
            <a:r>
              <a:rPr lang="en-US" sz="1500" i="1" dirty="0">
                <a:solidFill>
                  <a:srgbClr val="9E5D06"/>
                </a:solidFill>
                <a:latin typeface="Calibri" pitchFamily="34" charset="0"/>
                <a:ea typeface="Calibri" pitchFamily="34" charset="-122"/>
                <a:cs typeface="Calibri" pitchFamily="34" charset="-120"/>
              </a:rPr>
              <a:t>Les quatre sont corrigés dans le dépôt : un déploiement depuis zéro ne les rencontre plus.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84048"/>
            <a:ext cx="11055096" cy="274320"/>
          </a:xfrm>
          <a:prstGeom prst="rect">
            <a:avLst/>
          </a:prstGeom>
          <a:noFill/>
          <a:ln/>
        </p:spPr>
        <p:txBody>
          <a:bodyPr wrap="square" lIns="0" tIns="0" rIns="0" bIns="0" rtlCol="0" anchor="ctr"/>
          <a:lstStyle/>
          <a:p>
            <a:pPr indent="0" marL="0">
              <a:buNone/>
            </a:pPr>
            <a:r>
              <a:rPr lang="en-US" sz="1100" spc="200" kern="0" dirty="0">
                <a:solidFill>
                  <a:srgbClr val="9E5D06"/>
                </a:solidFill>
                <a:latin typeface="Courier New" pitchFamily="34" charset="0"/>
                <a:ea typeface="Courier New" pitchFamily="34" charset="-122"/>
                <a:cs typeface="Courier New" pitchFamily="34" charset="-120"/>
              </a:rPr>
              <a:t>09 — CE QU'ON N'A PAS FAIT</a:t>
            </a:r>
            <a:endParaRPr lang="en-US" sz="1100" dirty="0"/>
          </a:p>
        </p:txBody>
      </p:sp>
      <p:sp>
        <p:nvSpPr>
          <p:cNvPr id="3" name="Text 1"/>
          <p:cNvSpPr txBox="1"/>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7222C"/>
                </a:solidFill>
                <a:latin typeface="Arial" pitchFamily="34" charset="0"/>
                <a:ea typeface="Arial" pitchFamily="34" charset="-122"/>
                <a:cs typeface="Arial" pitchFamily="34" charset="-120"/>
              </a:rPr>
              <a:t>Nos limites, et comment on les franchirait</a:t>
            </a:r>
            <a:endParaRPr lang="en-US" sz="3000" dirty="0"/>
          </a:p>
        </p:txBody>
      </p:sp>
      <p:sp>
        <p:nvSpPr>
          <p:cNvPr id="4" name="Shape 2"/>
          <p:cNvSpPr/>
          <p:nvPr/>
        </p:nvSpPr>
        <p:spPr>
          <a:xfrm>
            <a:off x="566928" y="1572768"/>
            <a:ext cx="5394960" cy="1828800"/>
          </a:xfrm>
          <a:prstGeom prst="roundRect">
            <a:avLst>
              <a:gd name="adj" fmla="val 3000"/>
            </a:avLst>
          </a:prstGeom>
          <a:solidFill>
            <a:srgbClr val="F2F5F7"/>
          </a:solidFill>
          <a:ln w="9525">
            <a:solidFill>
              <a:srgbClr val="D3DBE3"/>
            </a:solidFill>
            <a:prstDash val="solid"/>
          </a:ln>
        </p:spPr>
      </p:sp>
      <p:sp>
        <p:nvSpPr>
          <p:cNvPr id="5" name="Text 3"/>
          <p:cNvSpPr txBox="1"/>
          <p:nvPr/>
        </p:nvSpPr>
        <p:spPr>
          <a:xfrm>
            <a:off x="822960" y="1737360"/>
            <a:ext cx="4892040" cy="566928"/>
          </a:xfrm>
          <a:prstGeom prst="rect">
            <a:avLst/>
          </a:prstGeom>
          <a:noFill/>
          <a:ln/>
        </p:spPr>
        <p:txBody>
          <a:bodyPr wrap="square" lIns="0" tIns="0" rIns="0" bIns="0" rtlCol="0" anchor="ctr"/>
          <a:lstStyle/>
          <a:p>
            <a:pPr indent="0" marL="0">
              <a:buNone/>
            </a:pPr>
            <a:r>
              <a:rPr lang="en-US" sz="1400" b="1" dirty="0">
                <a:solidFill>
                  <a:srgbClr val="17222C"/>
                </a:solidFill>
                <a:latin typeface="Arial" pitchFamily="34" charset="0"/>
                <a:ea typeface="Arial" pitchFamily="34" charset="-122"/>
                <a:cs typeface="Arial" pitchFamily="34" charset="-120"/>
              </a:rPr>
              <a:t>Ajouter des serveurs demande quelqu'un</a:t>
            </a:r>
            <a:endParaRPr lang="en-US" sz="1400" dirty="0"/>
          </a:p>
        </p:txBody>
      </p:sp>
      <p:sp>
        <p:nvSpPr>
          <p:cNvPr id="6" name="Text 4"/>
          <p:cNvSpPr txBox="1"/>
          <p:nvPr/>
        </p:nvSpPr>
        <p:spPr>
          <a:xfrm>
            <a:off x="822960" y="2322576"/>
            <a:ext cx="4892040" cy="960120"/>
          </a:xfrm>
          <a:prstGeom prst="rect">
            <a:avLst/>
          </a:prstGeom>
          <a:noFill/>
          <a:ln/>
        </p:spPr>
        <p:txBody>
          <a:bodyPr wrap="square" lIns="0" tIns="0" rIns="0" bIns="0" rtlCol="0" anchor="ctr"/>
          <a:lstStyle/>
          <a:p>
            <a:pPr indent="0" marL="0">
              <a:buNone/>
            </a:pPr>
            <a:r>
              <a:rPr lang="en-US" sz="1150" dirty="0">
                <a:solidFill>
                  <a:srgbClr val="5C6B7A"/>
                </a:solidFill>
                <a:latin typeface="Calibri" pitchFamily="34" charset="0"/>
                <a:ea typeface="Calibri" pitchFamily="34" charset="-122"/>
                <a:cs typeface="Calibri" pitchFamily="34" charset="-120"/>
              </a:rPr>
              <a:t>Ce n'est pas automatique : il faut un opérateur et deux commandes, environ 3 minutes. Pour l'automatiser, il faudrait préparer une image toute faite du serveur. Notre installation est déjà écrite pour ça.</a:t>
            </a:r>
            <a:endParaRPr lang="en-US" sz="1150" dirty="0"/>
          </a:p>
        </p:txBody>
      </p:sp>
      <p:sp>
        <p:nvSpPr>
          <p:cNvPr id="7" name="Shape 5"/>
          <p:cNvSpPr/>
          <p:nvPr/>
        </p:nvSpPr>
        <p:spPr>
          <a:xfrm>
            <a:off x="6190488" y="1572768"/>
            <a:ext cx="5394960" cy="1828800"/>
          </a:xfrm>
          <a:prstGeom prst="roundRect">
            <a:avLst>
              <a:gd name="adj" fmla="val 3000"/>
            </a:avLst>
          </a:prstGeom>
          <a:solidFill>
            <a:srgbClr val="F2F5F7"/>
          </a:solidFill>
          <a:ln w="9525">
            <a:solidFill>
              <a:srgbClr val="D3DBE3"/>
            </a:solidFill>
            <a:prstDash val="solid"/>
          </a:ln>
        </p:spPr>
      </p:sp>
      <p:sp>
        <p:nvSpPr>
          <p:cNvPr id="8" name="Text 6"/>
          <p:cNvSpPr txBox="1"/>
          <p:nvPr/>
        </p:nvSpPr>
        <p:spPr>
          <a:xfrm>
            <a:off x="6446520" y="1737360"/>
            <a:ext cx="4892040" cy="566928"/>
          </a:xfrm>
          <a:prstGeom prst="rect">
            <a:avLst/>
          </a:prstGeom>
          <a:noFill/>
          <a:ln/>
        </p:spPr>
        <p:txBody>
          <a:bodyPr wrap="square" lIns="0" tIns="0" rIns="0" bIns="0" rtlCol="0" anchor="ctr"/>
          <a:lstStyle/>
          <a:p>
            <a:pPr indent="0" marL="0">
              <a:buNone/>
            </a:pPr>
            <a:r>
              <a:rPr lang="en-US" sz="1400" b="1" dirty="0">
                <a:solidFill>
                  <a:srgbClr val="17222C"/>
                </a:solidFill>
                <a:latin typeface="Arial" pitchFamily="34" charset="0"/>
                <a:ea typeface="Arial" pitchFamily="34" charset="-122"/>
                <a:cs typeface="Arial" pitchFamily="34" charset="-120"/>
              </a:rPr>
              <a:t>Tout le site est sur le disque partagé</a:t>
            </a:r>
            <a:endParaRPr lang="en-US" sz="1400" dirty="0"/>
          </a:p>
        </p:txBody>
      </p:sp>
      <p:sp>
        <p:nvSpPr>
          <p:cNvPr id="9" name="Text 7"/>
          <p:cNvSpPr txBox="1"/>
          <p:nvPr/>
        </p:nvSpPr>
        <p:spPr>
          <a:xfrm>
            <a:off x="6446520" y="2322576"/>
            <a:ext cx="4892040" cy="960120"/>
          </a:xfrm>
          <a:prstGeom prst="rect">
            <a:avLst/>
          </a:prstGeom>
          <a:noFill/>
          <a:ln/>
        </p:spPr>
        <p:txBody>
          <a:bodyPr wrap="square" lIns="0" tIns="0" rIns="0" bIns="0" rtlCol="0" anchor="ctr"/>
          <a:lstStyle/>
          <a:p>
            <a:pPr indent="0" marL="0">
              <a:buNone/>
            </a:pPr>
            <a:r>
              <a:rPr lang="en-US" sz="1150" dirty="0">
                <a:solidFill>
                  <a:srgbClr val="5C6B7A"/>
                </a:solidFill>
                <a:latin typeface="Calibri" pitchFamily="34" charset="0"/>
                <a:ea typeface="Calibri" pitchFamily="34" charset="-122"/>
                <a:cs typeface="Calibri" pitchFamily="34" charset="-120"/>
              </a:rPr>
              <a:t>C'est pratique — les serveurs sont interchangeables — mais un disque réseau est plus lent qu'un disque local. Au-delà de quelques milliers de visiteurs par minute, il faudrait mettre le site dans l'image et ne partager que les photos.</a:t>
            </a:r>
            <a:endParaRPr lang="en-US" sz="1150" dirty="0"/>
          </a:p>
        </p:txBody>
      </p:sp>
      <p:sp>
        <p:nvSpPr>
          <p:cNvPr id="10" name="Shape 8"/>
          <p:cNvSpPr/>
          <p:nvPr/>
        </p:nvSpPr>
        <p:spPr>
          <a:xfrm>
            <a:off x="566928" y="3584448"/>
            <a:ext cx="5394960" cy="1828800"/>
          </a:xfrm>
          <a:prstGeom prst="roundRect">
            <a:avLst>
              <a:gd name="adj" fmla="val 3000"/>
            </a:avLst>
          </a:prstGeom>
          <a:solidFill>
            <a:srgbClr val="F2F5F7"/>
          </a:solidFill>
          <a:ln w="9525">
            <a:solidFill>
              <a:srgbClr val="D3DBE3"/>
            </a:solidFill>
            <a:prstDash val="solid"/>
          </a:ln>
        </p:spPr>
      </p:sp>
      <p:sp>
        <p:nvSpPr>
          <p:cNvPr id="11" name="Text 9"/>
          <p:cNvSpPr txBox="1"/>
          <p:nvPr/>
        </p:nvSpPr>
        <p:spPr>
          <a:xfrm>
            <a:off x="822960" y="3749040"/>
            <a:ext cx="4892040" cy="566928"/>
          </a:xfrm>
          <a:prstGeom prst="rect">
            <a:avLst/>
          </a:prstGeom>
          <a:noFill/>
          <a:ln/>
        </p:spPr>
        <p:txBody>
          <a:bodyPr wrap="square" lIns="0" tIns="0" rIns="0" bIns="0" rtlCol="0" anchor="ctr"/>
          <a:lstStyle/>
          <a:p>
            <a:pPr indent="0" marL="0">
              <a:buNone/>
            </a:pPr>
            <a:r>
              <a:rPr lang="en-US" sz="1400" b="1" dirty="0">
                <a:solidFill>
                  <a:srgbClr val="17222C"/>
                </a:solidFill>
                <a:latin typeface="Arial" pitchFamily="34" charset="0"/>
                <a:ea typeface="Arial" pitchFamily="34" charset="-122"/>
                <a:cs typeface="Arial" pitchFamily="34" charset="-120"/>
              </a:rPr>
              <a:t>Une seule base pour écrire</a:t>
            </a:r>
            <a:endParaRPr lang="en-US" sz="1400" dirty="0"/>
          </a:p>
        </p:txBody>
      </p:sp>
      <p:sp>
        <p:nvSpPr>
          <p:cNvPr id="12" name="Text 10"/>
          <p:cNvSpPr txBox="1"/>
          <p:nvPr/>
        </p:nvSpPr>
        <p:spPr>
          <a:xfrm>
            <a:off x="822960" y="4334256"/>
            <a:ext cx="4892040" cy="960120"/>
          </a:xfrm>
          <a:prstGeom prst="rect">
            <a:avLst/>
          </a:prstGeom>
          <a:noFill/>
          <a:ln/>
        </p:spPr>
        <p:txBody>
          <a:bodyPr wrap="square" lIns="0" tIns="0" rIns="0" bIns="0" rtlCol="0" anchor="ctr"/>
          <a:lstStyle/>
          <a:p>
            <a:pPr indent="0" marL="0">
              <a:buNone/>
            </a:pPr>
            <a:r>
              <a:rPr lang="en-US" sz="1150" dirty="0">
                <a:solidFill>
                  <a:srgbClr val="5C6B7A"/>
                </a:solidFill>
                <a:latin typeface="Calibri" pitchFamily="34" charset="0"/>
                <a:ea typeface="Calibri" pitchFamily="34" charset="-122"/>
                <a:cs typeface="Calibri" pitchFamily="34" charset="-120"/>
              </a:rPr>
              <a:t>On peut ajouter des copies pour la lecture, mais pas pour l'écriture. Et une billetterie, ça écrit beaucoup. C'est la taille de cette base qui est notre vrai plafond.</a:t>
            </a:r>
            <a:endParaRPr lang="en-US" sz="1150" dirty="0"/>
          </a:p>
        </p:txBody>
      </p:sp>
      <p:sp>
        <p:nvSpPr>
          <p:cNvPr id="13" name="Shape 11"/>
          <p:cNvSpPr/>
          <p:nvPr/>
        </p:nvSpPr>
        <p:spPr>
          <a:xfrm>
            <a:off x="6190488" y="3584448"/>
            <a:ext cx="5394960" cy="1828800"/>
          </a:xfrm>
          <a:prstGeom prst="roundRect">
            <a:avLst>
              <a:gd name="adj" fmla="val 3000"/>
            </a:avLst>
          </a:prstGeom>
          <a:solidFill>
            <a:srgbClr val="F2F5F7"/>
          </a:solidFill>
          <a:ln w="9525">
            <a:solidFill>
              <a:srgbClr val="D3DBE3"/>
            </a:solidFill>
            <a:prstDash val="solid"/>
          </a:ln>
        </p:spPr>
      </p:sp>
      <p:sp>
        <p:nvSpPr>
          <p:cNvPr id="14" name="Text 12"/>
          <p:cNvSpPr txBox="1"/>
          <p:nvPr/>
        </p:nvSpPr>
        <p:spPr>
          <a:xfrm>
            <a:off x="6446520" y="3749040"/>
            <a:ext cx="4892040" cy="566928"/>
          </a:xfrm>
          <a:prstGeom prst="rect">
            <a:avLst/>
          </a:prstGeom>
          <a:noFill/>
          <a:ln/>
        </p:spPr>
        <p:txBody>
          <a:bodyPr wrap="square" lIns="0" tIns="0" rIns="0" bIns="0" rtlCol="0" anchor="ctr"/>
          <a:lstStyle/>
          <a:p>
            <a:pPr indent="0" marL="0">
              <a:buNone/>
            </a:pPr>
            <a:r>
              <a:rPr lang="en-US" sz="1400" b="1" dirty="0">
                <a:solidFill>
                  <a:srgbClr val="17222C"/>
                </a:solidFill>
                <a:latin typeface="Arial" pitchFamily="34" charset="0"/>
                <a:ea typeface="Arial" pitchFamily="34" charset="-122"/>
                <a:cs typeface="Arial" pitchFamily="34" charset="-120"/>
              </a:rPr>
              <a:t>Une seule région</a:t>
            </a:r>
            <a:endParaRPr lang="en-US" sz="1400" dirty="0"/>
          </a:p>
        </p:txBody>
      </p:sp>
      <p:sp>
        <p:nvSpPr>
          <p:cNvPr id="15" name="Text 13"/>
          <p:cNvSpPr txBox="1"/>
          <p:nvPr/>
        </p:nvSpPr>
        <p:spPr>
          <a:xfrm>
            <a:off x="6446520" y="4334256"/>
            <a:ext cx="4892040" cy="960120"/>
          </a:xfrm>
          <a:prstGeom prst="rect">
            <a:avLst/>
          </a:prstGeom>
          <a:noFill/>
          <a:ln/>
        </p:spPr>
        <p:txBody>
          <a:bodyPr wrap="square" lIns="0" tIns="0" rIns="0" bIns="0" rtlCol="0" anchor="ctr"/>
          <a:lstStyle/>
          <a:p>
            <a:pPr indent="0" marL="0">
              <a:buNone/>
            </a:pPr>
            <a:r>
              <a:rPr lang="en-US" sz="1150" dirty="0">
                <a:solidFill>
                  <a:srgbClr val="5C6B7A"/>
                </a:solidFill>
                <a:latin typeface="Calibri" pitchFamily="34" charset="0"/>
                <a:ea typeface="Calibri" pitchFamily="34" charset="-122"/>
                <a:cs typeface="Calibri" pitchFamily="34" charset="-120"/>
              </a:rPr>
              <a:t>Si toute la région Paris tombe, la boutique tombe. Doubler dans une autre région coûterait plus cher que la panne qu'on évite. C'est un choix, pas un oubli.</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384048"/>
            <a:ext cx="11055096" cy="274320"/>
          </a:xfrm>
          <a:prstGeom prst="rect">
            <a:avLst/>
          </a:prstGeom>
          <a:noFill/>
          <a:ln/>
        </p:spPr>
        <p:txBody>
          <a:bodyPr wrap="square" lIns="0" tIns="0" rIns="0" bIns="0" rtlCol="0" anchor="ctr"/>
          <a:lstStyle/>
          <a:p>
            <a:pPr indent="0" marL="0">
              <a:buNone/>
            </a:pPr>
            <a:r>
              <a:rPr lang="en-US" sz="1100" spc="200" kern="0" dirty="0">
                <a:solidFill>
                  <a:srgbClr val="9E5D06"/>
                </a:solidFill>
                <a:latin typeface="Courier New" pitchFamily="34" charset="0"/>
                <a:ea typeface="Courier New" pitchFamily="34" charset="-122"/>
                <a:cs typeface="Courier New" pitchFamily="34" charset="-120"/>
              </a:rPr>
              <a:t>10 — DÉMONSTRATION</a:t>
            </a:r>
            <a:endParaRPr lang="en-US" sz="1100" dirty="0"/>
          </a:p>
        </p:txBody>
      </p:sp>
      <p:sp>
        <p:nvSpPr>
          <p:cNvPr id="3" name="Text 1"/>
          <p:cNvSpPr txBox="1"/>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7222C"/>
                </a:solidFill>
                <a:latin typeface="Arial" pitchFamily="34" charset="0"/>
                <a:ea typeface="Arial" pitchFamily="34" charset="-122"/>
                <a:cs typeface="Arial" pitchFamily="34" charset="-120"/>
              </a:rPr>
              <a:t>D'un compte AWS vide à une boutique en ligne</a:t>
            </a:r>
            <a:endParaRPr lang="en-US" sz="3000" dirty="0"/>
          </a:p>
        </p:txBody>
      </p:sp>
      <p:sp>
        <p:nvSpPr>
          <p:cNvPr id="4" name="Shape 2"/>
          <p:cNvSpPr/>
          <p:nvPr/>
        </p:nvSpPr>
        <p:spPr>
          <a:xfrm>
            <a:off x="566928" y="1600200"/>
            <a:ext cx="6675120" cy="2651760"/>
          </a:xfrm>
          <a:prstGeom prst="roundRect">
            <a:avLst>
              <a:gd name="adj" fmla="val 1379"/>
            </a:avLst>
          </a:prstGeom>
          <a:solidFill>
            <a:srgbClr val="1B2732"/>
          </a:solidFill>
          <a:ln w="9525">
            <a:solidFill>
              <a:srgbClr val="1B2732"/>
            </a:solidFill>
            <a:prstDash val="solid"/>
          </a:ln>
        </p:spPr>
      </p:sp>
      <p:sp>
        <p:nvSpPr>
          <p:cNvPr id="5" name="Text 3"/>
          <p:cNvSpPr txBox="1"/>
          <p:nvPr/>
        </p:nvSpPr>
        <p:spPr>
          <a:xfrm>
            <a:off x="731520" y="1709928"/>
            <a:ext cx="6345936" cy="2432304"/>
          </a:xfrm>
          <a:prstGeom prst="rect">
            <a:avLst/>
          </a:prstGeom>
          <a:noFill/>
          <a:ln/>
        </p:spPr>
        <p:txBody>
          <a:bodyPr wrap="square" lIns="0" tIns="0" rIns="0" bIns="0" rtlCol="0" anchor="ctr"/>
          <a:lstStyle/>
          <a:p>
            <a:pPr indent="0" marL="0">
              <a:lnSpc>
                <a:spcPts val="1725"/>
              </a:lnSpc>
              <a:buNone/>
            </a:pPr>
            <a:r>
              <a:rPr lang="en-US" sz="1150" dirty="0">
                <a:solidFill>
                  <a:srgbClr val="C9D6E2"/>
                </a:solidFill>
                <a:latin typeface="Courier New" pitchFamily="34" charset="0"/>
                <a:ea typeface="Courier New" pitchFamily="34" charset="-122"/>
                <a:cs typeface="Courier New" pitchFamily="34" charset="-120"/>
              </a:rPr>
              <a:t>./scripts/bootstrap-backend.sh dev     # une seule fois par compte</a:t>
            </a:r>
            <a:endParaRPr lang="en-US" sz="1150" dirty="0"/>
          </a:p>
          <a:p>
            <a:pPr indent="0" marL="0">
              <a:lnSpc>
                <a:spcPts val="1725"/>
              </a:lnSpc>
              <a:buNone/>
            </a:pPr>
            <a:endParaRPr lang="en-US" sz="1150" dirty="0"/>
          </a:p>
          <a:p>
            <a:pPr indent="0" marL="0">
              <a:lnSpc>
                <a:spcPts val="1725"/>
              </a:lnSpc>
              <a:buNone/>
            </a:pPr>
            <a:r>
              <a:rPr lang="en-US" sz="1150" dirty="0">
                <a:solidFill>
                  <a:srgbClr val="C9D6E2"/>
                </a:solidFill>
                <a:latin typeface="Courier New" pitchFamily="34" charset="0"/>
                <a:ea typeface="Courier New" pitchFamily="34" charset="-122"/>
                <a:cs typeface="Courier New" pitchFamily="34" charset="-120"/>
              </a:rPr>
              <a:t>terraform -chdir=terraform init</a:t>
            </a:r>
            <a:endParaRPr lang="en-US" sz="1150" dirty="0"/>
          </a:p>
          <a:p>
            <a:pPr indent="0" marL="0">
              <a:lnSpc>
                <a:spcPts val="1725"/>
              </a:lnSpc>
              <a:buNone/>
            </a:pPr>
            <a:r>
              <a:rPr lang="en-US" sz="1150" dirty="0">
                <a:solidFill>
                  <a:srgbClr val="C9D6E2"/>
                </a:solidFill>
                <a:latin typeface="Courier New" pitchFamily="34" charset="0"/>
                <a:ea typeface="Courier New" pitchFamily="34" charset="-122"/>
                <a:cs typeface="Courier New" pitchFamily="34" charset="-120"/>
              </a:rPr>
              <a:t>terraform -chdir=terraform apply       # ~12 min (la base est lente)</a:t>
            </a:r>
            <a:endParaRPr lang="en-US" sz="1150" dirty="0"/>
          </a:p>
          <a:p>
            <a:pPr indent="0" marL="0">
              <a:lnSpc>
                <a:spcPts val="1725"/>
              </a:lnSpc>
              <a:buNone/>
            </a:pPr>
            <a:endParaRPr lang="en-US" sz="1150" dirty="0"/>
          </a:p>
          <a:p>
            <a:pPr indent="0" marL="0">
              <a:lnSpc>
                <a:spcPts val="1725"/>
              </a:lnSpc>
              <a:buNone/>
            </a:pPr>
            <a:r>
              <a:rPr lang="en-US" sz="1150" dirty="0">
                <a:solidFill>
                  <a:srgbClr val="C9D6E2"/>
                </a:solidFill>
                <a:latin typeface="Courier New" pitchFamily="34" charset="0"/>
                <a:ea typeface="Courier New" pitchFamily="34" charset="-122"/>
                <a:cs typeface="Courier New" pitchFamily="34" charset="-120"/>
              </a:rPr>
              <a:t>ansible-galaxy install -r ansible/requirements.yml</a:t>
            </a:r>
            <a:endParaRPr lang="en-US" sz="1150" dirty="0"/>
          </a:p>
          <a:p>
            <a:pPr indent="0" marL="0">
              <a:lnSpc>
                <a:spcPts val="1725"/>
              </a:lnSpc>
              <a:buNone/>
            </a:pPr>
            <a:r>
              <a:rPr lang="en-US" sz="1150" dirty="0">
                <a:solidFill>
                  <a:srgbClr val="C9D6E2"/>
                </a:solidFill>
                <a:latin typeface="Courier New" pitchFamily="34" charset="0"/>
                <a:ea typeface="Courier New" pitchFamily="34" charset="-122"/>
                <a:cs typeface="Courier New" pitchFamily="34" charset="-120"/>
              </a:rPr>
              <a:t>ansible-inventory -i ansible/inventory.yml --graph</a:t>
            </a:r>
            <a:endParaRPr lang="en-US" sz="1150" dirty="0"/>
          </a:p>
          <a:p>
            <a:pPr indent="0" marL="0">
              <a:lnSpc>
                <a:spcPts val="1725"/>
              </a:lnSpc>
              <a:buNone/>
            </a:pPr>
            <a:r>
              <a:rPr lang="en-US" sz="1150" dirty="0">
                <a:solidFill>
                  <a:srgbClr val="C9D6E2"/>
                </a:solidFill>
                <a:latin typeface="Courier New" pitchFamily="34" charset="0"/>
                <a:ea typeface="Courier New" pitchFamily="34" charset="-122"/>
                <a:cs typeface="Courier New" pitchFamily="34" charset="-120"/>
              </a:rPr>
              <a:t>ansible-playbook  -i ansible/inventory.yml ansible/site.yml --ask-vault-pass</a:t>
            </a:r>
            <a:endParaRPr lang="en-US" sz="1150" dirty="0"/>
          </a:p>
        </p:txBody>
      </p:sp>
      <p:sp>
        <p:nvSpPr>
          <p:cNvPr id="6" name="Shape 4"/>
          <p:cNvSpPr/>
          <p:nvPr/>
        </p:nvSpPr>
        <p:spPr>
          <a:xfrm>
            <a:off x="7498080" y="1691640"/>
            <a:ext cx="310896" cy="310896"/>
          </a:xfrm>
          <a:prstGeom prst="ellipse">
            <a:avLst/>
          </a:prstGeom>
          <a:solidFill>
            <a:srgbClr val="E08B1F"/>
          </a:solidFill>
          <a:ln w="12700">
            <a:solidFill>
              <a:srgbClr val="E08B1F"/>
            </a:solidFill>
            <a:prstDash val="solid"/>
          </a:ln>
        </p:spPr>
      </p:sp>
      <p:sp>
        <p:nvSpPr>
          <p:cNvPr id="7" name="Text 5"/>
          <p:cNvSpPr txBox="1"/>
          <p:nvPr/>
        </p:nvSpPr>
        <p:spPr>
          <a:xfrm>
            <a:off x="7498080" y="16916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8" name="Text 6"/>
          <p:cNvSpPr txBox="1"/>
          <p:nvPr/>
        </p:nvSpPr>
        <p:spPr>
          <a:xfrm>
            <a:off x="7973568" y="1673352"/>
            <a:ext cx="3749040" cy="411480"/>
          </a:xfrm>
          <a:prstGeom prst="rect">
            <a:avLst/>
          </a:prstGeom>
          <a:noFill/>
          <a:ln/>
        </p:spPr>
        <p:txBody>
          <a:bodyPr wrap="square" lIns="0" tIns="0" rIns="0" bIns="0" rtlCol="0" anchor="ctr"/>
          <a:lstStyle/>
          <a:p>
            <a:pPr indent="0" marL="0">
              <a:buNone/>
            </a:pPr>
            <a:r>
              <a:rPr lang="en-US" sz="1350" dirty="0">
                <a:solidFill>
                  <a:srgbClr val="17222C"/>
                </a:solidFill>
                <a:latin typeface="Calibri" pitchFamily="34" charset="0"/>
                <a:ea typeface="Calibri" pitchFamily="34" charset="-122"/>
                <a:cs typeface="Calibri" pitchFamily="34" charset="-120"/>
              </a:rPr>
              <a:t>La boutique, puis l'administration</a:t>
            </a:r>
            <a:endParaRPr lang="en-US" sz="1350" dirty="0"/>
          </a:p>
        </p:txBody>
      </p:sp>
      <p:sp>
        <p:nvSpPr>
          <p:cNvPr id="9" name="Shape 7"/>
          <p:cNvSpPr/>
          <p:nvPr/>
        </p:nvSpPr>
        <p:spPr>
          <a:xfrm>
            <a:off x="7498080" y="2404872"/>
            <a:ext cx="310896" cy="310896"/>
          </a:xfrm>
          <a:prstGeom prst="ellipse">
            <a:avLst/>
          </a:prstGeom>
          <a:solidFill>
            <a:srgbClr val="E08B1F"/>
          </a:solidFill>
          <a:ln w="12700">
            <a:solidFill>
              <a:srgbClr val="E08B1F"/>
            </a:solidFill>
            <a:prstDash val="solid"/>
          </a:ln>
        </p:spPr>
      </p:sp>
      <p:sp>
        <p:nvSpPr>
          <p:cNvPr id="10" name="Text 8"/>
          <p:cNvSpPr txBox="1"/>
          <p:nvPr/>
        </p:nvSpPr>
        <p:spPr>
          <a:xfrm>
            <a:off x="7498080" y="24048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1" name="Text 9"/>
          <p:cNvSpPr txBox="1"/>
          <p:nvPr/>
        </p:nvSpPr>
        <p:spPr>
          <a:xfrm>
            <a:off x="7973568" y="2386584"/>
            <a:ext cx="3749040" cy="411480"/>
          </a:xfrm>
          <a:prstGeom prst="rect">
            <a:avLst/>
          </a:prstGeom>
          <a:noFill/>
          <a:ln/>
        </p:spPr>
        <p:txBody>
          <a:bodyPr wrap="square" lIns="0" tIns="0" rIns="0" bIns="0" rtlCol="0" anchor="ctr"/>
          <a:lstStyle/>
          <a:p>
            <a:pPr indent="0" marL="0">
              <a:buNone/>
            </a:pPr>
            <a:r>
              <a:rPr lang="en-US" sz="1350" dirty="0">
                <a:solidFill>
                  <a:srgbClr val="17222C"/>
                </a:solidFill>
                <a:latin typeface="Calibri" pitchFamily="34" charset="0"/>
                <a:ea typeface="Calibri" pitchFamily="34" charset="-122"/>
                <a:cs typeface="Calibri" pitchFamily="34" charset="-120"/>
              </a:rPr>
              <a:t>On relance l'installation : changed=0</a:t>
            </a:r>
            <a:endParaRPr lang="en-US" sz="1350" dirty="0"/>
          </a:p>
        </p:txBody>
      </p:sp>
      <p:sp>
        <p:nvSpPr>
          <p:cNvPr id="12" name="Shape 10"/>
          <p:cNvSpPr/>
          <p:nvPr/>
        </p:nvSpPr>
        <p:spPr>
          <a:xfrm>
            <a:off x="7498080" y="3118104"/>
            <a:ext cx="310896" cy="310896"/>
          </a:xfrm>
          <a:prstGeom prst="ellipse">
            <a:avLst/>
          </a:prstGeom>
          <a:solidFill>
            <a:srgbClr val="E08B1F"/>
          </a:solidFill>
          <a:ln w="12700">
            <a:solidFill>
              <a:srgbClr val="E08B1F"/>
            </a:solidFill>
            <a:prstDash val="solid"/>
          </a:ln>
        </p:spPr>
      </p:sp>
      <p:sp>
        <p:nvSpPr>
          <p:cNvPr id="13" name="Text 11"/>
          <p:cNvSpPr txBox="1"/>
          <p:nvPr/>
        </p:nvSpPr>
        <p:spPr>
          <a:xfrm>
            <a:off x="7498080" y="311810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4" name="Text 12"/>
          <p:cNvSpPr txBox="1"/>
          <p:nvPr/>
        </p:nvSpPr>
        <p:spPr>
          <a:xfrm>
            <a:off x="7973568" y="3099816"/>
            <a:ext cx="3749040" cy="411480"/>
          </a:xfrm>
          <a:prstGeom prst="rect">
            <a:avLst/>
          </a:prstGeom>
          <a:noFill/>
          <a:ln/>
        </p:spPr>
        <p:txBody>
          <a:bodyPr wrap="square" lIns="0" tIns="0" rIns="0" bIns="0" rtlCol="0" anchor="ctr"/>
          <a:lstStyle/>
          <a:p>
            <a:pPr indent="0" marL="0">
              <a:buNone/>
            </a:pPr>
            <a:r>
              <a:rPr lang="en-US" sz="1350" dirty="0">
                <a:solidFill>
                  <a:srgbClr val="17222C"/>
                </a:solidFill>
                <a:latin typeface="Calibri" pitchFamily="34" charset="0"/>
                <a:ea typeface="Calibri" pitchFamily="34" charset="-122"/>
                <a:cs typeface="Calibri" pitchFamily="34" charset="-120"/>
              </a:rPr>
              <a:t>On ajoute un serveur, il entre tout seul</a:t>
            </a:r>
            <a:endParaRPr lang="en-US" sz="1350" dirty="0"/>
          </a:p>
        </p:txBody>
      </p:sp>
      <p:sp>
        <p:nvSpPr>
          <p:cNvPr id="15" name="Shape 13"/>
          <p:cNvSpPr/>
          <p:nvPr/>
        </p:nvSpPr>
        <p:spPr>
          <a:xfrm>
            <a:off x="7498080" y="3831336"/>
            <a:ext cx="310896" cy="310896"/>
          </a:xfrm>
          <a:prstGeom prst="ellipse">
            <a:avLst/>
          </a:prstGeom>
          <a:solidFill>
            <a:srgbClr val="E08B1F"/>
          </a:solidFill>
          <a:ln w="12700">
            <a:solidFill>
              <a:srgbClr val="E08B1F"/>
            </a:solidFill>
            <a:prstDash val="solid"/>
          </a:ln>
        </p:spPr>
      </p:sp>
      <p:sp>
        <p:nvSpPr>
          <p:cNvPr id="16" name="Text 14"/>
          <p:cNvSpPr txBox="1"/>
          <p:nvPr/>
        </p:nvSpPr>
        <p:spPr>
          <a:xfrm>
            <a:off x="7498080" y="383133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17" name="Text 15"/>
          <p:cNvSpPr txBox="1"/>
          <p:nvPr/>
        </p:nvSpPr>
        <p:spPr>
          <a:xfrm>
            <a:off x="7973568" y="3813048"/>
            <a:ext cx="3749040" cy="411480"/>
          </a:xfrm>
          <a:prstGeom prst="rect">
            <a:avLst/>
          </a:prstGeom>
          <a:noFill/>
          <a:ln/>
        </p:spPr>
        <p:txBody>
          <a:bodyPr wrap="square" lIns="0" tIns="0" rIns="0" bIns="0" rtlCol="0" anchor="ctr"/>
          <a:lstStyle/>
          <a:p>
            <a:pPr indent="0" marL="0">
              <a:buNone/>
            </a:pPr>
            <a:r>
              <a:rPr lang="en-US" sz="1350" dirty="0">
                <a:solidFill>
                  <a:srgbClr val="17222C"/>
                </a:solidFill>
                <a:latin typeface="Calibri" pitchFamily="34" charset="0"/>
                <a:ea typeface="Calibri" pitchFamily="34" charset="-122"/>
                <a:cs typeface="Calibri" pitchFamily="34" charset="-120"/>
              </a:rPr>
              <a:t>On en coupe un : la boutique tient</a:t>
            </a:r>
            <a:endParaRPr lang="en-US" sz="1350" dirty="0"/>
          </a:p>
        </p:txBody>
      </p:sp>
      <p:sp>
        <p:nvSpPr>
          <p:cNvPr id="18" name="Shape 16"/>
          <p:cNvSpPr/>
          <p:nvPr/>
        </p:nvSpPr>
        <p:spPr>
          <a:xfrm>
            <a:off x="566928" y="4526280"/>
            <a:ext cx="6675120" cy="777240"/>
          </a:xfrm>
          <a:prstGeom prst="roundRect">
            <a:avLst>
              <a:gd name="adj" fmla="val 5882"/>
            </a:avLst>
          </a:prstGeom>
          <a:solidFill>
            <a:srgbClr val="F2F5F7"/>
          </a:solidFill>
          <a:ln w="9525">
            <a:solidFill>
              <a:srgbClr val="D3DBE3"/>
            </a:solidFill>
            <a:prstDash val="solid"/>
          </a:ln>
        </p:spPr>
      </p:sp>
      <p:sp>
        <p:nvSpPr>
          <p:cNvPr id="19" name="Text 17"/>
          <p:cNvSpPr txBox="1"/>
          <p:nvPr/>
        </p:nvSpPr>
        <p:spPr>
          <a:xfrm>
            <a:off x="795528" y="4663440"/>
            <a:ext cx="6217920" cy="548640"/>
          </a:xfrm>
          <a:prstGeom prst="rect">
            <a:avLst/>
          </a:prstGeom>
          <a:noFill/>
          <a:ln/>
        </p:spPr>
        <p:txBody>
          <a:bodyPr wrap="square" lIns="0" tIns="0" rIns="0" bIns="0" rtlCol="0" anchor="ctr"/>
          <a:lstStyle/>
          <a:p>
            <a:pPr indent="0" marL="0">
              <a:buNone/>
            </a:pPr>
            <a:r>
              <a:rPr lang="en-US" sz="1250" dirty="0">
                <a:solidFill>
                  <a:srgbClr val="5C6B7A"/>
                </a:solidFill>
                <a:latin typeface="Calibri" pitchFamily="34" charset="0"/>
                <a:ea typeface="Calibri" pitchFamily="34" charset="-122"/>
                <a:cs typeface="Calibri" pitchFamily="34" charset="-120"/>
              </a:rPr>
              <a:t>Tout le reste — réseau, base, disque, surveillance, mots de passe — découle de ces six commandes.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0"/>
        </a:solidFill>
      </p:bgPr>
    </p:bg>
    <p:spTree>
      <p:nvGrpSpPr>
        <p:cNvPr id="1" name=""/>
        <p:cNvGrpSpPr/>
        <p:nvPr/>
      </p:nvGrpSpPr>
      <p:grpSpPr>
        <a:xfrm>
          <a:off x="0" y="0"/>
          <a:ext cx="0" cy="0"/>
          <a:chOff x="0" y="0"/>
          <a:chExt cx="0" cy="0"/>
        </a:xfrm>
      </p:grpSpPr>
      <p:sp>
        <p:nvSpPr>
          <p:cNvPr id="2" name="Shape 0"/>
          <p:cNvSpPr/>
          <p:nvPr/>
        </p:nvSpPr>
        <p:spPr>
          <a:xfrm>
            <a:off x="566928" y="1572768"/>
            <a:ext cx="146304" cy="146304"/>
          </a:xfrm>
          <a:prstGeom prst="ellipse">
            <a:avLst/>
          </a:prstGeom>
          <a:solidFill>
            <a:srgbClr val="E08B1F"/>
          </a:solidFill>
          <a:ln w="12700">
            <a:solidFill>
              <a:srgbClr val="E08B1F"/>
            </a:solidFill>
            <a:prstDash val="solid"/>
          </a:ln>
        </p:spPr>
      </p:sp>
      <p:sp>
        <p:nvSpPr>
          <p:cNvPr id="3" name="Text 1"/>
          <p:cNvSpPr txBox="1"/>
          <p:nvPr/>
        </p:nvSpPr>
        <p:spPr>
          <a:xfrm>
            <a:off x="841248" y="1508760"/>
            <a:ext cx="11055096" cy="274320"/>
          </a:xfrm>
          <a:prstGeom prst="rect">
            <a:avLst/>
          </a:prstGeom>
          <a:noFill/>
          <a:ln/>
        </p:spPr>
        <p:txBody>
          <a:bodyPr wrap="square" lIns="0" tIns="0" rIns="0" bIns="0" rtlCol="0" anchor="ctr"/>
          <a:lstStyle/>
          <a:p>
            <a:pPr indent="0" marL="0">
              <a:buNone/>
            </a:pPr>
            <a:r>
              <a:rPr lang="en-US" sz="1200" spc="200" kern="0" dirty="0">
                <a:solidFill>
                  <a:srgbClr val="E08B1F"/>
                </a:solidFill>
                <a:latin typeface="Courier New" pitchFamily="34" charset="0"/>
                <a:ea typeface="Courier New" pitchFamily="34" charset="-122"/>
                <a:cs typeface="Courier New" pitchFamily="34" charset="-120"/>
              </a:rPr>
              <a:t>MERCI — VOS QUESTIONS</a:t>
            </a:r>
            <a:endParaRPr lang="en-US" sz="1200" dirty="0"/>
          </a:p>
        </p:txBody>
      </p:sp>
      <p:sp>
        <p:nvSpPr>
          <p:cNvPr id="4" name="Text 2"/>
          <p:cNvSpPr txBox="1"/>
          <p:nvPr/>
        </p:nvSpPr>
        <p:spPr>
          <a:xfrm>
            <a:off x="566928" y="1965960"/>
            <a:ext cx="10058400" cy="1554480"/>
          </a:xfrm>
          <a:prstGeom prst="rect">
            <a:avLst/>
          </a:prstGeom>
          <a:noFill/>
          <a:ln/>
        </p:spPr>
        <p:txBody>
          <a:bodyPr wrap="square" lIns="0" tIns="0" rIns="0" bIns="0" rtlCol="0" anchor="ctr"/>
          <a:lstStyle/>
          <a:p>
            <a:pPr indent="0" marL="0">
              <a:lnSpc>
                <a:spcPts val="4600"/>
              </a:lnSpc>
              <a:buNone/>
            </a:pPr>
            <a:r>
              <a:rPr lang="en-US" sz="4200" b="1" dirty="0">
                <a:solidFill>
                  <a:srgbClr val="FFFFFF"/>
                </a:solidFill>
                <a:latin typeface="Arial" pitchFamily="34" charset="0"/>
                <a:ea typeface="Arial" pitchFamily="34" charset="-122"/>
                <a:cs typeface="Arial" pitchFamily="34" charset="-120"/>
              </a:rPr>
              <a:t>En ligne, documentée,</a:t>
            </a:r>
            <a:endParaRPr lang="en-US" sz="4200" dirty="0"/>
          </a:p>
          <a:p>
            <a:pPr indent="0" marL="0">
              <a:lnSpc>
                <a:spcPts val="4600"/>
              </a:lnSpc>
              <a:buNone/>
            </a:pPr>
            <a:r>
              <a:rPr lang="en-US" sz="4200" b="1" dirty="0">
                <a:solidFill>
                  <a:srgbClr val="FFFFFF"/>
                </a:solidFill>
                <a:latin typeface="Arial" pitchFamily="34" charset="0"/>
                <a:ea typeface="Arial" pitchFamily="34" charset="-122"/>
                <a:cs typeface="Arial" pitchFamily="34" charset="-120"/>
              </a:rPr>
              <a:t>et on sait la refaire.</a:t>
            </a:r>
            <a:endParaRPr lang="en-US" sz="4200" dirty="0"/>
          </a:p>
        </p:txBody>
      </p:sp>
      <p:sp>
        <p:nvSpPr>
          <p:cNvPr id="5" name="Shape 3"/>
          <p:cNvSpPr/>
          <p:nvPr/>
        </p:nvSpPr>
        <p:spPr>
          <a:xfrm>
            <a:off x="566928" y="3840480"/>
            <a:ext cx="3520440" cy="1005840"/>
          </a:xfrm>
          <a:prstGeom prst="roundRect">
            <a:avLst>
              <a:gd name="adj" fmla="val 5455"/>
            </a:avLst>
          </a:prstGeom>
          <a:solidFill>
            <a:srgbClr val="1B2732"/>
          </a:solidFill>
          <a:ln w="9525">
            <a:solidFill>
              <a:srgbClr val="35475A"/>
            </a:solidFill>
            <a:prstDash val="solid"/>
          </a:ln>
        </p:spPr>
      </p:sp>
      <p:sp>
        <p:nvSpPr>
          <p:cNvPr id="6" name="Text 4"/>
          <p:cNvSpPr txBox="1"/>
          <p:nvPr/>
        </p:nvSpPr>
        <p:spPr>
          <a:xfrm>
            <a:off x="795528" y="3977640"/>
            <a:ext cx="3108960" cy="274320"/>
          </a:xfrm>
          <a:prstGeom prst="rect">
            <a:avLst/>
          </a:prstGeom>
          <a:noFill/>
          <a:ln/>
        </p:spPr>
        <p:txBody>
          <a:bodyPr wrap="square" lIns="0" tIns="0" rIns="0" bIns="0" rtlCol="0" anchor="ctr"/>
          <a:lstStyle/>
          <a:p>
            <a:pPr indent="0" marL="0">
              <a:buNone/>
            </a:pPr>
            <a:r>
              <a:rPr lang="en-US" sz="1300" b="1" dirty="0">
                <a:solidFill>
                  <a:srgbClr val="E08B1F"/>
                </a:solidFill>
                <a:latin typeface="Courier New" pitchFamily="34" charset="0"/>
                <a:ea typeface="Courier New" pitchFamily="34" charset="-122"/>
                <a:cs typeface="Courier New" pitchFamily="34" charset="-120"/>
              </a:rPr>
              <a:t>Terraform</a:t>
            </a:r>
            <a:endParaRPr lang="en-US" sz="1300" dirty="0"/>
          </a:p>
        </p:txBody>
      </p:sp>
      <p:sp>
        <p:nvSpPr>
          <p:cNvPr id="7" name="Text 5"/>
          <p:cNvSpPr txBox="1"/>
          <p:nvPr/>
        </p:nvSpPr>
        <p:spPr>
          <a:xfrm>
            <a:off x="795528" y="4279392"/>
            <a:ext cx="3108960" cy="457200"/>
          </a:xfrm>
          <a:prstGeom prst="rect">
            <a:avLst/>
          </a:prstGeom>
          <a:noFill/>
          <a:ln/>
        </p:spPr>
        <p:txBody>
          <a:bodyPr wrap="square" lIns="0" tIns="0" rIns="0" bIns="0" rtlCol="0" anchor="ctr"/>
          <a:lstStyle/>
          <a:p>
            <a:pPr indent="0" marL="0">
              <a:buNone/>
            </a:pPr>
            <a:r>
              <a:rPr lang="en-US" sz="1150" dirty="0">
                <a:solidFill>
                  <a:srgbClr val="A8B8C8"/>
                </a:solidFill>
                <a:latin typeface="Calibri" pitchFamily="34" charset="0"/>
                <a:ea typeface="Calibri" pitchFamily="34" charset="-122"/>
                <a:cs typeface="Calibri" pitchFamily="34" charset="-120"/>
              </a:rPr>
              <a:t>6 briques · 3 environnements</a:t>
            </a:r>
            <a:endParaRPr lang="en-US" sz="1150" dirty="0"/>
          </a:p>
        </p:txBody>
      </p:sp>
      <p:sp>
        <p:nvSpPr>
          <p:cNvPr id="8" name="Shape 6"/>
          <p:cNvSpPr/>
          <p:nvPr/>
        </p:nvSpPr>
        <p:spPr>
          <a:xfrm>
            <a:off x="4334256" y="3840480"/>
            <a:ext cx="3520440" cy="1005840"/>
          </a:xfrm>
          <a:prstGeom prst="roundRect">
            <a:avLst>
              <a:gd name="adj" fmla="val 5455"/>
            </a:avLst>
          </a:prstGeom>
          <a:solidFill>
            <a:srgbClr val="1B2732"/>
          </a:solidFill>
          <a:ln w="9525">
            <a:solidFill>
              <a:srgbClr val="35475A"/>
            </a:solidFill>
            <a:prstDash val="solid"/>
          </a:ln>
        </p:spPr>
      </p:sp>
      <p:sp>
        <p:nvSpPr>
          <p:cNvPr id="9" name="Text 7"/>
          <p:cNvSpPr txBox="1"/>
          <p:nvPr/>
        </p:nvSpPr>
        <p:spPr>
          <a:xfrm>
            <a:off x="4562856" y="3977640"/>
            <a:ext cx="3108960" cy="274320"/>
          </a:xfrm>
          <a:prstGeom prst="rect">
            <a:avLst/>
          </a:prstGeom>
          <a:noFill/>
          <a:ln/>
        </p:spPr>
        <p:txBody>
          <a:bodyPr wrap="square" lIns="0" tIns="0" rIns="0" bIns="0" rtlCol="0" anchor="ctr"/>
          <a:lstStyle/>
          <a:p>
            <a:pPr indent="0" marL="0">
              <a:buNone/>
            </a:pPr>
            <a:r>
              <a:rPr lang="en-US" sz="1300" b="1" dirty="0">
                <a:solidFill>
                  <a:srgbClr val="E08B1F"/>
                </a:solidFill>
                <a:latin typeface="Courier New" pitchFamily="34" charset="0"/>
                <a:ea typeface="Courier New" pitchFamily="34" charset="-122"/>
                <a:cs typeface="Courier New" pitchFamily="34" charset="-120"/>
              </a:rPr>
              <a:t>Ansible</a:t>
            </a:r>
            <a:endParaRPr lang="en-US" sz="1300" dirty="0"/>
          </a:p>
        </p:txBody>
      </p:sp>
      <p:sp>
        <p:nvSpPr>
          <p:cNvPr id="10" name="Text 8"/>
          <p:cNvSpPr txBox="1"/>
          <p:nvPr/>
        </p:nvSpPr>
        <p:spPr>
          <a:xfrm>
            <a:off x="4562856" y="4279392"/>
            <a:ext cx="3108960" cy="457200"/>
          </a:xfrm>
          <a:prstGeom prst="rect">
            <a:avLst/>
          </a:prstGeom>
          <a:noFill/>
          <a:ln/>
        </p:spPr>
        <p:txBody>
          <a:bodyPr wrap="square" lIns="0" tIns="0" rIns="0" bIns="0" rtlCol="0" anchor="ctr"/>
          <a:lstStyle/>
          <a:p>
            <a:pPr indent="0" marL="0">
              <a:buNone/>
            </a:pPr>
            <a:r>
              <a:rPr lang="en-US" sz="1150" dirty="0">
                <a:solidFill>
                  <a:srgbClr val="A8B8C8"/>
                </a:solidFill>
                <a:latin typeface="Calibri" pitchFamily="34" charset="0"/>
                <a:ea typeface="Calibri" pitchFamily="34" charset="-122"/>
                <a:cs typeface="Calibri" pitchFamily="34" charset="-120"/>
              </a:rPr>
              <a:t>3 rôles · secrets chiffrés · changed=0</a:t>
            </a:r>
            <a:endParaRPr lang="en-US" sz="1150" dirty="0"/>
          </a:p>
        </p:txBody>
      </p:sp>
      <p:sp>
        <p:nvSpPr>
          <p:cNvPr id="11" name="Shape 9"/>
          <p:cNvSpPr/>
          <p:nvPr/>
        </p:nvSpPr>
        <p:spPr>
          <a:xfrm>
            <a:off x="8101584" y="3840480"/>
            <a:ext cx="3520440" cy="1005840"/>
          </a:xfrm>
          <a:prstGeom prst="roundRect">
            <a:avLst>
              <a:gd name="adj" fmla="val 5455"/>
            </a:avLst>
          </a:prstGeom>
          <a:solidFill>
            <a:srgbClr val="1B2732"/>
          </a:solidFill>
          <a:ln w="9525">
            <a:solidFill>
              <a:srgbClr val="35475A"/>
            </a:solidFill>
            <a:prstDash val="solid"/>
          </a:ln>
        </p:spPr>
      </p:sp>
      <p:sp>
        <p:nvSpPr>
          <p:cNvPr id="12" name="Text 10"/>
          <p:cNvSpPr txBox="1"/>
          <p:nvPr/>
        </p:nvSpPr>
        <p:spPr>
          <a:xfrm>
            <a:off x="8330184" y="3977640"/>
            <a:ext cx="3108960" cy="274320"/>
          </a:xfrm>
          <a:prstGeom prst="rect">
            <a:avLst/>
          </a:prstGeom>
          <a:noFill/>
          <a:ln/>
        </p:spPr>
        <p:txBody>
          <a:bodyPr wrap="square" lIns="0" tIns="0" rIns="0" bIns="0" rtlCol="0" anchor="ctr"/>
          <a:lstStyle/>
          <a:p>
            <a:pPr indent="0" marL="0">
              <a:buNone/>
            </a:pPr>
            <a:r>
              <a:rPr lang="en-US" sz="1300" b="1" dirty="0">
                <a:solidFill>
                  <a:srgbClr val="E08B1F"/>
                </a:solidFill>
                <a:latin typeface="Courier New" pitchFamily="34" charset="0"/>
                <a:ea typeface="Courier New" pitchFamily="34" charset="-122"/>
                <a:cs typeface="Courier New" pitchFamily="34" charset="-120"/>
              </a:rPr>
              <a:t>README</a:t>
            </a:r>
            <a:endParaRPr lang="en-US" sz="1300" dirty="0"/>
          </a:p>
        </p:txBody>
      </p:sp>
      <p:sp>
        <p:nvSpPr>
          <p:cNvPr id="13" name="Text 11"/>
          <p:cNvSpPr txBox="1"/>
          <p:nvPr/>
        </p:nvSpPr>
        <p:spPr>
          <a:xfrm>
            <a:off x="8330184" y="4279392"/>
            <a:ext cx="3108960" cy="457200"/>
          </a:xfrm>
          <a:prstGeom prst="rect">
            <a:avLst/>
          </a:prstGeom>
          <a:noFill/>
          <a:ln/>
        </p:spPr>
        <p:txBody>
          <a:bodyPr wrap="square" lIns="0" tIns="0" rIns="0" bIns="0" rtlCol="0" anchor="ctr"/>
          <a:lstStyle/>
          <a:p>
            <a:pPr indent="0" marL="0">
              <a:buNone/>
            </a:pPr>
            <a:r>
              <a:rPr lang="en-US" sz="1150" dirty="0">
                <a:solidFill>
                  <a:srgbClr val="A8B8C8"/>
                </a:solidFill>
                <a:latin typeface="Calibri" pitchFamily="34" charset="0"/>
                <a:ea typeface="Calibri" pitchFamily="34" charset="-122"/>
                <a:cs typeface="Calibri" pitchFamily="34" charset="-120"/>
              </a:rPr>
              <a:t>installer, exploiter, dépanner</a:t>
            </a:r>
            <a:endParaRPr lang="en-US" sz="1150" dirty="0"/>
          </a:p>
        </p:txBody>
      </p:sp>
      <p:sp>
        <p:nvSpPr>
          <p:cNvPr id="14" name="Text 12"/>
          <p:cNvSpPr txBox="1"/>
          <p:nvPr/>
        </p:nvSpPr>
        <p:spPr>
          <a:xfrm>
            <a:off x="566928" y="5257800"/>
            <a:ext cx="11055096" cy="36576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5HASH  —  merci de votre attention</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5HASH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Taylor Shift - La boutique de billets</dc:title>
  <dc:subject>PptxGenJS Presentation</dc:subject>
  <dc:creator>5HASH</dc:creator>
  <cp:lastModifiedBy>5HASH</cp:lastModifiedBy>
  <cp:revision>1</cp:revision>
  <dcterms:created xsi:type="dcterms:W3CDTF">2026-09-21T16:48:51Z</dcterms:created>
  <dcterms:modified xsi:type="dcterms:W3CDTF">2026-09-21T16:48:51Z</dcterms:modified>
</cp:coreProperties>
</file>