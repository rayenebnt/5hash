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Nous sommes l'agence 5HASH. Taylor Shift nous a confié l'infrastructure de sa boutique de billets.
L'application existe déjà : c'est PrestaShop, l'image publiée sur Docker Hub. Nous ne touchons pas au code du site. Notre travail, c'est de l'héberger, de le configurer, et de faire en sorte qu'il tienne le jour de l'ouverture des ventes.
Nous avons utilisé deux outils : Terraform pour créer l'infrastructure, Ansible pour configurer les serveurs. Tout est déployé sur un compte AWS réel, en région Paris. Nous ferons une démonstration à la fin.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Avant de choisir les technologies, nous avons posé trois questions.
Première question : par où passent les requêtes ? C'est la question du réseau et de la sécurité. Notre réponse : un seul point d'entrée public, et tout le reste dans des réseaux privés.
Deuxième question : comment absorber un pic de trafic ? Une ouverture de billetterie, c'est un pic, pas une charge régulière. Notre réponse : les serveurs ne stockent aucune donnée, donc on peut en ajouter à la demande.
Troisième question : que se passe-t-il en cas de panne ? Notre réponse : le load balancer retire automatiquement le serveur en panne, et les autres continuent.
Chaque choix que nous présentons ensuite répond à l'une de ces trois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l'architecture. Elle se lit de haut en bas, dans le sens d'une requête.
Premier niveau, le réseau public. Il contient deux choses. Le load balancer, qui est le seul point d'entrée des clients : il répartit les requêtes entre les serveurs et vérifie leur état toutes les quinze secondes. Et le bastion, qui sert uniquement à notre accès SSH : il est ouvert à une seule adresse IP, la nôtre. Aucun client ne passe par le bastion.
Deuxième niveau, le réseau privé applicatif. Il contient les serveurs EC2, avec le conteneur PrestaShop. Ils sont identiques entre eux, répartis sur les deux zones de disponibilité, et ils n'ont aucune adresse IP publique : on ne peut les joindre qu'à travers le load balancer.
Troisième niveau, le réseau privé des données. La base MySQL d'un côté, le disque partagé de l'autre. Ce niveau n'a aucune route vers Internet.
Le point à retenir : les serveurs ne stockent aucune donnée. Le catalogue et les commandes sont dans la base, les images et les sessions sur le disque partagé. C'est ce qui permet d'ajouter ou de perdre un serveur sans conséquence.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sujet nous laissait libres de choisir ce qui tourne sur EC2 et ce qu'on confie à un service managé. Voici nos choix.
L'application tourne dans un conteneur Docker sur une instance EC2. C'est ce que demande le sujet. Le conteneur donne un environnement identique partout, et changer de version de PrestaShop revient à modifier une ligne.
La base de données est managée, c'est RDS. AWS gère les sauvegardes automatiques, les mises à jour de sécurité, et le basculement vers une instance de secours. Nous n'avons pas voulu réécrire ça nous-mêmes.
Pour les fichiers, il fallait un stockage que plusieurs serveurs lisent et écrivent en même temps. Un disque EBS ne se partage pas entre instances, EFS si.
Pour le point d'entrée, le load balancer surveille les serveurs et répartit les requêtes entre les deux zones.
Pour les secrets, le mot de passe de la base est généré par Terraform et déposé dans Secrets Manager. Il n'est pas dans le dépôt. Chaque serveur va le chercher avec son propre rôle IAM. Seuls les identifiants du back-office sont dans le dépôt, et ils sont chiffrés avec Ansible Vault.
Enfin, les serveurs n'ont pas d'adresse publique. L'accès administration passe par un bastion, ouvert à notre seule adresse 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Terraform crée l'infrastructure. On décrit les ressources voulues, Terraform les crée et retient ce qu'il a créé.
Nous avons découpé le code en six modules, un par couche : le réseau, les groupes de sécurité, le stockage, la base, les instances et le load balancer. Chaque module a ses variables documentées et ses sorties. On peut en relire un sans lire les autres.
Pour les environnements, nous avons dev, staging et prod. C'est le même code. Une table de variables définit les tailles : en dev, un serveur et une base simple ; en prod, trois serveurs sur trois zones, une base avec instance de secours, et quatorze jours de sauvegardes. On change une variable, pas le code.
L'état Terraform, c'est-à-dire la liste de ce qui a été créé, est stocké dans un bucket S3 versionné et chiffré, avec un verrou. C'est nécessaire à trois : sans ça, deux personnes peuvent modifier l'infrastructure en même temps.
Enfin, trois valeurs sont lues automatiquement à l'exécution : l'identifiant de l'image Ubuntu, la liste des zones disponibles, et notre adresse IP publique. Cette dernière sert à autoriser l'accès SSH au bastion.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Ansible configure les serveurs créés par Terraform : il installe Docker, monte le disque partagé, récupère le mot de passe de la base et démarre le conteneur PrestaShop.
Le point d'intégration entre les deux outils est ici. Terraform connaît les adresses des serveurs. Plutôt que de les recopier dans un fichier d'inventaire, Terraform les déclare dans son état, et Ansible les lit depuis cet état avec un plugin d'inventaire dynamique.
Conséquence : il n'y a aucune adresse IP écrite à la main dans le projet. Quand on ajoute un serveur avec Terraform, il apparaît automatiquement dans l'inventaire Ansible.
Nous avons écrit trois rôles réutilisables : common, efs et prestashop. Le bastion et les serveurs applicatifs utilisent le même rôle common, avec des variables différentes. Pour Docker, nous avons utilisé un rôle existant d'Ansible Galaxy plutôt que de le réécrire.
Les identifiants du back-office sont chiffrés avec Ansible Vault. Le mot de passe de la base n'est pas dans le dépôt du tout.
Enfin, le playbook est idempotent : il décrit l'état voulu, pas une suite d'étapes. À la deuxième exécution, il affiche changed égale zéro : il ne modifie rien, parce que tout est déjà en 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comment nous répondons à un pic de trafic.
Les serveurs ne stockent aucune donnée : les commandes sont dans la base, les images et les sessions sur le disque partagé. Ajouter de la capacité revient donc à modifier une variable.
Deux commandes. La première, Terraform, crée les serveurs, les répartit sur les zones et les enregistre auprès du load balancer. La deuxième, Ansible, les configure. Comme le playbook est idempotent, il ne touche pas aux serveurs déjà en service. L'opération prend environ trois minutes, sans interruption.
Pour savoir quand le faire, trois alarmes CloudWatch sont créées avec le load balancer. La première surveille le temps de réponse : au-delà de deux secondes en moyenne sur trois minutes, les serveurs saturent. La deuxième compte les serveurs retirés de la rotation. La troisième compte les erreurs serveur. Les trois notifient une adresse mail.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Troisième question : le comportement en cas de panne. Nous avons mesuré chaque cas.
Un serveur tombe. Le load balancer le vérifie toutes les quinze secondes. Après deux échecs, soit environ trente secondes, il le retire de la rotation. Les requêtes déjà en cours ont trente secondes supplémentaires pour se terminer. Le client ne voit rien : il est servi par les autres serveurs.
Une zone de disponibilité tombe. Le load balancer a un nœud par zone, il cesse d'utiliser celui de la zone en panne. Les serveurs des autres zones prennent le relais. Aucune action de notre part.
La base de données tombe. En production, elle a une instance de secours dans une autre zone. Le basculement prend entre une et deux minutes. Il y a des erreurs pendant ce temps, nous ne le cachons pas, puis le service revient.
Le bastion tombe. Aucune conséquence pour les clients : il ne sert qu'à l'administration. Il faut le recréer, ce qui prend deux minutes.
Un point important : le panier du client est conservé. Les sessions PHP sont stockées sur le disque partagé, pas sur le serveur. Si un serveur tombe, le client continue son achat sur un autre.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Nous présentons cette diapositive parce qu'elle montre ce que le déploiement réel apporte.
Le code était écrit, relu et vérifié. En le déployant sur un compte AWS, nous avons rencontré quatre erreurs qu'une relecture n'aurait pas montrées.
Première erreur : AWS n'accepte qu'un jeu de caractères limité dans les descriptions de groupes de sécurité. Nous avions écrit une flèche avec un chevron. La création du groupe a échoué.
Deuxième erreur : le paquet awscli n'existe plus dans les dépôts d'Ubuntu 24.04. Installer la version officielle représentait soixante mégaoctets par serveur pour un seul appel. Nous l'avons remplacé par la bibliothèque Python boto3, déjà disponible.
Troisième erreur : notre script chargeait le fichier de configuration avec la commande source du shell. Le mot de passe de la base, généré aléatoirement, contenait une esperluette. Le shell l'a interprétée comme un séparateur de commande. Nous lisons maintenant ce fichier sans l'interpréter, et nous avons restreint les caractères du mot de passe généré.
Quatrième erreur : sur un disque réseau, supprimer un fichier encore ouvert laisse une entrée temporaire. Le vidage de cache de PrestaShop échouait donc après l'installation, et arrêtait le conteneur. Nous avons déplacé ce cache sur le disque local de chaque serveur, puisqu'il est propre à chaque serveur et régénérable.
Les quatre corrections sont dans le dépôt.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les limites de notre solution.
Première limite, la principale : la montée en charge n'est pas automatique. Elle demande un opérateur et deux commandes, environ trois minutes. Pour l'automatiser, il faudrait construire à l'avance une image serveur préconfigurée, avec Packer, puis utiliser un groupe d'autoscaling derrière le même load balancer. Notre rôle Ansible et notre page de santé sont déjà compatibles avec cette évolution.
Deuxième limite : le site entier est sur le disque partagé. Cela rend les serveurs interchangeables, mais un disque réseau est plus lent qu'un disque local pour lire des fichiers PHP. Au-delà de quelques milliers de requêtes par minute, il faudrait mettre le code dans l'image Docker et ne partager que les images produits.
Troisième limite : une seule base en écriture. On peut répartir les lectures sur des réplicas, pas les écritures. Une billetterie écrit beaucoup, donc la taille de l'instance principale est notre plafond.
Quatrième limite : une seule région. Une panne régionale interrompt le service. À cette échelle, le multi-région coûterait plus cher que la panne qu'il évite. C'est un choix, pas un oubli.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l'ensemble des commandes nécessaires.
La première ne se lance qu'une fois par compte AWS : elle crée le bucket S3 qui stocke l'état Terraform.
Ensuite, Terraform : init puis apply. L'opération prend une douzaine de minutes, dont la majorité pour la création de la base de données.
Puis Ansible : on installe les dépendances depuis Galaxy, on vérifie l'inventaire, et on lance le playbook. La commande du milieu affiche la liste des serveurs : aucune adresse n'y est écrite, elle vient de l'état Terraform.
Nous allons vous montrer quatre choses : la boutique et son back-office, le playbook relancé qui n'affiche aucune modification, l'ajout d'un serveur, et enfin l'arrêt d'un serveur pour montrer que le site continue de répondre.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conclure. La boutique est déployée sur un compte AWS réel. Elle est documentée : le README explique comment la déployer, l'exploiter, la mettre à l'échelle, la dépanner et la supprimer. Et elle est reproductible : nous l'avons détruite et redéployée pour le vérifier.
Merci de votre attention, nous répondons à vos questions.
[Réponses préparées :
— Pourquoi pas d'autoscaling ? Parce que nos serveurs sont configurés par Ansible après leur création. Un groupe d'autoscaling lancerait des machines non configurées. Il faudrait d'abord construire une image préconfigurée avec Packer.
— Pourquoi EFS et pas S3 ? Parce que PrestaShop écrit sur un système de fichiers. Utiliser S3 demanderait un module PrestaShop supplémentaire.
— Où est le mot de passe de la base ? Dans AWS Secrets Manager. Terraform le génère, chaque serveur le lit avec son rôle IAM. Il n'est ni dans le dépôt, ni dans l'inventaire Ansible.
— Combien ça coûte ? Environ deux à trois dollars par jour pour l'environnement dev. Les postes principaux sont la passerelle NAT et le load balancer.
— Comment changer de version de PrestaShop ? C'est une variable dans les group_vars Ansible. On modifie le tag de l'image et on relance le playbook, après une sauvegarde de la 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0"/>
        </a:solidFill>
      </p:bgPr>
    </p:bg>
    <p:spTree>
      <p:nvGrpSpPr>
        <p:cNvPr id="1" name=""/>
        <p:cNvGrpSpPr/>
        <p:nvPr/>
      </p:nvGrpSpPr>
      <p:grpSpPr>
        <a:xfrm>
          <a:off x="0" y="0"/>
          <a:ext cx="0" cy="0"/>
          <a:chOff x="0" y="0"/>
          <a:chExt cx="0" cy="0"/>
        </a:xfrm>
      </p:grpSpPr>
      <p:sp>
        <p:nvSpPr>
          <p:cNvPr id="2" name="Shape 0"/>
          <p:cNvSpPr/>
          <p:nvPr/>
        </p:nvSpPr>
        <p:spPr>
          <a:xfrm>
            <a:off x="566928" y="1481328"/>
            <a:ext cx="146304" cy="146304"/>
          </a:xfrm>
          <a:prstGeom prst="ellipse">
            <a:avLst/>
          </a:prstGeom>
          <a:solidFill>
            <a:srgbClr val="E08B1F"/>
          </a:solidFill>
          <a:ln w="12700">
            <a:solidFill>
              <a:srgbClr val="E08B1F"/>
            </a:solidFill>
            <a:prstDash val="solid"/>
          </a:ln>
        </p:spPr>
      </p:sp>
      <p:sp>
        <p:nvSpPr>
          <p:cNvPr id="3" name="Text 1"/>
          <p:cNvSpPr txBox="1"/>
          <p:nvPr/>
        </p:nvSpPr>
        <p:spPr>
          <a:xfrm>
            <a:off x="841248" y="1417320"/>
            <a:ext cx="11055096" cy="274320"/>
          </a:xfrm>
          <a:prstGeom prst="rect">
            <a:avLst/>
          </a:prstGeom>
          <a:noFill/>
          <a:ln/>
        </p:spPr>
        <p:txBody>
          <a:bodyPr wrap="square" lIns="0" tIns="0" rIns="0" bIns="0" rtlCol="0" anchor="ctr"/>
          <a:lstStyle/>
          <a:p>
            <a:pPr indent="0" marL="0">
              <a:buNone/>
            </a:pPr>
            <a:r>
              <a:rPr lang="en-US" sz="1200" spc="200" kern="0" dirty="0">
                <a:solidFill>
                  <a:srgbClr val="E08B1F"/>
                </a:solidFill>
                <a:latin typeface="Courier New" pitchFamily="34" charset="0"/>
                <a:ea typeface="Courier New" pitchFamily="34" charset="-122"/>
                <a:cs typeface="Courier New" pitchFamily="34" charset="-120"/>
              </a:rPr>
              <a:t>PROJET 5HASH  ·  INFRASTRUCTURE AS CODE</a:t>
            </a:r>
            <a:endParaRPr lang="en-US" sz="1200" dirty="0"/>
          </a:p>
        </p:txBody>
      </p:sp>
      <p:sp>
        <p:nvSpPr>
          <p:cNvPr id="4" name="Text 2"/>
          <p:cNvSpPr txBox="1"/>
          <p:nvPr/>
        </p:nvSpPr>
        <p:spPr>
          <a:xfrm>
            <a:off x="566928" y="1920240"/>
            <a:ext cx="11055096" cy="1051560"/>
          </a:xfrm>
          <a:prstGeom prst="rect">
            <a:avLst/>
          </a:prstGeom>
          <a:noFill/>
          <a:ln/>
        </p:spPr>
        <p:txBody>
          <a:bodyPr wrap="square" lIns="0" tIns="0" rIns="0" bIns="0" rtlCol="0" anchor="ctr"/>
          <a:lstStyle/>
          <a:p>
            <a:pPr indent="0" marL="0">
              <a:buNone/>
            </a:pPr>
            <a:r>
              <a:rPr lang="en-US" sz="6000" b="1" dirty="0">
                <a:solidFill>
                  <a:srgbClr val="FFFFFF"/>
                </a:solidFill>
                <a:latin typeface="Arial" pitchFamily="34" charset="0"/>
                <a:ea typeface="Arial" pitchFamily="34" charset="-122"/>
                <a:cs typeface="Arial" pitchFamily="34" charset="-120"/>
              </a:rPr>
              <a:t>Taylor Shift</a:t>
            </a:r>
            <a:endParaRPr lang="en-US" sz="6000" dirty="0"/>
          </a:p>
        </p:txBody>
      </p:sp>
      <p:sp>
        <p:nvSpPr>
          <p:cNvPr id="5" name="Text 3"/>
          <p:cNvSpPr txBox="1"/>
          <p:nvPr/>
        </p:nvSpPr>
        <p:spPr>
          <a:xfrm>
            <a:off x="566928" y="3017520"/>
            <a:ext cx="8778240" cy="457200"/>
          </a:xfrm>
          <a:prstGeom prst="rect">
            <a:avLst/>
          </a:prstGeom>
          <a:noFill/>
          <a:ln/>
        </p:spPr>
        <p:txBody>
          <a:bodyPr wrap="square" lIns="0" tIns="0" rIns="0" bIns="0" rtlCol="0" anchor="ctr"/>
          <a:lstStyle/>
          <a:p>
            <a:pPr indent="0" marL="0">
              <a:buNone/>
            </a:pPr>
            <a:r>
              <a:rPr lang="en-US" sz="2200" dirty="0">
                <a:solidFill>
                  <a:srgbClr val="A8B8C8"/>
                </a:solidFill>
                <a:latin typeface="Calibri" pitchFamily="34" charset="0"/>
                <a:ea typeface="Calibri" pitchFamily="34" charset="-122"/>
                <a:cs typeface="Calibri" pitchFamily="34" charset="-120"/>
              </a:rPr>
              <a:t>Infrastructure de la boutique de billets</a:t>
            </a:r>
            <a:endParaRPr lang="en-US" sz="2200" dirty="0"/>
          </a:p>
        </p:txBody>
      </p:sp>
      <p:sp>
        <p:nvSpPr>
          <p:cNvPr id="6" name="Shape 4"/>
          <p:cNvSpPr/>
          <p:nvPr/>
        </p:nvSpPr>
        <p:spPr>
          <a:xfrm>
            <a:off x="566928" y="3840480"/>
            <a:ext cx="1645920" cy="411480"/>
          </a:xfrm>
          <a:prstGeom prst="roundRect">
            <a:avLst>
              <a:gd name="adj" fmla="val 17778"/>
            </a:avLst>
          </a:prstGeom>
          <a:solidFill>
            <a:srgbClr val="1B2732"/>
          </a:solidFill>
          <a:ln w="9525">
            <a:solidFill>
              <a:srgbClr val="35475A"/>
            </a:solidFill>
            <a:prstDash val="solid"/>
          </a:ln>
        </p:spPr>
      </p:sp>
      <p:sp>
        <p:nvSpPr>
          <p:cNvPr id="7" name="Text 5"/>
          <p:cNvSpPr txBox="1"/>
          <p:nvPr/>
        </p:nvSpPr>
        <p:spPr>
          <a:xfrm>
            <a:off x="566928" y="3840480"/>
            <a:ext cx="1645920" cy="411480"/>
          </a:xfrm>
          <a:prstGeom prst="rect">
            <a:avLst/>
          </a:prstGeom>
          <a:noFill/>
          <a:ln/>
        </p:spPr>
        <p:txBody>
          <a:bodyPr wrap="square" lIns="0" tIns="0" rIns="0" bIns="0" rtlCol="0" anchor="ctr"/>
          <a:lstStyle/>
          <a:p>
            <a:pPr algn="ctr" indent="0" marL="0">
              <a:buNone/>
            </a:pPr>
            <a:r>
              <a:rPr lang="en-US" sz="1200" dirty="0">
                <a:solidFill>
                  <a:srgbClr val="C9D6E2"/>
                </a:solidFill>
                <a:latin typeface="Courier New" pitchFamily="34" charset="0"/>
                <a:ea typeface="Courier New" pitchFamily="34" charset="-122"/>
                <a:cs typeface="Courier New" pitchFamily="34" charset="-120"/>
              </a:rPr>
              <a:t>Terraform</a:t>
            </a:r>
            <a:endParaRPr lang="en-US" sz="1200" dirty="0"/>
          </a:p>
        </p:txBody>
      </p:sp>
      <p:sp>
        <p:nvSpPr>
          <p:cNvPr id="8" name="Shape 6"/>
          <p:cNvSpPr/>
          <p:nvPr/>
        </p:nvSpPr>
        <p:spPr>
          <a:xfrm>
            <a:off x="2395728" y="3840480"/>
            <a:ext cx="1645920" cy="411480"/>
          </a:xfrm>
          <a:prstGeom prst="roundRect">
            <a:avLst>
              <a:gd name="adj" fmla="val 17778"/>
            </a:avLst>
          </a:prstGeom>
          <a:solidFill>
            <a:srgbClr val="1B2732"/>
          </a:solidFill>
          <a:ln w="9525">
            <a:solidFill>
              <a:srgbClr val="35475A"/>
            </a:solidFill>
            <a:prstDash val="solid"/>
          </a:ln>
        </p:spPr>
      </p:sp>
      <p:sp>
        <p:nvSpPr>
          <p:cNvPr id="9" name="Text 7"/>
          <p:cNvSpPr txBox="1"/>
          <p:nvPr/>
        </p:nvSpPr>
        <p:spPr>
          <a:xfrm>
            <a:off x="2395728" y="3840480"/>
            <a:ext cx="1645920" cy="411480"/>
          </a:xfrm>
          <a:prstGeom prst="rect">
            <a:avLst/>
          </a:prstGeom>
          <a:noFill/>
          <a:ln/>
        </p:spPr>
        <p:txBody>
          <a:bodyPr wrap="square" lIns="0" tIns="0" rIns="0" bIns="0" rtlCol="0" anchor="ctr"/>
          <a:lstStyle/>
          <a:p>
            <a:pPr algn="ctr" indent="0" marL="0">
              <a:buNone/>
            </a:pPr>
            <a:r>
              <a:rPr lang="en-US" sz="1200" dirty="0">
                <a:solidFill>
                  <a:srgbClr val="C9D6E2"/>
                </a:solidFill>
                <a:latin typeface="Courier New" pitchFamily="34" charset="0"/>
                <a:ea typeface="Courier New" pitchFamily="34" charset="-122"/>
                <a:cs typeface="Courier New" pitchFamily="34" charset="-120"/>
              </a:rPr>
              <a:t>Ansible</a:t>
            </a:r>
            <a:endParaRPr lang="en-US" sz="1200" dirty="0"/>
          </a:p>
        </p:txBody>
      </p:sp>
      <p:sp>
        <p:nvSpPr>
          <p:cNvPr id="10" name="Shape 8"/>
          <p:cNvSpPr/>
          <p:nvPr/>
        </p:nvSpPr>
        <p:spPr>
          <a:xfrm>
            <a:off x="4224528" y="3840480"/>
            <a:ext cx="1645920" cy="411480"/>
          </a:xfrm>
          <a:prstGeom prst="roundRect">
            <a:avLst>
              <a:gd name="adj" fmla="val 17778"/>
            </a:avLst>
          </a:prstGeom>
          <a:solidFill>
            <a:srgbClr val="1B2732"/>
          </a:solidFill>
          <a:ln w="9525">
            <a:solidFill>
              <a:srgbClr val="35475A"/>
            </a:solidFill>
            <a:prstDash val="solid"/>
          </a:ln>
        </p:spPr>
      </p:sp>
      <p:sp>
        <p:nvSpPr>
          <p:cNvPr id="11" name="Text 9"/>
          <p:cNvSpPr txBox="1"/>
          <p:nvPr/>
        </p:nvSpPr>
        <p:spPr>
          <a:xfrm>
            <a:off x="4224528" y="3840480"/>
            <a:ext cx="1645920" cy="411480"/>
          </a:xfrm>
          <a:prstGeom prst="rect">
            <a:avLst/>
          </a:prstGeom>
          <a:noFill/>
          <a:ln/>
        </p:spPr>
        <p:txBody>
          <a:bodyPr wrap="square" lIns="0" tIns="0" rIns="0" bIns="0" rtlCol="0" anchor="ctr"/>
          <a:lstStyle/>
          <a:p>
            <a:pPr algn="ctr" indent="0" marL="0">
              <a:buNone/>
            </a:pPr>
            <a:r>
              <a:rPr lang="en-US" sz="1200" dirty="0">
                <a:solidFill>
                  <a:srgbClr val="C9D6E2"/>
                </a:solidFill>
                <a:latin typeface="Courier New" pitchFamily="34" charset="0"/>
                <a:ea typeface="Courier New" pitchFamily="34" charset="-122"/>
                <a:cs typeface="Courier New" pitchFamily="34" charset="-120"/>
              </a:rPr>
              <a:t>PrestaShop</a:t>
            </a:r>
            <a:endParaRPr lang="en-US" sz="1200" dirty="0"/>
          </a:p>
        </p:txBody>
      </p:sp>
      <p:sp>
        <p:nvSpPr>
          <p:cNvPr id="12" name="Shape 10"/>
          <p:cNvSpPr/>
          <p:nvPr/>
        </p:nvSpPr>
        <p:spPr>
          <a:xfrm>
            <a:off x="6053328" y="3840480"/>
            <a:ext cx="1645920" cy="411480"/>
          </a:xfrm>
          <a:prstGeom prst="roundRect">
            <a:avLst>
              <a:gd name="adj" fmla="val 17778"/>
            </a:avLst>
          </a:prstGeom>
          <a:solidFill>
            <a:srgbClr val="1B2732"/>
          </a:solidFill>
          <a:ln w="9525">
            <a:solidFill>
              <a:srgbClr val="35475A"/>
            </a:solidFill>
            <a:prstDash val="solid"/>
          </a:ln>
        </p:spPr>
      </p:sp>
      <p:sp>
        <p:nvSpPr>
          <p:cNvPr id="13" name="Text 11"/>
          <p:cNvSpPr txBox="1"/>
          <p:nvPr/>
        </p:nvSpPr>
        <p:spPr>
          <a:xfrm>
            <a:off x="6053328" y="3840480"/>
            <a:ext cx="1645920" cy="411480"/>
          </a:xfrm>
          <a:prstGeom prst="rect">
            <a:avLst/>
          </a:prstGeom>
          <a:noFill/>
          <a:ln/>
        </p:spPr>
        <p:txBody>
          <a:bodyPr wrap="square" lIns="0" tIns="0" rIns="0" bIns="0" rtlCol="0" anchor="ctr"/>
          <a:lstStyle/>
          <a:p>
            <a:pPr algn="ctr" indent="0" marL="0">
              <a:buNone/>
            </a:pPr>
            <a:r>
              <a:rPr lang="en-US" sz="1200" dirty="0">
                <a:solidFill>
                  <a:srgbClr val="C9D6E2"/>
                </a:solidFill>
                <a:latin typeface="Courier New" pitchFamily="34" charset="0"/>
                <a:ea typeface="Courier New" pitchFamily="34" charset="-122"/>
                <a:cs typeface="Courier New" pitchFamily="34" charset="-120"/>
              </a:rPr>
              <a:t>AWS</a:t>
            </a:r>
            <a:endParaRPr lang="en-US" sz="1200" dirty="0"/>
          </a:p>
        </p:txBody>
      </p:sp>
      <p:sp>
        <p:nvSpPr>
          <p:cNvPr id="14" name="Text 12"/>
          <p:cNvSpPr txBox="1"/>
          <p:nvPr/>
        </p:nvSpPr>
        <p:spPr>
          <a:xfrm>
            <a:off x="566928" y="4800600"/>
            <a:ext cx="11055096" cy="32004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Prénom 1  ·  Prénom 2  ·  Prénom 3</a:t>
            </a:r>
            <a:endParaRPr lang="en-US" sz="1600" dirty="0"/>
          </a:p>
        </p:txBody>
      </p:sp>
      <p:sp>
        <p:nvSpPr>
          <p:cNvPr id="15" name="Text 13"/>
          <p:cNvSpPr txBox="1"/>
          <p:nvPr/>
        </p:nvSpPr>
        <p:spPr>
          <a:xfrm>
            <a:off x="566928" y="5193792"/>
            <a:ext cx="11055096" cy="274320"/>
          </a:xfrm>
          <a:prstGeom prst="rect">
            <a:avLst/>
          </a:prstGeom>
          <a:noFill/>
          <a:ln/>
        </p:spPr>
        <p:txBody>
          <a:bodyPr wrap="square" lIns="0" tIns="0" rIns="0" bIns="0" rtlCol="0" anchor="ctr"/>
          <a:lstStyle/>
          <a:p>
            <a:pPr indent="0" marL="0">
              <a:buNone/>
            </a:pPr>
            <a:r>
              <a:rPr lang="en-US" sz="1300" dirty="0">
                <a:solidFill>
                  <a:srgbClr val="7A8C9E"/>
                </a:solidFill>
                <a:latin typeface="Calibri" pitchFamily="34" charset="0"/>
                <a:ea typeface="Calibri" pitchFamily="34" charset="-122"/>
                <a:cs typeface="Calibri" pitchFamily="34" charset="-120"/>
              </a:rPr>
              <a:t>Déployé sur un compte AWS, région eu-west-3 (Paris)</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66928" y="384048"/>
            <a:ext cx="11055096" cy="274320"/>
          </a:xfrm>
          <a:prstGeom prst="rect">
            <a:avLst/>
          </a:prstGeom>
          <a:noFill/>
          <a:ln/>
        </p:spPr>
        <p:txBody>
          <a:bodyPr wrap="square" lIns="0" tIns="0" rIns="0" bIns="0" rtlCol="0" anchor="ctr"/>
          <a:lstStyle/>
          <a:p>
            <a:pPr indent="0" marL="0">
              <a:buNone/>
            </a:pPr>
            <a:r>
              <a:rPr lang="en-US" sz="1100" spc="200" kern="0" dirty="0">
                <a:solidFill>
                  <a:srgbClr val="9E5D06"/>
                </a:solidFill>
                <a:latin typeface="Courier New" pitchFamily="34" charset="0"/>
                <a:ea typeface="Courier New" pitchFamily="34" charset="-122"/>
                <a:cs typeface="Courier New" pitchFamily="34" charset="-120"/>
              </a:rPr>
              <a:t>01 — LE BESOIN</a:t>
            </a:r>
            <a:endParaRPr lang="en-US" sz="1100" dirty="0"/>
          </a:p>
        </p:txBody>
      </p:sp>
      <p:sp>
        <p:nvSpPr>
          <p:cNvPr id="3" name="Text 1"/>
          <p:cNvSpPr txBox="1"/>
          <p:nvPr/>
        </p:nvSpPr>
        <p:spPr>
          <a:xfrm>
            <a:off x="566928" y="694944"/>
            <a:ext cx="11055096" cy="658368"/>
          </a:xfrm>
          <a:prstGeom prst="rect">
            <a:avLst/>
          </a:prstGeom>
          <a:noFill/>
          <a:ln/>
        </p:spPr>
        <p:txBody>
          <a:bodyPr wrap="square" lIns="0" tIns="0" rIns="0" bIns="0" rtlCol="0" anchor="ctr"/>
          <a:lstStyle/>
          <a:p>
            <a:pPr indent="0" marL="0">
              <a:buNone/>
            </a:pPr>
            <a:r>
              <a:rPr lang="en-US" sz="3000" b="1" dirty="0">
                <a:solidFill>
                  <a:srgbClr val="17222C"/>
                </a:solidFill>
                <a:latin typeface="Arial" pitchFamily="34" charset="0"/>
                <a:ea typeface="Arial" pitchFamily="34" charset="-122"/>
                <a:cs typeface="Arial" pitchFamily="34" charset="-120"/>
              </a:rPr>
              <a:t>Trois questions au départ</a:t>
            </a:r>
            <a:endParaRPr lang="en-US" sz="3000" dirty="0"/>
          </a:p>
        </p:txBody>
      </p:sp>
      <p:sp>
        <p:nvSpPr>
          <p:cNvPr id="4" name="Shape 2"/>
          <p:cNvSpPr/>
          <p:nvPr/>
        </p:nvSpPr>
        <p:spPr>
          <a:xfrm>
            <a:off x="566928" y="1691640"/>
            <a:ext cx="3520440" cy="2743200"/>
          </a:xfrm>
          <a:prstGeom prst="roundRect">
            <a:avLst>
              <a:gd name="adj" fmla="val 2000"/>
            </a:avLst>
          </a:prstGeom>
          <a:solidFill>
            <a:srgbClr val="F2F5F7"/>
          </a:solidFill>
          <a:ln w="9525">
            <a:solidFill>
              <a:srgbClr val="D3DBE3"/>
            </a:solidFill>
            <a:prstDash val="solid"/>
          </a:ln>
        </p:spPr>
      </p:sp>
      <p:sp>
        <p:nvSpPr>
          <p:cNvPr id="5" name="Shape 3"/>
          <p:cNvSpPr/>
          <p:nvPr/>
        </p:nvSpPr>
        <p:spPr>
          <a:xfrm>
            <a:off x="841248" y="1965960"/>
            <a:ext cx="310896" cy="310896"/>
          </a:xfrm>
          <a:prstGeom prst="ellipse">
            <a:avLst/>
          </a:prstGeom>
          <a:solidFill>
            <a:srgbClr val="E08B1F"/>
          </a:solidFill>
          <a:ln w="12700">
            <a:solidFill>
              <a:srgbClr val="E08B1F"/>
            </a:solidFill>
            <a:prstDash val="solid"/>
          </a:ln>
        </p:spPr>
      </p:sp>
      <p:sp>
        <p:nvSpPr>
          <p:cNvPr id="6" name="Text 4"/>
          <p:cNvSpPr txBox="1"/>
          <p:nvPr/>
        </p:nvSpPr>
        <p:spPr>
          <a:xfrm>
            <a:off x="841248" y="196596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7" name="Text 5"/>
          <p:cNvSpPr txBox="1"/>
          <p:nvPr/>
        </p:nvSpPr>
        <p:spPr>
          <a:xfrm>
            <a:off x="841248" y="2450592"/>
            <a:ext cx="2971800" cy="868680"/>
          </a:xfrm>
          <a:prstGeom prst="rect">
            <a:avLst/>
          </a:prstGeom>
          <a:noFill/>
          <a:ln/>
        </p:spPr>
        <p:txBody>
          <a:bodyPr wrap="square" lIns="0" tIns="0" rIns="0" bIns="0" rtlCol="0" anchor="ctr"/>
          <a:lstStyle/>
          <a:p>
            <a:pPr indent="0" marL="0">
              <a:lnSpc>
                <a:spcPts val="2200"/>
              </a:lnSpc>
              <a:buNone/>
            </a:pPr>
            <a:r>
              <a:rPr lang="en-US" sz="1600" b="1" dirty="0">
                <a:solidFill>
                  <a:srgbClr val="17222C"/>
                </a:solidFill>
                <a:latin typeface="Arial" pitchFamily="34" charset="0"/>
                <a:ea typeface="Arial" pitchFamily="34" charset="-122"/>
                <a:cs typeface="Arial" pitchFamily="34" charset="-120"/>
              </a:rPr>
              <a:t>Par où passent</a:t>
            </a:r>
            <a:endParaRPr lang="en-US" sz="1600" dirty="0"/>
          </a:p>
          <a:p>
            <a:pPr indent="0" marL="0">
              <a:lnSpc>
                <a:spcPts val="2200"/>
              </a:lnSpc>
              <a:buNone/>
            </a:pPr>
            <a:r>
              <a:rPr lang="en-US" sz="1600" b="1" dirty="0">
                <a:solidFill>
                  <a:srgbClr val="17222C"/>
                </a:solidFill>
                <a:latin typeface="Arial" pitchFamily="34" charset="0"/>
                <a:ea typeface="Arial" pitchFamily="34" charset="-122"/>
                <a:cs typeface="Arial" pitchFamily="34" charset="-120"/>
              </a:rPr>
              <a:t>les requêtes ?</a:t>
            </a:r>
            <a:endParaRPr lang="en-US" sz="1600" dirty="0"/>
          </a:p>
        </p:txBody>
      </p:sp>
      <p:sp>
        <p:nvSpPr>
          <p:cNvPr id="8" name="Text 6"/>
          <p:cNvSpPr txBox="1"/>
          <p:nvPr/>
        </p:nvSpPr>
        <p:spPr>
          <a:xfrm>
            <a:off x="841248" y="3401568"/>
            <a:ext cx="2971800" cy="868680"/>
          </a:xfrm>
          <a:prstGeom prst="rect">
            <a:avLst/>
          </a:prstGeom>
          <a:noFill/>
          <a:ln/>
        </p:spPr>
        <p:txBody>
          <a:bodyPr wrap="square" lIns="0" tIns="0" rIns="0" bIns="0" rtlCol="0" anchor="ctr"/>
          <a:lstStyle/>
          <a:p>
            <a:pPr indent="0" marL="0">
              <a:buNone/>
            </a:pPr>
            <a:r>
              <a:rPr lang="en-US" sz="1350" dirty="0">
                <a:solidFill>
                  <a:srgbClr val="5C6B7A"/>
                </a:solidFill>
                <a:latin typeface="Calibri" pitchFamily="34" charset="0"/>
                <a:ea typeface="Calibri" pitchFamily="34" charset="-122"/>
                <a:cs typeface="Calibri" pitchFamily="34" charset="-120"/>
              </a:rPr>
              <a:t>Un seul point d'entrée public. Les serveurs et la base sont dans des réseaux privés.</a:t>
            </a:r>
            <a:endParaRPr lang="en-US" sz="1350" dirty="0"/>
          </a:p>
        </p:txBody>
      </p:sp>
      <p:sp>
        <p:nvSpPr>
          <p:cNvPr id="9" name="Shape 7"/>
          <p:cNvSpPr/>
          <p:nvPr/>
        </p:nvSpPr>
        <p:spPr>
          <a:xfrm>
            <a:off x="4334256" y="1691640"/>
            <a:ext cx="3520440" cy="2743200"/>
          </a:xfrm>
          <a:prstGeom prst="roundRect">
            <a:avLst>
              <a:gd name="adj" fmla="val 2000"/>
            </a:avLst>
          </a:prstGeom>
          <a:solidFill>
            <a:srgbClr val="F2F5F7"/>
          </a:solidFill>
          <a:ln w="9525">
            <a:solidFill>
              <a:srgbClr val="D3DBE3"/>
            </a:solidFill>
            <a:prstDash val="solid"/>
          </a:ln>
        </p:spPr>
      </p:sp>
      <p:sp>
        <p:nvSpPr>
          <p:cNvPr id="10" name="Shape 8"/>
          <p:cNvSpPr/>
          <p:nvPr/>
        </p:nvSpPr>
        <p:spPr>
          <a:xfrm>
            <a:off x="4608576" y="1965960"/>
            <a:ext cx="310896" cy="310896"/>
          </a:xfrm>
          <a:prstGeom prst="ellipse">
            <a:avLst/>
          </a:prstGeom>
          <a:solidFill>
            <a:srgbClr val="E08B1F"/>
          </a:solidFill>
          <a:ln w="12700">
            <a:solidFill>
              <a:srgbClr val="E08B1F"/>
            </a:solidFill>
            <a:prstDash val="solid"/>
          </a:ln>
        </p:spPr>
      </p:sp>
      <p:sp>
        <p:nvSpPr>
          <p:cNvPr id="11" name="Text 9"/>
          <p:cNvSpPr txBox="1"/>
          <p:nvPr/>
        </p:nvSpPr>
        <p:spPr>
          <a:xfrm>
            <a:off x="4608576" y="196596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12" name="Text 10"/>
          <p:cNvSpPr txBox="1"/>
          <p:nvPr/>
        </p:nvSpPr>
        <p:spPr>
          <a:xfrm>
            <a:off x="4608576" y="2450592"/>
            <a:ext cx="2971800" cy="868680"/>
          </a:xfrm>
          <a:prstGeom prst="rect">
            <a:avLst/>
          </a:prstGeom>
          <a:noFill/>
          <a:ln/>
        </p:spPr>
        <p:txBody>
          <a:bodyPr wrap="square" lIns="0" tIns="0" rIns="0" bIns="0" rtlCol="0" anchor="ctr"/>
          <a:lstStyle/>
          <a:p>
            <a:pPr indent="0" marL="0">
              <a:lnSpc>
                <a:spcPts val="2200"/>
              </a:lnSpc>
              <a:buNone/>
            </a:pPr>
            <a:r>
              <a:rPr lang="en-US" sz="1600" b="1" dirty="0">
                <a:solidFill>
                  <a:srgbClr val="17222C"/>
                </a:solidFill>
                <a:latin typeface="Arial" pitchFamily="34" charset="0"/>
                <a:ea typeface="Arial" pitchFamily="34" charset="-122"/>
                <a:cs typeface="Arial" pitchFamily="34" charset="-120"/>
              </a:rPr>
              <a:t>Comment absorber</a:t>
            </a:r>
            <a:endParaRPr lang="en-US" sz="1600" dirty="0"/>
          </a:p>
          <a:p>
            <a:pPr indent="0" marL="0">
              <a:lnSpc>
                <a:spcPts val="2200"/>
              </a:lnSpc>
              <a:buNone/>
            </a:pPr>
            <a:r>
              <a:rPr lang="en-US" sz="1600" b="1" dirty="0">
                <a:solidFill>
                  <a:srgbClr val="17222C"/>
                </a:solidFill>
                <a:latin typeface="Arial" pitchFamily="34" charset="0"/>
                <a:ea typeface="Arial" pitchFamily="34" charset="-122"/>
                <a:cs typeface="Arial" pitchFamily="34" charset="-120"/>
              </a:rPr>
              <a:t>un pic de trafic ?</a:t>
            </a:r>
            <a:endParaRPr lang="en-US" sz="1600" dirty="0"/>
          </a:p>
        </p:txBody>
      </p:sp>
      <p:sp>
        <p:nvSpPr>
          <p:cNvPr id="13" name="Text 11"/>
          <p:cNvSpPr txBox="1"/>
          <p:nvPr/>
        </p:nvSpPr>
        <p:spPr>
          <a:xfrm>
            <a:off x="4608576" y="3401568"/>
            <a:ext cx="2971800" cy="868680"/>
          </a:xfrm>
          <a:prstGeom prst="rect">
            <a:avLst/>
          </a:prstGeom>
          <a:noFill/>
          <a:ln/>
        </p:spPr>
        <p:txBody>
          <a:bodyPr wrap="square" lIns="0" tIns="0" rIns="0" bIns="0" rtlCol="0" anchor="ctr"/>
          <a:lstStyle/>
          <a:p>
            <a:pPr indent="0" marL="0">
              <a:buNone/>
            </a:pPr>
            <a:r>
              <a:rPr lang="en-US" sz="1350" dirty="0">
                <a:solidFill>
                  <a:srgbClr val="5C6B7A"/>
                </a:solidFill>
                <a:latin typeface="Calibri" pitchFamily="34" charset="0"/>
                <a:ea typeface="Calibri" pitchFamily="34" charset="-122"/>
                <a:cs typeface="Calibri" pitchFamily="34" charset="-120"/>
              </a:rPr>
              <a:t>Les serveurs ne stockent aucune donnée. On peut donc en ajouter à la demande.</a:t>
            </a:r>
            <a:endParaRPr lang="en-US" sz="1350" dirty="0"/>
          </a:p>
        </p:txBody>
      </p:sp>
      <p:sp>
        <p:nvSpPr>
          <p:cNvPr id="14" name="Shape 12"/>
          <p:cNvSpPr/>
          <p:nvPr/>
        </p:nvSpPr>
        <p:spPr>
          <a:xfrm>
            <a:off x="8101584" y="1691640"/>
            <a:ext cx="3520440" cy="2743200"/>
          </a:xfrm>
          <a:prstGeom prst="roundRect">
            <a:avLst>
              <a:gd name="adj" fmla="val 2000"/>
            </a:avLst>
          </a:prstGeom>
          <a:solidFill>
            <a:srgbClr val="F2F5F7"/>
          </a:solidFill>
          <a:ln w="9525">
            <a:solidFill>
              <a:srgbClr val="D3DBE3"/>
            </a:solidFill>
            <a:prstDash val="solid"/>
          </a:ln>
        </p:spPr>
      </p:sp>
      <p:sp>
        <p:nvSpPr>
          <p:cNvPr id="15" name="Shape 13"/>
          <p:cNvSpPr/>
          <p:nvPr/>
        </p:nvSpPr>
        <p:spPr>
          <a:xfrm>
            <a:off x="8375904" y="1965960"/>
            <a:ext cx="310896" cy="310896"/>
          </a:xfrm>
          <a:prstGeom prst="ellipse">
            <a:avLst/>
          </a:prstGeom>
          <a:solidFill>
            <a:srgbClr val="E08B1F"/>
          </a:solidFill>
          <a:ln w="12700">
            <a:solidFill>
              <a:srgbClr val="E08B1F"/>
            </a:solidFill>
            <a:prstDash val="solid"/>
          </a:ln>
        </p:spPr>
      </p:sp>
      <p:sp>
        <p:nvSpPr>
          <p:cNvPr id="16" name="Text 14"/>
          <p:cNvSpPr txBox="1"/>
          <p:nvPr/>
        </p:nvSpPr>
        <p:spPr>
          <a:xfrm>
            <a:off x="8375904" y="196596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17" name="Text 15"/>
          <p:cNvSpPr txBox="1"/>
          <p:nvPr/>
        </p:nvSpPr>
        <p:spPr>
          <a:xfrm>
            <a:off x="8375904" y="2450592"/>
            <a:ext cx="2971800" cy="868680"/>
          </a:xfrm>
          <a:prstGeom prst="rect">
            <a:avLst/>
          </a:prstGeom>
          <a:noFill/>
          <a:ln/>
        </p:spPr>
        <p:txBody>
          <a:bodyPr wrap="square" lIns="0" tIns="0" rIns="0" bIns="0" rtlCol="0" anchor="ctr"/>
          <a:lstStyle/>
          <a:p>
            <a:pPr indent="0" marL="0">
              <a:lnSpc>
                <a:spcPts val="2200"/>
              </a:lnSpc>
              <a:buNone/>
            </a:pPr>
            <a:r>
              <a:rPr lang="en-US" sz="1600" b="1" dirty="0">
                <a:solidFill>
                  <a:srgbClr val="17222C"/>
                </a:solidFill>
                <a:latin typeface="Arial" pitchFamily="34" charset="0"/>
                <a:ea typeface="Arial" pitchFamily="34" charset="-122"/>
                <a:cs typeface="Arial" pitchFamily="34" charset="-120"/>
              </a:rPr>
              <a:t>Que se passe-t-il</a:t>
            </a:r>
            <a:endParaRPr lang="en-US" sz="1600" dirty="0"/>
          </a:p>
          <a:p>
            <a:pPr indent="0" marL="0">
              <a:lnSpc>
                <a:spcPts val="2200"/>
              </a:lnSpc>
              <a:buNone/>
            </a:pPr>
            <a:r>
              <a:rPr lang="en-US" sz="1600" b="1" dirty="0">
                <a:solidFill>
                  <a:srgbClr val="17222C"/>
                </a:solidFill>
                <a:latin typeface="Arial" pitchFamily="34" charset="0"/>
                <a:ea typeface="Arial" pitchFamily="34" charset="-122"/>
                <a:cs typeface="Arial" pitchFamily="34" charset="-120"/>
              </a:rPr>
              <a:t>en cas de panne ?</a:t>
            </a:r>
            <a:endParaRPr lang="en-US" sz="1600" dirty="0"/>
          </a:p>
        </p:txBody>
      </p:sp>
      <p:sp>
        <p:nvSpPr>
          <p:cNvPr id="18" name="Text 16"/>
          <p:cNvSpPr txBox="1"/>
          <p:nvPr/>
        </p:nvSpPr>
        <p:spPr>
          <a:xfrm>
            <a:off x="8375904" y="3401568"/>
            <a:ext cx="2971800" cy="868680"/>
          </a:xfrm>
          <a:prstGeom prst="rect">
            <a:avLst/>
          </a:prstGeom>
          <a:noFill/>
          <a:ln/>
        </p:spPr>
        <p:txBody>
          <a:bodyPr wrap="square" lIns="0" tIns="0" rIns="0" bIns="0" rtlCol="0" anchor="ctr"/>
          <a:lstStyle/>
          <a:p>
            <a:pPr indent="0" marL="0">
              <a:buNone/>
            </a:pPr>
            <a:r>
              <a:rPr lang="en-US" sz="1350" dirty="0">
                <a:solidFill>
                  <a:srgbClr val="5C6B7A"/>
                </a:solidFill>
                <a:latin typeface="Calibri" pitchFamily="34" charset="0"/>
                <a:ea typeface="Calibri" pitchFamily="34" charset="-122"/>
                <a:cs typeface="Calibri" pitchFamily="34" charset="-120"/>
              </a:rPr>
              <a:t>Le load balancer retire le serveur en panne. Les autres continuent de répondre.</a:t>
            </a:r>
            <a:endParaRPr lang="en-US" sz="1350" dirty="0"/>
          </a:p>
        </p:txBody>
      </p:sp>
      <p:sp>
        <p:nvSpPr>
          <p:cNvPr id="19" name="Text 17"/>
          <p:cNvSpPr txBox="1"/>
          <p:nvPr/>
        </p:nvSpPr>
        <p:spPr>
          <a:xfrm>
            <a:off x="566928" y="4800600"/>
            <a:ext cx="11055096" cy="365760"/>
          </a:xfrm>
          <a:prstGeom prst="rect">
            <a:avLst/>
          </a:prstGeom>
          <a:noFill/>
          <a:ln/>
        </p:spPr>
        <p:txBody>
          <a:bodyPr wrap="square" lIns="0" tIns="0" rIns="0" bIns="0" rtlCol="0" anchor="ctr"/>
          <a:lstStyle/>
          <a:p>
            <a:pPr indent="0" marL="0">
              <a:buNone/>
            </a:pPr>
            <a:r>
              <a:rPr lang="en-US" sz="1500" b="1" dirty="0">
                <a:solidFill>
                  <a:srgbClr val="9E5D06"/>
                </a:solidFill>
                <a:latin typeface="Calibri" pitchFamily="34" charset="0"/>
                <a:ea typeface="Calibri" pitchFamily="34" charset="-122"/>
                <a:cs typeface="Calibri" pitchFamily="34" charset="-120"/>
              </a:rPr>
              <a:t>Chaque choix présenté ensuite répond à l'une de ces trois questions.</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66928" y="384048"/>
            <a:ext cx="11055096" cy="274320"/>
          </a:xfrm>
          <a:prstGeom prst="rect">
            <a:avLst/>
          </a:prstGeom>
          <a:noFill/>
          <a:ln/>
        </p:spPr>
        <p:txBody>
          <a:bodyPr wrap="square" lIns="0" tIns="0" rIns="0" bIns="0" rtlCol="0" anchor="ctr"/>
          <a:lstStyle/>
          <a:p>
            <a:pPr indent="0" marL="0">
              <a:buNone/>
            </a:pPr>
            <a:r>
              <a:rPr lang="en-US" sz="1100" spc="200" kern="0" dirty="0">
                <a:solidFill>
                  <a:srgbClr val="9E5D06"/>
                </a:solidFill>
                <a:latin typeface="Courier New" pitchFamily="34" charset="0"/>
                <a:ea typeface="Courier New" pitchFamily="34" charset="-122"/>
                <a:cs typeface="Courier New" pitchFamily="34" charset="-120"/>
              </a:rPr>
              <a:t>02 — ARCHITECTURE</a:t>
            </a:r>
            <a:endParaRPr lang="en-US" sz="1100" dirty="0"/>
          </a:p>
        </p:txBody>
      </p:sp>
      <p:sp>
        <p:nvSpPr>
          <p:cNvPr id="3" name="Text 1"/>
          <p:cNvSpPr txBox="1"/>
          <p:nvPr/>
        </p:nvSpPr>
        <p:spPr>
          <a:xfrm>
            <a:off x="566928" y="694944"/>
            <a:ext cx="11055096" cy="658368"/>
          </a:xfrm>
          <a:prstGeom prst="rect">
            <a:avLst/>
          </a:prstGeom>
          <a:noFill/>
          <a:ln/>
        </p:spPr>
        <p:txBody>
          <a:bodyPr wrap="square" lIns="0" tIns="0" rIns="0" bIns="0" rtlCol="0" anchor="ctr"/>
          <a:lstStyle/>
          <a:p>
            <a:pPr indent="0" marL="0">
              <a:buNone/>
            </a:pPr>
            <a:r>
              <a:rPr lang="en-US" sz="3000" b="1" dirty="0">
                <a:solidFill>
                  <a:srgbClr val="17222C"/>
                </a:solidFill>
                <a:latin typeface="Arial" pitchFamily="34" charset="0"/>
                <a:ea typeface="Arial" pitchFamily="34" charset="-122"/>
                <a:cs typeface="Arial" pitchFamily="34" charset="-120"/>
              </a:rPr>
              <a:t>Trois niveaux de réseau, deux zones de disponibilité</a:t>
            </a:r>
            <a:endParaRPr lang="en-US" sz="3000" dirty="0"/>
          </a:p>
        </p:txBody>
      </p:sp>
      <p:sp>
        <p:nvSpPr>
          <p:cNvPr id="4" name="Shape 2"/>
          <p:cNvSpPr/>
          <p:nvPr/>
        </p:nvSpPr>
        <p:spPr>
          <a:xfrm>
            <a:off x="1600200" y="1956816"/>
            <a:ext cx="9966960" cy="1051560"/>
          </a:xfrm>
          <a:prstGeom prst="roundRect">
            <a:avLst>
              <a:gd name="adj" fmla="val 2609"/>
            </a:avLst>
          </a:prstGeom>
          <a:solidFill>
            <a:srgbClr val="F2F5F7"/>
          </a:solidFill>
          <a:ln w="9525">
            <a:solidFill>
              <a:srgbClr val="D3DBE3"/>
            </a:solidFill>
            <a:prstDash val="solid"/>
          </a:ln>
        </p:spPr>
      </p:sp>
      <p:sp>
        <p:nvSpPr>
          <p:cNvPr id="5" name="Text 3"/>
          <p:cNvSpPr txBox="1"/>
          <p:nvPr/>
        </p:nvSpPr>
        <p:spPr>
          <a:xfrm>
            <a:off x="521208" y="2208276"/>
            <a:ext cx="1051560" cy="548640"/>
          </a:xfrm>
          <a:prstGeom prst="rect">
            <a:avLst/>
          </a:prstGeom>
          <a:noFill/>
          <a:ln/>
        </p:spPr>
        <p:txBody>
          <a:bodyPr wrap="square" lIns="0" tIns="0" rIns="0" bIns="0" rtlCol="0" anchor="ctr"/>
          <a:lstStyle/>
          <a:p>
            <a:pPr algn="r" indent="0" marL="0">
              <a:buNone/>
            </a:pPr>
            <a:r>
              <a:rPr lang="en-US" sz="850" dirty="0">
                <a:solidFill>
                  <a:srgbClr val="5C6B7A"/>
                </a:solidFill>
                <a:latin typeface="Courier New" pitchFamily="34" charset="0"/>
                <a:ea typeface="Courier New" pitchFamily="34" charset="-122"/>
                <a:cs typeface="Courier New" pitchFamily="34" charset="-120"/>
              </a:rPr>
              <a:t>RÉSEAU</a:t>
            </a:r>
            <a:endParaRPr lang="en-US" sz="850" dirty="0"/>
          </a:p>
          <a:p>
            <a:pPr algn="r" indent="0" marL="0">
              <a:buNone/>
            </a:pPr>
            <a:r>
              <a:rPr lang="en-US" sz="850" dirty="0">
                <a:solidFill>
                  <a:srgbClr val="5C6B7A"/>
                </a:solidFill>
                <a:latin typeface="Courier New" pitchFamily="34" charset="0"/>
                <a:ea typeface="Courier New" pitchFamily="34" charset="-122"/>
                <a:cs typeface="Courier New" pitchFamily="34" charset="-120"/>
              </a:rPr>
              <a:t>PUBLIC</a:t>
            </a:r>
            <a:endParaRPr lang="en-US" sz="850" dirty="0"/>
          </a:p>
        </p:txBody>
      </p:sp>
      <p:sp>
        <p:nvSpPr>
          <p:cNvPr id="6" name="Shape 4"/>
          <p:cNvSpPr/>
          <p:nvPr/>
        </p:nvSpPr>
        <p:spPr>
          <a:xfrm>
            <a:off x="1600200" y="3355848"/>
            <a:ext cx="9966960" cy="1051560"/>
          </a:xfrm>
          <a:prstGeom prst="roundRect">
            <a:avLst>
              <a:gd name="adj" fmla="val 2609"/>
            </a:avLst>
          </a:prstGeom>
          <a:solidFill>
            <a:srgbClr val="F2F5F7"/>
          </a:solidFill>
          <a:ln w="9525">
            <a:solidFill>
              <a:srgbClr val="D3DBE3"/>
            </a:solidFill>
            <a:prstDash val="solid"/>
          </a:ln>
        </p:spPr>
      </p:sp>
      <p:sp>
        <p:nvSpPr>
          <p:cNvPr id="7" name="Text 5"/>
          <p:cNvSpPr txBox="1"/>
          <p:nvPr/>
        </p:nvSpPr>
        <p:spPr>
          <a:xfrm>
            <a:off x="521208" y="3607308"/>
            <a:ext cx="1051560" cy="548640"/>
          </a:xfrm>
          <a:prstGeom prst="rect">
            <a:avLst/>
          </a:prstGeom>
          <a:noFill/>
          <a:ln/>
        </p:spPr>
        <p:txBody>
          <a:bodyPr wrap="square" lIns="0" tIns="0" rIns="0" bIns="0" rtlCol="0" anchor="ctr"/>
          <a:lstStyle/>
          <a:p>
            <a:pPr algn="r" indent="0" marL="0">
              <a:buNone/>
            </a:pPr>
            <a:r>
              <a:rPr lang="en-US" sz="850" dirty="0">
                <a:solidFill>
                  <a:srgbClr val="5C6B7A"/>
                </a:solidFill>
                <a:latin typeface="Courier New" pitchFamily="34" charset="0"/>
                <a:ea typeface="Courier New" pitchFamily="34" charset="-122"/>
                <a:cs typeface="Courier New" pitchFamily="34" charset="-120"/>
              </a:rPr>
              <a:t>RÉSEAU PRIVÉ</a:t>
            </a:r>
            <a:endParaRPr lang="en-US" sz="850" dirty="0"/>
          </a:p>
          <a:p>
            <a:pPr algn="r" indent="0" marL="0">
              <a:buNone/>
            </a:pPr>
            <a:r>
              <a:rPr lang="en-US" sz="850" dirty="0">
                <a:solidFill>
                  <a:srgbClr val="5C6B7A"/>
                </a:solidFill>
                <a:latin typeface="Courier New" pitchFamily="34" charset="0"/>
                <a:ea typeface="Courier New" pitchFamily="34" charset="-122"/>
                <a:cs typeface="Courier New" pitchFamily="34" charset="-120"/>
              </a:rPr>
              <a:t>APPLICATION</a:t>
            </a:r>
            <a:endParaRPr lang="en-US" sz="850" dirty="0"/>
          </a:p>
        </p:txBody>
      </p:sp>
      <p:sp>
        <p:nvSpPr>
          <p:cNvPr id="8" name="Shape 6"/>
          <p:cNvSpPr/>
          <p:nvPr/>
        </p:nvSpPr>
        <p:spPr>
          <a:xfrm>
            <a:off x="1600200" y="4727448"/>
            <a:ext cx="9966960" cy="1188720"/>
          </a:xfrm>
          <a:prstGeom prst="roundRect">
            <a:avLst>
              <a:gd name="adj" fmla="val 2308"/>
            </a:avLst>
          </a:prstGeom>
          <a:solidFill>
            <a:srgbClr val="F2F5F7"/>
          </a:solidFill>
          <a:ln w="9525">
            <a:solidFill>
              <a:srgbClr val="D3DBE3"/>
            </a:solidFill>
            <a:prstDash val="solid"/>
          </a:ln>
        </p:spPr>
      </p:sp>
      <p:sp>
        <p:nvSpPr>
          <p:cNvPr id="9" name="Text 7"/>
          <p:cNvSpPr txBox="1"/>
          <p:nvPr/>
        </p:nvSpPr>
        <p:spPr>
          <a:xfrm>
            <a:off x="521208" y="5047488"/>
            <a:ext cx="1051560" cy="548640"/>
          </a:xfrm>
          <a:prstGeom prst="rect">
            <a:avLst/>
          </a:prstGeom>
          <a:noFill/>
          <a:ln/>
        </p:spPr>
        <p:txBody>
          <a:bodyPr wrap="square" lIns="0" tIns="0" rIns="0" bIns="0" rtlCol="0" anchor="ctr"/>
          <a:lstStyle/>
          <a:p>
            <a:pPr algn="r" indent="0" marL="0">
              <a:buNone/>
            </a:pPr>
            <a:r>
              <a:rPr lang="en-US" sz="850" dirty="0">
                <a:solidFill>
                  <a:srgbClr val="5C6B7A"/>
                </a:solidFill>
                <a:latin typeface="Courier New" pitchFamily="34" charset="0"/>
                <a:ea typeface="Courier New" pitchFamily="34" charset="-122"/>
                <a:cs typeface="Courier New" pitchFamily="34" charset="-120"/>
              </a:rPr>
              <a:t>RÉSEAU PRIVÉ</a:t>
            </a:r>
            <a:endParaRPr lang="en-US" sz="850" dirty="0"/>
          </a:p>
          <a:p>
            <a:pPr algn="r" indent="0" marL="0">
              <a:buNone/>
            </a:pPr>
            <a:r>
              <a:rPr lang="en-US" sz="850" dirty="0">
                <a:solidFill>
                  <a:srgbClr val="5C6B7A"/>
                </a:solidFill>
                <a:latin typeface="Courier New" pitchFamily="34" charset="0"/>
                <a:ea typeface="Courier New" pitchFamily="34" charset="-122"/>
                <a:cs typeface="Courier New" pitchFamily="34" charset="-120"/>
              </a:rPr>
              <a:t>DONNÉES</a:t>
            </a:r>
            <a:endParaRPr lang="en-US" sz="850" dirty="0"/>
          </a:p>
        </p:txBody>
      </p:sp>
      <p:sp>
        <p:nvSpPr>
          <p:cNvPr id="10" name="Text 8"/>
          <p:cNvSpPr txBox="1"/>
          <p:nvPr/>
        </p:nvSpPr>
        <p:spPr>
          <a:xfrm>
            <a:off x="1874520" y="1554480"/>
            <a:ext cx="1828800" cy="274320"/>
          </a:xfrm>
          <a:prstGeom prst="rect">
            <a:avLst/>
          </a:prstGeom>
          <a:noFill/>
          <a:ln/>
        </p:spPr>
        <p:txBody>
          <a:bodyPr wrap="square" lIns="0" tIns="0" rIns="0" bIns="0" rtlCol="0" anchor="ctr"/>
          <a:lstStyle/>
          <a:p>
            <a:pPr indent="0" marL="0">
              <a:buNone/>
            </a:pPr>
            <a:r>
              <a:rPr lang="en-US" sz="1000" dirty="0">
                <a:solidFill>
                  <a:srgbClr val="5C6B7A"/>
                </a:solidFill>
                <a:latin typeface="Courier New" pitchFamily="34" charset="0"/>
                <a:ea typeface="Courier New" pitchFamily="34" charset="-122"/>
                <a:cs typeface="Courier New" pitchFamily="34" charset="-120"/>
              </a:rPr>
              <a:t>INTERNET</a:t>
            </a:r>
            <a:endParaRPr lang="en-US" sz="1000" dirty="0"/>
          </a:p>
        </p:txBody>
      </p:sp>
      <p:sp>
        <p:nvSpPr>
          <p:cNvPr id="11" name="Shape 9"/>
          <p:cNvSpPr/>
          <p:nvPr/>
        </p:nvSpPr>
        <p:spPr>
          <a:xfrm>
            <a:off x="2286000" y="1810512"/>
            <a:ext cx="0" cy="146304"/>
          </a:xfrm>
          <a:prstGeom prst="line">
            <a:avLst/>
          </a:prstGeom>
          <a:noFill/>
          <a:ln w="19050">
            <a:solidFill>
              <a:srgbClr val="E08B1F"/>
            </a:solidFill>
            <a:prstDash val="solid"/>
          </a:ln>
        </p:spPr>
      </p:sp>
      <p:sp>
        <p:nvSpPr>
          <p:cNvPr id="12" name="Text 10"/>
          <p:cNvSpPr txBox="1"/>
          <p:nvPr/>
        </p:nvSpPr>
        <p:spPr>
          <a:xfrm>
            <a:off x="2468880" y="1737360"/>
            <a:ext cx="1463040" cy="228600"/>
          </a:xfrm>
          <a:prstGeom prst="rect">
            <a:avLst/>
          </a:prstGeom>
          <a:noFill/>
          <a:ln/>
        </p:spPr>
        <p:txBody>
          <a:bodyPr wrap="square" lIns="0" tIns="0" rIns="0" bIns="0" rtlCol="0" anchor="ctr"/>
          <a:lstStyle/>
          <a:p>
            <a:pPr indent="0" marL="0">
              <a:buNone/>
            </a:pPr>
            <a:r>
              <a:rPr lang="en-US" sz="850" dirty="0">
                <a:solidFill>
                  <a:srgbClr val="9E5D06"/>
                </a:solidFill>
                <a:latin typeface="Courier New" pitchFamily="34" charset="0"/>
                <a:ea typeface="Courier New" pitchFamily="34" charset="-122"/>
                <a:cs typeface="Courier New" pitchFamily="34" charset="-120"/>
              </a:rPr>
              <a:t>clients · HTTP</a:t>
            </a:r>
            <a:endParaRPr lang="en-US" sz="850" dirty="0"/>
          </a:p>
        </p:txBody>
      </p:sp>
      <p:sp>
        <p:nvSpPr>
          <p:cNvPr id="13" name="Shape 11"/>
          <p:cNvSpPr/>
          <p:nvPr/>
        </p:nvSpPr>
        <p:spPr>
          <a:xfrm>
            <a:off x="9281160" y="1810512"/>
            <a:ext cx="0" cy="146304"/>
          </a:xfrm>
          <a:prstGeom prst="line">
            <a:avLst/>
          </a:prstGeom>
          <a:noFill/>
          <a:ln w="15875">
            <a:solidFill>
              <a:srgbClr val="5C6B7A"/>
            </a:solidFill>
            <a:prstDash val="dash"/>
          </a:ln>
        </p:spPr>
      </p:sp>
      <p:sp>
        <p:nvSpPr>
          <p:cNvPr id="14" name="Text 12"/>
          <p:cNvSpPr txBox="1"/>
          <p:nvPr/>
        </p:nvSpPr>
        <p:spPr>
          <a:xfrm>
            <a:off x="9464040" y="1737360"/>
            <a:ext cx="2377440" cy="228600"/>
          </a:xfrm>
          <a:prstGeom prst="rect">
            <a:avLst/>
          </a:prstGeom>
          <a:noFill/>
          <a:ln/>
        </p:spPr>
        <p:txBody>
          <a:bodyPr wrap="square" lIns="0" tIns="0" rIns="0" bIns="0" rtlCol="0" anchor="ctr"/>
          <a:lstStyle/>
          <a:p>
            <a:pPr indent="0" marL="0">
              <a:buNone/>
            </a:pPr>
            <a:r>
              <a:rPr lang="en-US" sz="850" dirty="0">
                <a:solidFill>
                  <a:srgbClr val="5C6B7A"/>
                </a:solidFill>
                <a:latin typeface="Courier New" pitchFamily="34" charset="0"/>
                <a:ea typeface="Courier New" pitchFamily="34" charset="-122"/>
                <a:cs typeface="Courier New" pitchFamily="34" charset="-120"/>
              </a:rPr>
              <a:t>administration · SSH, notre IP</a:t>
            </a:r>
            <a:endParaRPr lang="en-US" sz="850" dirty="0"/>
          </a:p>
        </p:txBody>
      </p:sp>
      <p:sp>
        <p:nvSpPr>
          <p:cNvPr id="15" name="Shape 13"/>
          <p:cNvSpPr/>
          <p:nvPr/>
        </p:nvSpPr>
        <p:spPr>
          <a:xfrm>
            <a:off x="1856232" y="2103120"/>
            <a:ext cx="4572000" cy="749808"/>
          </a:xfrm>
          <a:prstGeom prst="roundRect">
            <a:avLst>
              <a:gd name="adj" fmla="val 7317"/>
            </a:avLst>
          </a:prstGeom>
          <a:solidFill>
            <a:srgbClr val="FFFFFF"/>
          </a:solidFill>
          <a:ln w="9525">
            <a:solidFill>
              <a:srgbClr val="E08B1F"/>
            </a:solidFill>
            <a:prstDash val="solid"/>
          </a:ln>
        </p:spPr>
      </p:sp>
      <p:sp>
        <p:nvSpPr>
          <p:cNvPr id="16" name="Text 14"/>
          <p:cNvSpPr txBox="1"/>
          <p:nvPr/>
        </p:nvSpPr>
        <p:spPr>
          <a:xfrm>
            <a:off x="2011680" y="2194560"/>
            <a:ext cx="4297680" cy="274320"/>
          </a:xfrm>
          <a:prstGeom prst="rect">
            <a:avLst/>
          </a:prstGeom>
          <a:noFill/>
          <a:ln/>
        </p:spPr>
        <p:txBody>
          <a:bodyPr wrap="square" lIns="0" tIns="0" rIns="0" bIns="0" rtlCol="0" anchor="ctr"/>
          <a:lstStyle/>
          <a:p>
            <a:pPr indent="0" marL="0">
              <a:buNone/>
            </a:pPr>
            <a:r>
              <a:rPr lang="en-US" sz="1350" b="1" dirty="0">
                <a:solidFill>
                  <a:srgbClr val="17222C"/>
                </a:solidFill>
                <a:latin typeface="Arial" pitchFamily="34" charset="0"/>
                <a:ea typeface="Arial" pitchFamily="34" charset="-122"/>
                <a:cs typeface="Arial" pitchFamily="34" charset="-120"/>
              </a:rPr>
              <a:t>Load balancer</a:t>
            </a:r>
            <a:endParaRPr lang="en-US" sz="1350" dirty="0"/>
          </a:p>
        </p:txBody>
      </p:sp>
      <p:sp>
        <p:nvSpPr>
          <p:cNvPr id="17" name="Text 15"/>
          <p:cNvSpPr txBox="1"/>
          <p:nvPr/>
        </p:nvSpPr>
        <p:spPr>
          <a:xfrm>
            <a:off x="2011680" y="2487168"/>
            <a:ext cx="4297680" cy="274320"/>
          </a:xfrm>
          <a:prstGeom prst="rect">
            <a:avLst/>
          </a:prstGeom>
          <a:noFill/>
          <a:ln/>
        </p:spPr>
        <p:txBody>
          <a:bodyPr wrap="square" lIns="0" tIns="0" rIns="0" bIns="0" rtlCol="0" anchor="ctr"/>
          <a:lstStyle/>
          <a:p>
            <a:pPr indent="0" marL="0">
              <a:buNone/>
            </a:pPr>
            <a:r>
              <a:rPr lang="en-US" sz="1100" dirty="0">
                <a:solidFill>
                  <a:srgbClr val="5C6B7A"/>
                </a:solidFill>
                <a:latin typeface="Calibri" pitchFamily="34" charset="0"/>
                <a:ea typeface="Calibri" pitchFamily="34" charset="-122"/>
                <a:cs typeface="Calibri" pitchFamily="34" charset="-120"/>
              </a:rPr>
              <a:t>répartit les requêtes · vérifie chaque serveur toutes les 15 s</a:t>
            </a:r>
            <a:endParaRPr lang="en-US" sz="1100" dirty="0"/>
          </a:p>
        </p:txBody>
      </p:sp>
      <p:sp>
        <p:nvSpPr>
          <p:cNvPr id="18" name="Shape 16"/>
          <p:cNvSpPr/>
          <p:nvPr/>
        </p:nvSpPr>
        <p:spPr>
          <a:xfrm>
            <a:off x="8366760" y="2103120"/>
            <a:ext cx="2926080" cy="749808"/>
          </a:xfrm>
          <a:prstGeom prst="roundRect">
            <a:avLst>
              <a:gd name="adj" fmla="val 7317"/>
            </a:avLst>
          </a:prstGeom>
          <a:solidFill>
            <a:srgbClr val="FFFFFF"/>
          </a:solidFill>
          <a:ln w="9525">
            <a:solidFill>
              <a:srgbClr val="B4C0CC"/>
            </a:solidFill>
            <a:prstDash val="solid"/>
          </a:ln>
        </p:spPr>
      </p:sp>
      <p:sp>
        <p:nvSpPr>
          <p:cNvPr id="19" name="Text 17"/>
          <p:cNvSpPr txBox="1"/>
          <p:nvPr/>
        </p:nvSpPr>
        <p:spPr>
          <a:xfrm>
            <a:off x="8531352" y="2194560"/>
            <a:ext cx="2651760" cy="274320"/>
          </a:xfrm>
          <a:prstGeom prst="rect">
            <a:avLst/>
          </a:prstGeom>
          <a:noFill/>
          <a:ln/>
        </p:spPr>
        <p:txBody>
          <a:bodyPr wrap="square" lIns="0" tIns="0" rIns="0" bIns="0" rtlCol="0" anchor="ctr"/>
          <a:lstStyle/>
          <a:p>
            <a:pPr indent="0" marL="0">
              <a:buNone/>
            </a:pPr>
            <a:r>
              <a:rPr lang="en-US" sz="1350" b="1" dirty="0">
                <a:solidFill>
                  <a:srgbClr val="17222C"/>
                </a:solidFill>
                <a:latin typeface="Arial" pitchFamily="34" charset="0"/>
                <a:ea typeface="Arial" pitchFamily="34" charset="-122"/>
                <a:cs typeface="Arial" pitchFamily="34" charset="-120"/>
              </a:rPr>
              <a:t>Bastion</a:t>
            </a:r>
            <a:endParaRPr lang="en-US" sz="1350" dirty="0"/>
          </a:p>
        </p:txBody>
      </p:sp>
      <p:sp>
        <p:nvSpPr>
          <p:cNvPr id="20" name="Text 18"/>
          <p:cNvSpPr txBox="1"/>
          <p:nvPr/>
        </p:nvSpPr>
        <p:spPr>
          <a:xfrm>
            <a:off x="8531352" y="2487168"/>
            <a:ext cx="2651760" cy="274320"/>
          </a:xfrm>
          <a:prstGeom prst="rect">
            <a:avLst/>
          </a:prstGeom>
          <a:noFill/>
          <a:ln/>
        </p:spPr>
        <p:txBody>
          <a:bodyPr wrap="square" lIns="0" tIns="0" rIns="0" bIns="0" rtlCol="0" anchor="ctr"/>
          <a:lstStyle/>
          <a:p>
            <a:pPr indent="0" marL="0">
              <a:buNone/>
            </a:pPr>
            <a:r>
              <a:rPr lang="en-US" sz="1100" dirty="0">
                <a:solidFill>
                  <a:srgbClr val="5C6B7A"/>
                </a:solidFill>
                <a:latin typeface="Calibri" pitchFamily="34" charset="0"/>
                <a:ea typeface="Calibri" pitchFamily="34" charset="-122"/>
                <a:cs typeface="Calibri" pitchFamily="34" charset="-120"/>
              </a:rPr>
              <a:t>accès SSH pour Ansible uniquement</a:t>
            </a:r>
            <a:endParaRPr lang="en-US" sz="1100" dirty="0"/>
          </a:p>
        </p:txBody>
      </p:sp>
      <p:sp>
        <p:nvSpPr>
          <p:cNvPr id="21" name="Shape 19"/>
          <p:cNvSpPr/>
          <p:nvPr/>
        </p:nvSpPr>
        <p:spPr>
          <a:xfrm>
            <a:off x="3794760" y="2871216"/>
            <a:ext cx="0" cy="457200"/>
          </a:xfrm>
          <a:prstGeom prst="line">
            <a:avLst/>
          </a:prstGeom>
          <a:noFill/>
          <a:ln w="22225">
            <a:solidFill>
              <a:srgbClr val="E08B1F"/>
            </a:solidFill>
            <a:prstDash val="solid"/>
            <a:tailEnd type="triangle"/>
          </a:ln>
        </p:spPr>
      </p:sp>
      <p:sp>
        <p:nvSpPr>
          <p:cNvPr id="22" name="Text 20"/>
          <p:cNvSpPr txBox="1"/>
          <p:nvPr/>
        </p:nvSpPr>
        <p:spPr>
          <a:xfrm>
            <a:off x="3931920" y="2944368"/>
            <a:ext cx="1005840" cy="228600"/>
          </a:xfrm>
          <a:prstGeom prst="rect">
            <a:avLst/>
          </a:prstGeom>
          <a:noFill/>
          <a:ln/>
        </p:spPr>
        <p:txBody>
          <a:bodyPr wrap="square" lIns="0" tIns="0" rIns="0" bIns="0" rtlCol="0" anchor="ctr"/>
          <a:lstStyle/>
          <a:p>
            <a:pPr indent="0" marL="0">
              <a:buNone/>
            </a:pPr>
            <a:r>
              <a:rPr lang="en-US" sz="900" dirty="0">
                <a:solidFill>
                  <a:srgbClr val="9E5D06"/>
                </a:solidFill>
                <a:latin typeface="Courier New" pitchFamily="34" charset="0"/>
                <a:ea typeface="Courier New" pitchFamily="34" charset="-122"/>
                <a:cs typeface="Courier New" pitchFamily="34" charset="-120"/>
              </a:rPr>
              <a:t>port 80</a:t>
            </a:r>
            <a:endParaRPr lang="en-US" sz="900" dirty="0"/>
          </a:p>
        </p:txBody>
      </p:sp>
      <p:sp>
        <p:nvSpPr>
          <p:cNvPr id="23" name="Shape 21"/>
          <p:cNvSpPr/>
          <p:nvPr/>
        </p:nvSpPr>
        <p:spPr>
          <a:xfrm>
            <a:off x="9829800" y="2871216"/>
            <a:ext cx="0" cy="457200"/>
          </a:xfrm>
          <a:prstGeom prst="line">
            <a:avLst/>
          </a:prstGeom>
          <a:noFill/>
          <a:ln w="15875">
            <a:solidFill>
              <a:srgbClr val="5C6B7A"/>
            </a:solidFill>
            <a:prstDash val="dash"/>
            <a:tailEnd type="triangle"/>
          </a:ln>
        </p:spPr>
      </p:sp>
      <p:sp>
        <p:nvSpPr>
          <p:cNvPr id="24" name="Text 22"/>
          <p:cNvSpPr txBox="1"/>
          <p:nvPr/>
        </p:nvSpPr>
        <p:spPr>
          <a:xfrm>
            <a:off x="9966960" y="2944368"/>
            <a:ext cx="1005840" cy="228600"/>
          </a:xfrm>
          <a:prstGeom prst="rect">
            <a:avLst/>
          </a:prstGeom>
          <a:noFill/>
          <a:ln/>
        </p:spPr>
        <p:txBody>
          <a:bodyPr wrap="square" lIns="0" tIns="0" rIns="0" bIns="0" rtlCol="0" anchor="ctr"/>
          <a:lstStyle/>
          <a:p>
            <a:pPr indent="0" marL="0">
              <a:buNone/>
            </a:pPr>
            <a:r>
              <a:rPr lang="en-US" sz="900" dirty="0">
                <a:solidFill>
                  <a:srgbClr val="5C6B7A"/>
                </a:solidFill>
                <a:latin typeface="Courier New" pitchFamily="34" charset="0"/>
                <a:ea typeface="Courier New" pitchFamily="34" charset="-122"/>
                <a:cs typeface="Courier New" pitchFamily="34" charset="-120"/>
              </a:rPr>
              <a:t>port 22</a:t>
            </a:r>
            <a:endParaRPr lang="en-US" sz="900" dirty="0"/>
          </a:p>
        </p:txBody>
      </p:sp>
      <p:sp>
        <p:nvSpPr>
          <p:cNvPr id="25" name="Shape 23"/>
          <p:cNvSpPr/>
          <p:nvPr/>
        </p:nvSpPr>
        <p:spPr>
          <a:xfrm>
            <a:off x="1856232" y="3511296"/>
            <a:ext cx="9418320" cy="749808"/>
          </a:xfrm>
          <a:prstGeom prst="roundRect">
            <a:avLst>
              <a:gd name="adj" fmla="val 7317"/>
            </a:avLst>
          </a:prstGeom>
          <a:solidFill>
            <a:srgbClr val="FFFFFF"/>
          </a:solidFill>
          <a:ln w="9525">
            <a:solidFill>
              <a:srgbClr val="B4C0CC"/>
            </a:solidFill>
            <a:prstDash val="solid"/>
          </a:ln>
        </p:spPr>
      </p:sp>
      <p:sp>
        <p:nvSpPr>
          <p:cNvPr id="26" name="Text 24"/>
          <p:cNvSpPr txBox="1"/>
          <p:nvPr/>
        </p:nvSpPr>
        <p:spPr>
          <a:xfrm>
            <a:off x="2011680" y="3584448"/>
            <a:ext cx="9052560" cy="274320"/>
          </a:xfrm>
          <a:prstGeom prst="rect">
            <a:avLst/>
          </a:prstGeom>
          <a:noFill/>
          <a:ln/>
        </p:spPr>
        <p:txBody>
          <a:bodyPr wrap="square" lIns="0" tIns="0" rIns="0" bIns="0" rtlCol="0" anchor="ctr"/>
          <a:lstStyle/>
          <a:p>
            <a:pPr indent="0" marL="0">
              <a:buNone/>
            </a:pPr>
            <a:r>
              <a:rPr lang="en-US" sz="1350" b="1" dirty="0">
                <a:solidFill>
                  <a:srgbClr val="17222C"/>
                </a:solidFill>
                <a:latin typeface="Arial" pitchFamily="34" charset="0"/>
                <a:ea typeface="Arial" pitchFamily="34" charset="-122"/>
                <a:cs typeface="Arial" pitchFamily="34" charset="-120"/>
              </a:rPr>
              <a:t>Serveurs EC2  —  conteneur Docker PrestaShop</a:t>
            </a:r>
            <a:endParaRPr lang="en-US" sz="1350" dirty="0"/>
          </a:p>
        </p:txBody>
      </p:sp>
      <p:sp>
        <p:nvSpPr>
          <p:cNvPr id="27" name="Text 25"/>
          <p:cNvSpPr txBox="1"/>
          <p:nvPr/>
        </p:nvSpPr>
        <p:spPr>
          <a:xfrm>
            <a:off x="2011680" y="3877056"/>
            <a:ext cx="9052560" cy="274320"/>
          </a:xfrm>
          <a:prstGeom prst="rect">
            <a:avLst/>
          </a:prstGeom>
          <a:noFill/>
          <a:ln/>
        </p:spPr>
        <p:txBody>
          <a:bodyPr wrap="square" lIns="0" tIns="0" rIns="0" bIns="0" rtlCol="0" anchor="ctr"/>
          <a:lstStyle/>
          <a:p>
            <a:pPr indent="0" marL="0">
              <a:buNone/>
            </a:pPr>
            <a:r>
              <a:rPr lang="en-US" sz="1100" dirty="0">
                <a:solidFill>
                  <a:srgbClr val="5C6B7A"/>
                </a:solidFill>
                <a:latin typeface="Calibri" pitchFamily="34" charset="0"/>
                <a:ea typeface="Calibri" pitchFamily="34" charset="-122"/>
                <a:cs typeface="Calibri" pitchFamily="34" charset="-120"/>
              </a:rPr>
              <a:t>identiques · répartis sur les zones · aucune adresse IP publique</a:t>
            </a:r>
            <a:endParaRPr lang="en-US" sz="1100" dirty="0"/>
          </a:p>
        </p:txBody>
      </p:sp>
      <p:sp>
        <p:nvSpPr>
          <p:cNvPr id="28" name="Shape 26"/>
          <p:cNvSpPr/>
          <p:nvPr/>
        </p:nvSpPr>
        <p:spPr>
          <a:xfrm>
            <a:off x="3794760" y="4279392"/>
            <a:ext cx="0" cy="420624"/>
          </a:xfrm>
          <a:prstGeom prst="line">
            <a:avLst/>
          </a:prstGeom>
          <a:noFill/>
          <a:ln w="22225">
            <a:solidFill>
              <a:srgbClr val="0C6A72"/>
            </a:solidFill>
            <a:prstDash val="solid"/>
            <a:tailEnd type="triangle"/>
          </a:ln>
        </p:spPr>
      </p:sp>
      <p:sp>
        <p:nvSpPr>
          <p:cNvPr id="29" name="Text 27"/>
          <p:cNvSpPr txBox="1"/>
          <p:nvPr/>
        </p:nvSpPr>
        <p:spPr>
          <a:xfrm>
            <a:off x="3931920" y="4334256"/>
            <a:ext cx="1188720" cy="228600"/>
          </a:xfrm>
          <a:prstGeom prst="rect">
            <a:avLst/>
          </a:prstGeom>
          <a:noFill/>
          <a:ln/>
        </p:spPr>
        <p:txBody>
          <a:bodyPr wrap="square" lIns="0" tIns="0" rIns="0" bIns="0" rtlCol="0" anchor="ctr"/>
          <a:lstStyle/>
          <a:p>
            <a:pPr indent="0" marL="0">
              <a:buNone/>
            </a:pPr>
            <a:r>
              <a:rPr lang="en-US" sz="900" dirty="0">
                <a:solidFill>
                  <a:srgbClr val="0C6A72"/>
                </a:solidFill>
                <a:latin typeface="Courier New" pitchFamily="34" charset="0"/>
                <a:ea typeface="Courier New" pitchFamily="34" charset="-122"/>
                <a:cs typeface="Courier New" pitchFamily="34" charset="-120"/>
              </a:rPr>
              <a:t>port 3306</a:t>
            </a:r>
            <a:endParaRPr lang="en-US" sz="900" dirty="0"/>
          </a:p>
        </p:txBody>
      </p:sp>
      <p:sp>
        <p:nvSpPr>
          <p:cNvPr id="30" name="Shape 28"/>
          <p:cNvSpPr/>
          <p:nvPr/>
        </p:nvSpPr>
        <p:spPr>
          <a:xfrm>
            <a:off x="8915400" y="4279392"/>
            <a:ext cx="0" cy="420624"/>
          </a:xfrm>
          <a:prstGeom prst="line">
            <a:avLst/>
          </a:prstGeom>
          <a:noFill/>
          <a:ln w="22225">
            <a:solidFill>
              <a:srgbClr val="0C6A72"/>
            </a:solidFill>
            <a:prstDash val="solid"/>
            <a:tailEnd type="triangle"/>
          </a:ln>
        </p:spPr>
      </p:sp>
      <p:sp>
        <p:nvSpPr>
          <p:cNvPr id="31" name="Text 29"/>
          <p:cNvSpPr txBox="1"/>
          <p:nvPr/>
        </p:nvSpPr>
        <p:spPr>
          <a:xfrm>
            <a:off x="9052560" y="4334256"/>
            <a:ext cx="1188720" cy="228600"/>
          </a:xfrm>
          <a:prstGeom prst="rect">
            <a:avLst/>
          </a:prstGeom>
          <a:noFill/>
          <a:ln/>
        </p:spPr>
        <p:txBody>
          <a:bodyPr wrap="square" lIns="0" tIns="0" rIns="0" bIns="0" rtlCol="0" anchor="ctr"/>
          <a:lstStyle/>
          <a:p>
            <a:pPr indent="0" marL="0">
              <a:buNone/>
            </a:pPr>
            <a:r>
              <a:rPr lang="en-US" sz="900" dirty="0">
                <a:solidFill>
                  <a:srgbClr val="0C6A72"/>
                </a:solidFill>
                <a:latin typeface="Courier New" pitchFamily="34" charset="0"/>
                <a:ea typeface="Courier New" pitchFamily="34" charset="-122"/>
                <a:cs typeface="Courier New" pitchFamily="34" charset="-120"/>
              </a:rPr>
              <a:t>port 2049</a:t>
            </a:r>
            <a:endParaRPr lang="en-US" sz="900" dirty="0"/>
          </a:p>
        </p:txBody>
      </p:sp>
      <p:sp>
        <p:nvSpPr>
          <p:cNvPr id="32" name="Shape 30"/>
          <p:cNvSpPr/>
          <p:nvPr/>
        </p:nvSpPr>
        <p:spPr>
          <a:xfrm>
            <a:off x="1856232" y="4882896"/>
            <a:ext cx="4572000" cy="877824"/>
          </a:xfrm>
          <a:prstGeom prst="roundRect">
            <a:avLst>
              <a:gd name="adj" fmla="val 6250"/>
            </a:avLst>
          </a:prstGeom>
          <a:solidFill>
            <a:srgbClr val="FFFFFF"/>
          </a:solidFill>
          <a:ln w="9525">
            <a:solidFill>
              <a:srgbClr val="0C6A72"/>
            </a:solidFill>
            <a:prstDash val="solid"/>
          </a:ln>
        </p:spPr>
      </p:sp>
      <p:sp>
        <p:nvSpPr>
          <p:cNvPr id="33" name="Text 31"/>
          <p:cNvSpPr txBox="1"/>
          <p:nvPr/>
        </p:nvSpPr>
        <p:spPr>
          <a:xfrm>
            <a:off x="2011680" y="4974336"/>
            <a:ext cx="4297680" cy="274320"/>
          </a:xfrm>
          <a:prstGeom prst="rect">
            <a:avLst/>
          </a:prstGeom>
          <a:noFill/>
          <a:ln/>
        </p:spPr>
        <p:txBody>
          <a:bodyPr wrap="square" lIns="0" tIns="0" rIns="0" bIns="0" rtlCol="0" anchor="ctr"/>
          <a:lstStyle/>
          <a:p>
            <a:pPr indent="0" marL="0">
              <a:buNone/>
            </a:pPr>
            <a:r>
              <a:rPr lang="en-US" sz="1350" b="1" dirty="0">
                <a:solidFill>
                  <a:srgbClr val="17222C"/>
                </a:solidFill>
                <a:latin typeface="Arial" pitchFamily="34" charset="0"/>
                <a:ea typeface="Arial" pitchFamily="34" charset="-122"/>
                <a:cs typeface="Arial" pitchFamily="34" charset="-120"/>
              </a:rPr>
              <a:t>Base de données RDS MySQL</a:t>
            </a:r>
            <a:endParaRPr lang="en-US" sz="1350" dirty="0"/>
          </a:p>
        </p:txBody>
      </p:sp>
      <p:sp>
        <p:nvSpPr>
          <p:cNvPr id="34" name="Text 32"/>
          <p:cNvSpPr txBox="1"/>
          <p:nvPr/>
        </p:nvSpPr>
        <p:spPr>
          <a:xfrm>
            <a:off x="2011680" y="5285232"/>
            <a:ext cx="4297680" cy="320040"/>
          </a:xfrm>
          <a:prstGeom prst="rect">
            <a:avLst/>
          </a:prstGeom>
          <a:noFill/>
          <a:ln/>
        </p:spPr>
        <p:txBody>
          <a:bodyPr wrap="square" lIns="0" tIns="0" rIns="0" bIns="0" rtlCol="0" anchor="ctr"/>
          <a:lstStyle/>
          <a:p>
            <a:pPr indent="0" marL="0">
              <a:buNone/>
            </a:pPr>
            <a:r>
              <a:rPr lang="en-US" sz="1100" dirty="0">
                <a:solidFill>
                  <a:srgbClr val="5C6B7A"/>
                </a:solidFill>
                <a:latin typeface="Calibri" pitchFamily="34" charset="0"/>
                <a:ea typeface="Calibri" pitchFamily="34" charset="-122"/>
                <a:cs typeface="Calibri" pitchFamily="34" charset="-120"/>
              </a:rPr>
              <a:t>catalogue, paniers, commandes</a:t>
            </a:r>
            <a:endParaRPr lang="en-US" sz="1100" dirty="0"/>
          </a:p>
        </p:txBody>
      </p:sp>
      <p:sp>
        <p:nvSpPr>
          <p:cNvPr id="35" name="Shape 33"/>
          <p:cNvSpPr/>
          <p:nvPr/>
        </p:nvSpPr>
        <p:spPr>
          <a:xfrm>
            <a:off x="6720840" y="4882896"/>
            <a:ext cx="4572000" cy="877824"/>
          </a:xfrm>
          <a:prstGeom prst="roundRect">
            <a:avLst>
              <a:gd name="adj" fmla="val 6250"/>
            </a:avLst>
          </a:prstGeom>
          <a:solidFill>
            <a:srgbClr val="FFFFFF"/>
          </a:solidFill>
          <a:ln w="9525">
            <a:solidFill>
              <a:srgbClr val="0C6A72"/>
            </a:solidFill>
            <a:prstDash val="solid"/>
          </a:ln>
        </p:spPr>
      </p:sp>
      <p:sp>
        <p:nvSpPr>
          <p:cNvPr id="36" name="Text 34"/>
          <p:cNvSpPr txBox="1"/>
          <p:nvPr/>
        </p:nvSpPr>
        <p:spPr>
          <a:xfrm>
            <a:off x="6885432" y="4974336"/>
            <a:ext cx="4297680" cy="274320"/>
          </a:xfrm>
          <a:prstGeom prst="rect">
            <a:avLst/>
          </a:prstGeom>
          <a:noFill/>
          <a:ln/>
        </p:spPr>
        <p:txBody>
          <a:bodyPr wrap="square" lIns="0" tIns="0" rIns="0" bIns="0" rtlCol="0" anchor="ctr"/>
          <a:lstStyle/>
          <a:p>
            <a:pPr indent="0" marL="0">
              <a:buNone/>
            </a:pPr>
            <a:r>
              <a:rPr lang="en-US" sz="1350" b="1" dirty="0">
                <a:solidFill>
                  <a:srgbClr val="17222C"/>
                </a:solidFill>
                <a:latin typeface="Arial" pitchFamily="34" charset="0"/>
                <a:ea typeface="Arial" pitchFamily="34" charset="-122"/>
                <a:cs typeface="Arial" pitchFamily="34" charset="-120"/>
              </a:rPr>
              <a:t>Disque partagé EFS</a:t>
            </a:r>
            <a:endParaRPr lang="en-US" sz="1350" dirty="0"/>
          </a:p>
        </p:txBody>
      </p:sp>
      <p:sp>
        <p:nvSpPr>
          <p:cNvPr id="37" name="Text 35"/>
          <p:cNvSpPr txBox="1"/>
          <p:nvPr/>
        </p:nvSpPr>
        <p:spPr>
          <a:xfrm>
            <a:off x="6885432" y="5285232"/>
            <a:ext cx="4297680" cy="320040"/>
          </a:xfrm>
          <a:prstGeom prst="rect">
            <a:avLst/>
          </a:prstGeom>
          <a:noFill/>
          <a:ln/>
        </p:spPr>
        <p:txBody>
          <a:bodyPr wrap="square" lIns="0" tIns="0" rIns="0" bIns="0" rtlCol="0" anchor="ctr"/>
          <a:lstStyle/>
          <a:p>
            <a:pPr indent="0" marL="0">
              <a:buNone/>
            </a:pPr>
            <a:r>
              <a:rPr lang="en-US" sz="1100" dirty="0">
                <a:solidFill>
                  <a:srgbClr val="5C6B7A"/>
                </a:solidFill>
                <a:latin typeface="Calibri" pitchFamily="34" charset="0"/>
                <a:ea typeface="Calibri" pitchFamily="34" charset="-122"/>
                <a:cs typeface="Calibri" pitchFamily="34" charset="-120"/>
              </a:rPr>
              <a:t>images, thème, sessions PHP</a:t>
            </a:r>
            <a:endParaRPr lang="en-US" sz="1100" dirty="0"/>
          </a:p>
        </p:txBody>
      </p:sp>
      <p:sp>
        <p:nvSpPr>
          <p:cNvPr id="38" name="Text 36"/>
          <p:cNvSpPr txBox="1"/>
          <p:nvPr/>
        </p:nvSpPr>
        <p:spPr>
          <a:xfrm>
            <a:off x="566928" y="6035040"/>
            <a:ext cx="11055096" cy="365760"/>
          </a:xfrm>
          <a:prstGeom prst="rect">
            <a:avLst/>
          </a:prstGeom>
          <a:noFill/>
          <a:ln/>
        </p:spPr>
        <p:txBody>
          <a:bodyPr wrap="square" lIns="0" tIns="0" rIns="0" bIns="0" rtlCol="0" anchor="ctr"/>
          <a:lstStyle/>
          <a:p>
            <a:pPr indent="0" marL="0">
              <a:buNone/>
            </a:pPr>
            <a:r>
              <a:rPr lang="en-US" sz="1500" b="1" dirty="0">
                <a:solidFill>
                  <a:srgbClr val="9E5D06"/>
                </a:solidFill>
                <a:latin typeface="Calibri" pitchFamily="34" charset="0"/>
                <a:ea typeface="Calibri" pitchFamily="34" charset="-122"/>
                <a:cs typeface="Calibri" pitchFamily="34" charset="-120"/>
              </a:rPr>
              <a:t>Les serveurs ne stockent aucune donnée : tout est dans la base ou sur le disque partagé.</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66928" y="384048"/>
            <a:ext cx="11055096" cy="274320"/>
          </a:xfrm>
          <a:prstGeom prst="rect">
            <a:avLst/>
          </a:prstGeom>
          <a:noFill/>
          <a:ln/>
        </p:spPr>
        <p:txBody>
          <a:bodyPr wrap="square" lIns="0" tIns="0" rIns="0" bIns="0" rtlCol="0" anchor="ctr"/>
          <a:lstStyle/>
          <a:p>
            <a:pPr indent="0" marL="0">
              <a:buNone/>
            </a:pPr>
            <a:r>
              <a:rPr lang="en-US" sz="1100" spc="200" kern="0" dirty="0">
                <a:solidFill>
                  <a:srgbClr val="9E5D06"/>
                </a:solidFill>
                <a:latin typeface="Courier New" pitchFamily="34" charset="0"/>
                <a:ea typeface="Courier New" pitchFamily="34" charset="-122"/>
                <a:cs typeface="Courier New" pitchFamily="34" charset="-120"/>
              </a:rPr>
              <a:t>03 — NOS CHOIX</a:t>
            </a:r>
            <a:endParaRPr lang="en-US" sz="1100" dirty="0"/>
          </a:p>
        </p:txBody>
      </p:sp>
      <p:sp>
        <p:nvSpPr>
          <p:cNvPr id="3" name="Text 1"/>
          <p:cNvSpPr txBox="1"/>
          <p:nvPr/>
        </p:nvSpPr>
        <p:spPr>
          <a:xfrm>
            <a:off x="566928" y="694944"/>
            <a:ext cx="11055096" cy="658368"/>
          </a:xfrm>
          <a:prstGeom prst="rect">
            <a:avLst/>
          </a:prstGeom>
          <a:noFill/>
          <a:ln/>
        </p:spPr>
        <p:txBody>
          <a:bodyPr wrap="square" lIns="0" tIns="0" rIns="0" bIns="0" rtlCol="0" anchor="ctr"/>
          <a:lstStyle/>
          <a:p>
            <a:pPr indent="0" marL="0">
              <a:buNone/>
            </a:pPr>
            <a:r>
              <a:rPr lang="en-US" sz="3000" b="1" dirty="0">
                <a:solidFill>
                  <a:srgbClr val="17222C"/>
                </a:solidFill>
                <a:latin typeface="Arial" pitchFamily="34" charset="0"/>
                <a:ea typeface="Arial" pitchFamily="34" charset="-122"/>
                <a:cs typeface="Arial" pitchFamily="34" charset="-120"/>
              </a:rPr>
              <a:t>Ce qu'on gère, ce qu'on laisse à AWS</a:t>
            </a:r>
            <a:endParaRPr lang="en-US" sz="3000" dirty="0"/>
          </a:p>
        </p:txBody>
      </p:sp>
      <p:sp>
        <p:nvSpPr>
          <p:cNvPr id="4" name="Text 2"/>
          <p:cNvSpPr txBox="1"/>
          <p:nvPr/>
        </p:nvSpPr>
        <p:spPr>
          <a:xfrm>
            <a:off x="566928" y="1463040"/>
            <a:ext cx="10789920" cy="411480"/>
          </a:xfrm>
          <a:prstGeom prst="rect">
            <a:avLst/>
          </a:prstGeom>
          <a:noFill/>
          <a:ln/>
        </p:spPr>
        <p:txBody>
          <a:bodyPr wrap="square" lIns="0" tIns="0" rIns="0" bIns="0" rtlCol="0" anchor="ctr"/>
          <a:lstStyle/>
          <a:p>
            <a:pPr indent="0" marL="0">
              <a:buNone/>
            </a:pPr>
            <a:r>
              <a:rPr lang="en-US" sz="1400" dirty="0">
                <a:solidFill>
                  <a:srgbClr val="5C6B7A"/>
                </a:solidFill>
                <a:latin typeface="Calibri" pitchFamily="34" charset="0"/>
                <a:ea typeface="Calibri" pitchFamily="34" charset="-122"/>
                <a:cs typeface="Calibri" pitchFamily="34" charset="-120"/>
              </a:rPr>
              <a:t>Le sujet nous laissait libres de répartir. Nous avons gardé ce qui est propre à la boutique, et confié à AWS ce qui est standard.</a:t>
            </a:r>
            <a:endParaRPr lang="en-US" sz="14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66928" y="2011680"/>
          <a:ext cx="11055096" cy="914400"/>
        </p:xfrm>
        <a:graphic>
          <a:graphicData uri="http://schemas.openxmlformats.org/drawingml/2006/table">
            <a:tbl>
              <a:tblPr/>
              <a:tblGrid>
                <a:gridCol w="2103120"/>
                <a:gridCol w="2468880"/>
                <a:gridCol w="6483096"/>
              </a:tblGrid>
              <a:tr h="566928">
                <a:tc>
                  <a:txBody>
                    <a:bodyPr/>
                    <a:lstStyle/>
                    <a:p>
                      <a:pPr indent="0" marL="0">
                        <a:buNone/>
                      </a:pPr>
                      <a:r>
                        <a:rPr lang="en-US" sz="1250" b="1" dirty="0">
                          <a:solidFill>
                            <a:srgbClr val="17222C"/>
                          </a:solidFill>
                          <a:latin typeface="Calibri" pitchFamily="34" charset="0"/>
                          <a:ea typeface="Calibri" pitchFamily="34" charset="-122"/>
                          <a:cs typeface="Calibri" pitchFamily="34" charset="-120"/>
                        </a:rPr>
                        <a:t>COMPOSANT</a:t>
                      </a:r>
                      <a:endParaRPr lang="en-US" sz="1250" dirty="0">
                        <a:latin typeface="Calibri" charset="0"/>
                        <a:ea typeface="Calibri" charset="0"/>
                        <a:cs typeface="Calibri" charset="0"/>
                      </a:endParaRPr>
                    </a:p>
                  </a:txBody>
                  <a:tcPr marL="91440" marR="91440" marT="45720" marB="45720" anchor="t">
                    <a:lnL w="6350" cap="flat" cmpd="sng" algn="ctr">
                      <a:solidFill>
                        <a:srgbClr val="D3DBE3"/>
                      </a:solidFill>
                      <a:prstDash val="solid"/>
                      <a:round/>
                      <a:headEnd type="none" w="med" len="med"/>
                      <a:tailEnd type="none" w="med" len="med"/>
                    </a:lnL>
                    <a:lnR w="6350" cap="flat" cmpd="sng" algn="ctr">
                      <a:solidFill>
                        <a:srgbClr val="D3DBE3"/>
                      </a:solidFill>
                      <a:prstDash val="solid"/>
                      <a:round/>
                      <a:headEnd type="none" w="med" len="med"/>
                      <a:tailEnd type="none" w="med" len="med"/>
                    </a:lnR>
                    <a:lnT w="6350" cap="flat" cmpd="sng" algn="ctr">
                      <a:solidFill>
                        <a:srgbClr val="D3DBE3"/>
                      </a:solidFill>
                      <a:prstDash val="solid"/>
                      <a:round/>
                      <a:headEnd type="none" w="med" len="med"/>
                      <a:tailEnd type="none" w="med" len="med"/>
                    </a:lnT>
                    <a:lnB w="6350" cap="flat" cmpd="sng" algn="ctr">
                      <a:solidFill>
                        <a:srgbClr val="D3DBE3"/>
                      </a:solidFill>
                      <a:prstDash val="solid"/>
                      <a:round/>
                      <a:headEnd type="none" w="med" len="med"/>
                      <a:tailEnd type="none" w="med" len="med"/>
                    </a:lnB>
                    <a:solidFill>
                      <a:srgbClr val="FFFFFF"/>
                    </a:solidFill>
                  </a:tcPr>
                </a:tc>
                <a:tc>
                  <a:txBody>
                    <a:bodyPr/>
                    <a:lstStyle/>
                    <a:p>
                      <a:pPr indent="0" marL="0">
                        <a:buNone/>
                      </a:pPr>
                      <a:r>
                        <a:rPr lang="en-US" sz="1250" b="1" dirty="0">
                          <a:solidFill>
                            <a:srgbClr val="17222C"/>
                          </a:solidFill>
                          <a:latin typeface="Calibri" pitchFamily="34" charset="0"/>
                          <a:ea typeface="Calibri" pitchFamily="34" charset="-122"/>
                          <a:cs typeface="Calibri" pitchFamily="34" charset="-120"/>
                        </a:rPr>
                        <a:t>CHOIX</a:t>
                      </a:r>
                      <a:endParaRPr lang="en-US" sz="1250" dirty="0">
                        <a:latin typeface="Calibri" charset="0"/>
                        <a:ea typeface="Calibri" charset="0"/>
                        <a:cs typeface="Calibri" charset="0"/>
                      </a:endParaRPr>
                    </a:p>
                  </a:txBody>
                  <a:tcPr marL="91440" marR="91440" marT="45720" marB="45720" anchor="t">
                    <a:lnL w="6350" cap="flat" cmpd="sng" algn="ctr">
                      <a:solidFill>
                        <a:srgbClr val="D3DBE3"/>
                      </a:solidFill>
                      <a:prstDash val="solid"/>
                      <a:round/>
                      <a:headEnd type="none" w="med" len="med"/>
                      <a:tailEnd type="none" w="med" len="med"/>
                    </a:lnL>
                    <a:lnR w="6350" cap="flat" cmpd="sng" algn="ctr">
                      <a:solidFill>
                        <a:srgbClr val="D3DBE3"/>
                      </a:solidFill>
                      <a:prstDash val="solid"/>
                      <a:round/>
                      <a:headEnd type="none" w="med" len="med"/>
                      <a:tailEnd type="none" w="med" len="med"/>
                    </a:lnR>
                    <a:lnT w="6350" cap="flat" cmpd="sng" algn="ctr">
                      <a:solidFill>
                        <a:srgbClr val="D3DBE3"/>
                      </a:solidFill>
                      <a:prstDash val="solid"/>
                      <a:round/>
                      <a:headEnd type="none" w="med" len="med"/>
                      <a:tailEnd type="none" w="med" len="med"/>
                    </a:lnT>
                    <a:lnB w="6350" cap="flat" cmpd="sng" algn="ctr">
                      <a:solidFill>
                        <a:srgbClr val="D3DBE3"/>
                      </a:solidFill>
                      <a:prstDash val="solid"/>
                      <a:round/>
                      <a:headEnd type="none" w="med" len="med"/>
                      <a:tailEnd type="none" w="med" len="med"/>
                    </a:lnB>
                    <a:solidFill>
                      <a:srgbClr val="FFFFFF"/>
                    </a:solidFill>
                  </a:tcPr>
                </a:tc>
                <a:tc>
                  <a:txBody>
                    <a:bodyPr/>
                    <a:lstStyle/>
                    <a:p>
                      <a:pPr indent="0" marL="0">
                        <a:buNone/>
                      </a:pPr>
                      <a:r>
                        <a:rPr lang="en-US" sz="1250" b="1" dirty="0">
                          <a:solidFill>
                            <a:srgbClr val="17222C"/>
                          </a:solidFill>
                          <a:latin typeface="Calibri" pitchFamily="34" charset="0"/>
                          <a:ea typeface="Calibri" pitchFamily="34" charset="-122"/>
                          <a:cs typeface="Calibri" pitchFamily="34" charset="-120"/>
                        </a:rPr>
                        <a:t>RAISON</a:t>
                      </a:r>
                      <a:endParaRPr lang="en-US" sz="1250" dirty="0">
                        <a:latin typeface="Calibri" charset="0"/>
                        <a:ea typeface="Calibri" charset="0"/>
                        <a:cs typeface="Calibri" charset="0"/>
                      </a:endParaRPr>
                    </a:p>
                  </a:txBody>
                  <a:tcPr marL="91440" marR="91440" marT="45720" marB="45720" anchor="t">
                    <a:lnL w="6350" cap="flat" cmpd="sng" algn="ctr">
                      <a:solidFill>
                        <a:srgbClr val="D3DBE3"/>
                      </a:solidFill>
                      <a:prstDash val="solid"/>
                      <a:round/>
                      <a:headEnd type="none" w="med" len="med"/>
                      <a:tailEnd type="none" w="med" len="med"/>
                    </a:lnL>
                    <a:lnR w="6350" cap="flat" cmpd="sng" algn="ctr">
                      <a:solidFill>
                        <a:srgbClr val="D3DBE3"/>
                      </a:solidFill>
                      <a:prstDash val="solid"/>
                      <a:round/>
                      <a:headEnd type="none" w="med" len="med"/>
                      <a:tailEnd type="none" w="med" len="med"/>
                    </a:lnR>
                    <a:lnT w="6350" cap="flat" cmpd="sng" algn="ctr">
                      <a:solidFill>
                        <a:srgbClr val="D3DBE3"/>
                      </a:solidFill>
                      <a:prstDash val="solid"/>
                      <a:round/>
                      <a:headEnd type="none" w="med" len="med"/>
                      <a:tailEnd type="none" w="med" len="med"/>
                    </a:lnT>
                    <a:lnB w="6350" cap="flat" cmpd="sng" algn="ctr">
                      <a:solidFill>
                        <a:srgbClr val="D3DBE3"/>
                      </a:solidFill>
                      <a:prstDash val="solid"/>
                      <a:round/>
                      <a:headEnd type="none" w="med" len="med"/>
                      <a:tailEnd type="none" w="med" len="med"/>
                    </a:lnB>
                    <a:solidFill>
                      <a:srgbClr val="FFFFFF"/>
                    </a:solidFill>
                  </a:tcPr>
                </a:tc>
              </a:tr>
              <a:tr h="566928">
                <a:tc>
                  <a:txBody>
                    <a:bodyPr/>
                    <a:lstStyle/>
                    <a:p>
                      <a:pPr indent="0" marL="0">
                        <a:buNone/>
                      </a:pPr>
                      <a:r>
                        <a:rPr lang="en-US" sz="1250" dirty="0">
                          <a:solidFill>
                            <a:srgbClr val="17222C"/>
                          </a:solidFill>
                          <a:latin typeface="Calibri" pitchFamily="34" charset="0"/>
                          <a:ea typeface="Calibri" pitchFamily="34" charset="-122"/>
                          <a:cs typeface="Calibri" pitchFamily="34" charset="-120"/>
                        </a:rPr>
                        <a:t>Application</a:t>
                      </a:r>
                      <a:endParaRPr lang="en-US" sz="1250" dirty="0">
                        <a:latin typeface="Calibri" charset="0"/>
                        <a:ea typeface="Calibri" charset="0"/>
                        <a:cs typeface="Calibri" charset="0"/>
                      </a:endParaRPr>
                    </a:p>
                  </a:txBody>
                  <a:tcPr marL="91440" marR="91440" marT="45720" marB="45720" anchor="t">
                    <a:lnL w="6350" cap="flat" cmpd="sng" algn="ctr">
                      <a:solidFill>
                        <a:srgbClr val="D3DBE3"/>
                      </a:solidFill>
                      <a:prstDash val="solid"/>
                      <a:round/>
                      <a:headEnd type="none" w="med" len="med"/>
                      <a:tailEnd type="none" w="med" len="med"/>
                    </a:lnL>
                    <a:lnR w="6350" cap="flat" cmpd="sng" algn="ctr">
                      <a:solidFill>
                        <a:srgbClr val="D3DBE3"/>
                      </a:solidFill>
                      <a:prstDash val="solid"/>
                      <a:round/>
                      <a:headEnd type="none" w="med" len="med"/>
                      <a:tailEnd type="none" w="med" len="med"/>
                    </a:lnR>
                    <a:lnT w="6350" cap="flat" cmpd="sng" algn="ctr">
                      <a:solidFill>
                        <a:srgbClr val="D3DBE3"/>
                      </a:solidFill>
                      <a:prstDash val="solid"/>
                      <a:round/>
                      <a:headEnd type="none" w="med" len="med"/>
                      <a:tailEnd type="none" w="med" len="med"/>
                    </a:lnT>
                    <a:lnB w="6350" cap="flat" cmpd="sng" algn="ctr">
                      <a:solidFill>
                        <a:srgbClr val="D3DBE3"/>
                      </a:solidFill>
                      <a:prstDash val="solid"/>
                      <a:round/>
                      <a:headEnd type="none" w="med" len="med"/>
                      <a:tailEnd type="none" w="med" len="med"/>
                    </a:lnB>
                    <a:solidFill>
                      <a:srgbClr val="FFFFFF"/>
                    </a:solidFill>
                  </a:tcPr>
                </a:tc>
                <a:tc>
                  <a:txBody>
                    <a:bodyPr/>
                    <a:lstStyle/>
                    <a:p>
                      <a:pPr indent="0" marL="0">
                        <a:buNone/>
                      </a:pPr>
                      <a:r>
                        <a:rPr lang="en-US" sz="1250" dirty="0">
                          <a:solidFill>
                            <a:srgbClr val="17222C"/>
                          </a:solidFill>
                          <a:latin typeface="Calibri" pitchFamily="34" charset="0"/>
                          <a:ea typeface="Calibri" pitchFamily="34" charset="-122"/>
                          <a:cs typeface="Calibri" pitchFamily="34" charset="-120"/>
                        </a:rPr>
                        <a:t>Docker sur EC2</a:t>
                      </a:r>
                      <a:endParaRPr lang="en-US" sz="1250" dirty="0">
                        <a:latin typeface="Calibri" charset="0"/>
                        <a:ea typeface="Calibri" charset="0"/>
                        <a:cs typeface="Calibri" charset="0"/>
                      </a:endParaRPr>
                    </a:p>
                  </a:txBody>
                  <a:tcPr marL="91440" marR="91440" marT="45720" marB="45720" anchor="t">
                    <a:lnL w="6350" cap="flat" cmpd="sng" algn="ctr">
                      <a:solidFill>
                        <a:srgbClr val="D3DBE3"/>
                      </a:solidFill>
                      <a:prstDash val="solid"/>
                      <a:round/>
                      <a:headEnd type="none" w="med" len="med"/>
                      <a:tailEnd type="none" w="med" len="med"/>
                    </a:lnL>
                    <a:lnR w="6350" cap="flat" cmpd="sng" algn="ctr">
                      <a:solidFill>
                        <a:srgbClr val="D3DBE3"/>
                      </a:solidFill>
                      <a:prstDash val="solid"/>
                      <a:round/>
                      <a:headEnd type="none" w="med" len="med"/>
                      <a:tailEnd type="none" w="med" len="med"/>
                    </a:lnR>
                    <a:lnT w="6350" cap="flat" cmpd="sng" algn="ctr">
                      <a:solidFill>
                        <a:srgbClr val="D3DBE3"/>
                      </a:solidFill>
                      <a:prstDash val="solid"/>
                      <a:round/>
                      <a:headEnd type="none" w="med" len="med"/>
                      <a:tailEnd type="none" w="med" len="med"/>
                    </a:lnT>
                    <a:lnB w="6350" cap="flat" cmpd="sng" algn="ctr">
                      <a:solidFill>
                        <a:srgbClr val="D3DBE3"/>
                      </a:solidFill>
                      <a:prstDash val="solid"/>
                      <a:round/>
                      <a:headEnd type="none" w="med" len="med"/>
                      <a:tailEnd type="none" w="med" len="med"/>
                    </a:lnB>
                    <a:solidFill>
                      <a:srgbClr val="FFFFFF"/>
                    </a:solidFill>
                  </a:tcPr>
                </a:tc>
                <a:tc>
                  <a:txBody>
                    <a:bodyPr/>
                    <a:lstStyle/>
                    <a:p>
                      <a:pPr indent="0" marL="0">
                        <a:buNone/>
                      </a:pPr>
                      <a:r>
                        <a:rPr lang="en-US" sz="1250" dirty="0">
                          <a:solidFill>
                            <a:srgbClr val="17222C"/>
                          </a:solidFill>
                          <a:latin typeface="Calibri" pitchFamily="34" charset="0"/>
                          <a:ea typeface="Calibri" pitchFamily="34" charset="-122"/>
                          <a:cs typeface="Calibri" pitchFamily="34" charset="-120"/>
                        </a:rPr>
                        <a:t>Le sujet impose l'image PrestaShop sur une instance EC2 configurée par Ansible. Changer de version se fait en une ligne.</a:t>
                      </a:r>
                      <a:endParaRPr lang="en-US" sz="1250" dirty="0">
                        <a:latin typeface="Calibri" charset="0"/>
                        <a:ea typeface="Calibri" charset="0"/>
                        <a:cs typeface="Calibri" charset="0"/>
                      </a:endParaRPr>
                    </a:p>
                  </a:txBody>
                  <a:tcPr marL="91440" marR="91440" marT="45720" marB="45720" anchor="t">
                    <a:lnL w="6350" cap="flat" cmpd="sng" algn="ctr">
                      <a:solidFill>
                        <a:srgbClr val="D3DBE3"/>
                      </a:solidFill>
                      <a:prstDash val="solid"/>
                      <a:round/>
                      <a:headEnd type="none" w="med" len="med"/>
                      <a:tailEnd type="none" w="med" len="med"/>
                    </a:lnL>
                    <a:lnR w="6350" cap="flat" cmpd="sng" algn="ctr">
                      <a:solidFill>
                        <a:srgbClr val="D3DBE3"/>
                      </a:solidFill>
                      <a:prstDash val="solid"/>
                      <a:round/>
                      <a:headEnd type="none" w="med" len="med"/>
                      <a:tailEnd type="none" w="med" len="med"/>
                    </a:lnR>
                    <a:lnT w="6350" cap="flat" cmpd="sng" algn="ctr">
                      <a:solidFill>
                        <a:srgbClr val="D3DBE3"/>
                      </a:solidFill>
                      <a:prstDash val="solid"/>
                      <a:round/>
                      <a:headEnd type="none" w="med" len="med"/>
                      <a:tailEnd type="none" w="med" len="med"/>
                    </a:lnT>
                    <a:lnB w="6350" cap="flat" cmpd="sng" algn="ctr">
                      <a:solidFill>
                        <a:srgbClr val="D3DBE3"/>
                      </a:solidFill>
                      <a:prstDash val="solid"/>
                      <a:round/>
                      <a:headEnd type="none" w="med" len="med"/>
                      <a:tailEnd type="none" w="med" len="med"/>
                    </a:lnB>
                    <a:solidFill>
                      <a:srgbClr val="FFFFFF"/>
                    </a:solidFill>
                  </a:tcPr>
                </a:tc>
              </a:tr>
              <a:tr h="566928">
                <a:tc>
                  <a:txBody>
                    <a:bodyPr/>
                    <a:lstStyle/>
                    <a:p>
                      <a:pPr indent="0" marL="0">
                        <a:buNone/>
                      </a:pPr>
                      <a:r>
                        <a:rPr lang="en-US" sz="1250" dirty="0">
                          <a:solidFill>
                            <a:srgbClr val="17222C"/>
                          </a:solidFill>
                          <a:latin typeface="Calibri" pitchFamily="34" charset="0"/>
                          <a:ea typeface="Calibri" pitchFamily="34" charset="-122"/>
                          <a:cs typeface="Calibri" pitchFamily="34" charset="-120"/>
                        </a:rPr>
                        <a:t>Base de données</a:t>
                      </a:r>
                      <a:endParaRPr lang="en-US" sz="1250" dirty="0">
                        <a:latin typeface="Calibri" charset="0"/>
                        <a:ea typeface="Calibri" charset="0"/>
                        <a:cs typeface="Calibri" charset="0"/>
                      </a:endParaRPr>
                    </a:p>
                  </a:txBody>
                  <a:tcPr marL="91440" marR="91440" marT="45720" marB="45720" anchor="t">
                    <a:lnL w="6350" cap="flat" cmpd="sng" algn="ctr">
                      <a:solidFill>
                        <a:srgbClr val="D3DBE3"/>
                      </a:solidFill>
                      <a:prstDash val="solid"/>
                      <a:round/>
                      <a:headEnd type="none" w="med" len="med"/>
                      <a:tailEnd type="none" w="med" len="med"/>
                    </a:lnL>
                    <a:lnR w="6350" cap="flat" cmpd="sng" algn="ctr">
                      <a:solidFill>
                        <a:srgbClr val="D3DBE3"/>
                      </a:solidFill>
                      <a:prstDash val="solid"/>
                      <a:round/>
                      <a:headEnd type="none" w="med" len="med"/>
                      <a:tailEnd type="none" w="med" len="med"/>
                    </a:lnR>
                    <a:lnT w="6350" cap="flat" cmpd="sng" algn="ctr">
                      <a:solidFill>
                        <a:srgbClr val="D3DBE3"/>
                      </a:solidFill>
                      <a:prstDash val="solid"/>
                      <a:round/>
                      <a:headEnd type="none" w="med" len="med"/>
                      <a:tailEnd type="none" w="med" len="med"/>
                    </a:lnT>
                    <a:lnB w="6350" cap="flat" cmpd="sng" algn="ctr">
                      <a:solidFill>
                        <a:srgbClr val="D3DBE3"/>
                      </a:solidFill>
                      <a:prstDash val="solid"/>
                      <a:round/>
                      <a:headEnd type="none" w="med" len="med"/>
                      <a:tailEnd type="none" w="med" len="med"/>
                    </a:lnB>
                    <a:solidFill>
                      <a:srgbClr val="FFFFFF"/>
                    </a:solidFill>
                  </a:tcPr>
                </a:tc>
                <a:tc>
                  <a:txBody>
                    <a:bodyPr/>
                    <a:lstStyle/>
                    <a:p>
                      <a:pPr indent="0" marL="0">
                        <a:buNone/>
                      </a:pPr>
                      <a:r>
                        <a:rPr lang="en-US" sz="1250" dirty="0">
                          <a:solidFill>
                            <a:srgbClr val="17222C"/>
                          </a:solidFill>
                          <a:latin typeface="Calibri" pitchFamily="34" charset="0"/>
                          <a:ea typeface="Calibri" pitchFamily="34" charset="-122"/>
                          <a:cs typeface="Calibri" pitchFamily="34" charset="-120"/>
                        </a:rPr>
                        <a:t>RDS MySQL (managé)</a:t>
                      </a:r>
                      <a:endParaRPr lang="en-US" sz="1250" dirty="0">
                        <a:latin typeface="Calibri" charset="0"/>
                        <a:ea typeface="Calibri" charset="0"/>
                        <a:cs typeface="Calibri" charset="0"/>
                      </a:endParaRPr>
                    </a:p>
                  </a:txBody>
                  <a:tcPr marL="91440" marR="91440" marT="45720" marB="45720" anchor="t">
                    <a:lnL w="6350" cap="flat" cmpd="sng" algn="ctr">
                      <a:solidFill>
                        <a:srgbClr val="D3DBE3"/>
                      </a:solidFill>
                      <a:prstDash val="solid"/>
                      <a:round/>
                      <a:headEnd type="none" w="med" len="med"/>
                      <a:tailEnd type="none" w="med" len="med"/>
                    </a:lnL>
                    <a:lnR w="6350" cap="flat" cmpd="sng" algn="ctr">
                      <a:solidFill>
                        <a:srgbClr val="D3DBE3"/>
                      </a:solidFill>
                      <a:prstDash val="solid"/>
                      <a:round/>
                      <a:headEnd type="none" w="med" len="med"/>
                      <a:tailEnd type="none" w="med" len="med"/>
                    </a:lnR>
                    <a:lnT w="6350" cap="flat" cmpd="sng" algn="ctr">
                      <a:solidFill>
                        <a:srgbClr val="D3DBE3"/>
                      </a:solidFill>
                      <a:prstDash val="solid"/>
                      <a:round/>
                      <a:headEnd type="none" w="med" len="med"/>
                      <a:tailEnd type="none" w="med" len="med"/>
                    </a:lnT>
                    <a:lnB w="6350" cap="flat" cmpd="sng" algn="ctr">
                      <a:solidFill>
                        <a:srgbClr val="D3DBE3"/>
                      </a:solidFill>
                      <a:prstDash val="solid"/>
                      <a:round/>
                      <a:headEnd type="none" w="med" len="med"/>
                      <a:tailEnd type="none" w="med" len="med"/>
                    </a:lnB>
                    <a:solidFill>
                      <a:srgbClr val="FFFFFF"/>
                    </a:solidFill>
                  </a:tcPr>
                </a:tc>
                <a:tc>
                  <a:txBody>
                    <a:bodyPr/>
                    <a:lstStyle/>
                    <a:p>
                      <a:pPr indent="0" marL="0">
                        <a:buNone/>
                      </a:pPr>
                      <a:r>
                        <a:rPr lang="en-US" sz="1250" dirty="0">
                          <a:solidFill>
                            <a:srgbClr val="17222C"/>
                          </a:solidFill>
                          <a:latin typeface="Calibri" pitchFamily="34" charset="0"/>
                          <a:ea typeface="Calibri" pitchFamily="34" charset="-122"/>
                          <a:cs typeface="Calibri" pitchFamily="34" charset="-120"/>
                        </a:rPr>
                        <a:t>AWS gère les sauvegardes, les mises à jour et le basculement automatique vers une instance de secours.</a:t>
                      </a:r>
                      <a:endParaRPr lang="en-US" sz="1250" dirty="0">
                        <a:latin typeface="Calibri" charset="0"/>
                        <a:ea typeface="Calibri" charset="0"/>
                        <a:cs typeface="Calibri" charset="0"/>
                      </a:endParaRPr>
                    </a:p>
                  </a:txBody>
                  <a:tcPr marL="91440" marR="91440" marT="45720" marB="45720" anchor="t">
                    <a:lnL w="6350" cap="flat" cmpd="sng" algn="ctr">
                      <a:solidFill>
                        <a:srgbClr val="D3DBE3"/>
                      </a:solidFill>
                      <a:prstDash val="solid"/>
                      <a:round/>
                      <a:headEnd type="none" w="med" len="med"/>
                      <a:tailEnd type="none" w="med" len="med"/>
                    </a:lnL>
                    <a:lnR w="6350" cap="flat" cmpd="sng" algn="ctr">
                      <a:solidFill>
                        <a:srgbClr val="D3DBE3"/>
                      </a:solidFill>
                      <a:prstDash val="solid"/>
                      <a:round/>
                      <a:headEnd type="none" w="med" len="med"/>
                      <a:tailEnd type="none" w="med" len="med"/>
                    </a:lnR>
                    <a:lnT w="6350" cap="flat" cmpd="sng" algn="ctr">
                      <a:solidFill>
                        <a:srgbClr val="D3DBE3"/>
                      </a:solidFill>
                      <a:prstDash val="solid"/>
                      <a:round/>
                      <a:headEnd type="none" w="med" len="med"/>
                      <a:tailEnd type="none" w="med" len="med"/>
                    </a:lnT>
                    <a:lnB w="6350" cap="flat" cmpd="sng" algn="ctr">
                      <a:solidFill>
                        <a:srgbClr val="D3DBE3"/>
                      </a:solidFill>
                      <a:prstDash val="solid"/>
                      <a:round/>
                      <a:headEnd type="none" w="med" len="med"/>
                      <a:tailEnd type="none" w="med" len="med"/>
                    </a:lnB>
                    <a:solidFill>
                      <a:srgbClr val="FFFFFF"/>
                    </a:solidFill>
                  </a:tcPr>
                </a:tc>
              </a:tr>
              <a:tr h="566928">
                <a:tc>
                  <a:txBody>
                    <a:bodyPr/>
                    <a:lstStyle/>
                    <a:p>
                      <a:pPr indent="0" marL="0">
                        <a:buNone/>
                      </a:pPr>
                      <a:r>
                        <a:rPr lang="en-US" sz="1250" dirty="0">
                          <a:solidFill>
                            <a:srgbClr val="17222C"/>
                          </a:solidFill>
                          <a:latin typeface="Calibri" pitchFamily="34" charset="0"/>
                          <a:ea typeface="Calibri" pitchFamily="34" charset="-122"/>
                          <a:cs typeface="Calibri" pitchFamily="34" charset="-120"/>
                        </a:rPr>
                        <a:t>Fichiers</a:t>
                      </a:r>
                      <a:endParaRPr lang="en-US" sz="1250" dirty="0">
                        <a:latin typeface="Calibri" charset="0"/>
                        <a:ea typeface="Calibri" charset="0"/>
                        <a:cs typeface="Calibri" charset="0"/>
                      </a:endParaRPr>
                    </a:p>
                  </a:txBody>
                  <a:tcPr marL="91440" marR="91440" marT="45720" marB="45720" anchor="t">
                    <a:lnL w="6350" cap="flat" cmpd="sng" algn="ctr">
                      <a:solidFill>
                        <a:srgbClr val="D3DBE3"/>
                      </a:solidFill>
                      <a:prstDash val="solid"/>
                      <a:round/>
                      <a:headEnd type="none" w="med" len="med"/>
                      <a:tailEnd type="none" w="med" len="med"/>
                    </a:lnL>
                    <a:lnR w="6350" cap="flat" cmpd="sng" algn="ctr">
                      <a:solidFill>
                        <a:srgbClr val="D3DBE3"/>
                      </a:solidFill>
                      <a:prstDash val="solid"/>
                      <a:round/>
                      <a:headEnd type="none" w="med" len="med"/>
                      <a:tailEnd type="none" w="med" len="med"/>
                    </a:lnR>
                    <a:lnT w="6350" cap="flat" cmpd="sng" algn="ctr">
                      <a:solidFill>
                        <a:srgbClr val="D3DBE3"/>
                      </a:solidFill>
                      <a:prstDash val="solid"/>
                      <a:round/>
                      <a:headEnd type="none" w="med" len="med"/>
                      <a:tailEnd type="none" w="med" len="med"/>
                    </a:lnT>
                    <a:lnB w="6350" cap="flat" cmpd="sng" algn="ctr">
                      <a:solidFill>
                        <a:srgbClr val="D3DBE3"/>
                      </a:solidFill>
                      <a:prstDash val="solid"/>
                      <a:round/>
                      <a:headEnd type="none" w="med" len="med"/>
                      <a:tailEnd type="none" w="med" len="med"/>
                    </a:lnB>
                    <a:solidFill>
                      <a:srgbClr val="FFFFFF"/>
                    </a:solidFill>
                  </a:tcPr>
                </a:tc>
                <a:tc>
                  <a:txBody>
                    <a:bodyPr/>
                    <a:lstStyle/>
                    <a:p>
                      <a:pPr indent="0" marL="0">
                        <a:buNone/>
                      </a:pPr>
                      <a:r>
                        <a:rPr lang="en-US" sz="1250" dirty="0">
                          <a:solidFill>
                            <a:srgbClr val="17222C"/>
                          </a:solidFill>
                          <a:latin typeface="Calibri" pitchFamily="34" charset="0"/>
                          <a:ea typeface="Calibri" pitchFamily="34" charset="-122"/>
                          <a:cs typeface="Calibri" pitchFamily="34" charset="-120"/>
                        </a:rPr>
                        <a:t>EFS (disque partagé)</a:t>
                      </a:r>
                      <a:endParaRPr lang="en-US" sz="1250" dirty="0">
                        <a:latin typeface="Calibri" charset="0"/>
                        <a:ea typeface="Calibri" charset="0"/>
                        <a:cs typeface="Calibri" charset="0"/>
                      </a:endParaRPr>
                    </a:p>
                  </a:txBody>
                  <a:tcPr marL="91440" marR="91440" marT="45720" marB="45720" anchor="t">
                    <a:lnL w="6350" cap="flat" cmpd="sng" algn="ctr">
                      <a:solidFill>
                        <a:srgbClr val="D3DBE3"/>
                      </a:solidFill>
                      <a:prstDash val="solid"/>
                      <a:round/>
                      <a:headEnd type="none" w="med" len="med"/>
                      <a:tailEnd type="none" w="med" len="med"/>
                    </a:lnL>
                    <a:lnR w="6350" cap="flat" cmpd="sng" algn="ctr">
                      <a:solidFill>
                        <a:srgbClr val="D3DBE3"/>
                      </a:solidFill>
                      <a:prstDash val="solid"/>
                      <a:round/>
                      <a:headEnd type="none" w="med" len="med"/>
                      <a:tailEnd type="none" w="med" len="med"/>
                    </a:lnR>
                    <a:lnT w="6350" cap="flat" cmpd="sng" algn="ctr">
                      <a:solidFill>
                        <a:srgbClr val="D3DBE3"/>
                      </a:solidFill>
                      <a:prstDash val="solid"/>
                      <a:round/>
                      <a:headEnd type="none" w="med" len="med"/>
                      <a:tailEnd type="none" w="med" len="med"/>
                    </a:lnT>
                    <a:lnB w="6350" cap="flat" cmpd="sng" algn="ctr">
                      <a:solidFill>
                        <a:srgbClr val="D3DBE3"/>
                      </a:solidFill>
                      <a:prstDash val="solid"/>
                      <a:round/>
                      <a:headEnd type="none" w="med" len="med"/>
                      <a:tailEnd type="none" w="med" len="med"/>
                    </a:lnB>
                    <a:solidFill>
                      <a:srgbClr val="FFFFFF"/>
                    </a:solidFill>
                  </a:tcPr>
                </a:tc>
                <a:tc>
                  <a:txBody>
                    <a:bodyPr/>
                    <a:lstStyle/>
                    <a:p>
                      <a:pPr indent="0" marL="0">
                        <a:buNone/>
                      </a:pPr>
                      <a:r>
                        <a:rPr lang="en-US" sz="1250" dirty="0">
                          <a:solidFill>
                            <a:srgbClr val="17222C"/>
                          </a:solidFill>
                          <a:latin typeface="Calibri" pitchFamily="34" charset="0"/>
                          <a:ea typeface="Calibri" pitchFamily="34" charset="-122"/>
                          <a:cs typeface="Calibri" pitchFamily="34" charset="-120"/>
                        </a:rPr>
                        <a:t>Plusieurs serveurs doivent lire et écrire les mêmes fichiers. Un disque EBS ne se partage pas.</a:t>
                      </a:r>
                      <a:endParaRPr lang="en-US" sz="1250" dirty="0">
                        <a:latin typeface="Calibri" charset="0"/>
                        <a:ea typeface="Calibri" charset="0"/>
                        <a:cs typeface="Calibri" charset="0"/>
                      </a:endParaRPr>
                    </a:p>
                  </a:txBody>
                  <a:tcPr marL="91440" marR="91440" marT="45720" marB="45720" anchor="t">
                    <a:lnL w="6350" cap="flat" cmpd="sng" algn="ctr">
                      <a:solidFill>
                        <a:srgbClr val="D3DBE3"/>
                      </a:solidFill>
                      <a:prstDash val="solid"/>
                      <a:round/>
                      <a:headEnd type="none" w="med" len="med"/>
                      <a:tailEnd type="none" w="med" len="med"/>
                    </a:lnL>
                    <a:lnR w="6350" cap="flat" cmpd="sng" algn="ctr">
                      <a:solidFill>
                        <a:srgbClr val="D3DBE3"/>
                      </a:solidFill>
                      <a:prstDash val="solid"/>
                      <a:round/>
                      <a:headEnd type="none" w="med" len="med"/>
                      <a:tailEnd type="none" w="med" len="med"/>
                    </a:lnR>
                    <a:lnT w="6350" cap="flat" cmpd="sng" algn="ctr">
                      <a:solidFill>
                        <a:srgbClr val="D3DBE3"/>
                      </a:solidFill>
                      <a:prstDash val="solid"/>
                      <a:round/>
                      <a:headEnd type="none" w="med" len="med"/>
                      <a:tailEnd type="none" w="med" len="med"/>
                    </a:lnT>
                    <a:lnB w="6350" cap="flat" cmpd="sng" algn="ctr">
                      <a:solidFill>
                        <a:srgbClr val="D3DBE3"/>
                      </a:solidFill>
                      <a:prstDash val="solid"/>
                      <a:round/>
                      <a:headEnd type="none" w="med" len="med"/>
                      <a:tailEnd type="none" w="med" len="med"/>
                    </a:lnB>
                    <a:solidFill>
                      <a:srgbClr val="FFFFFF"/>
                    </a:solidFill>
                  </a:tcPr>
                </a:tc>
              </a:tr>
              <a:tr h="566928">
                <a:tc>
                  <a:txBody>
                    <a:bodyPr/>
                    <a:lstStyle/>
                    <a:p>
                      <a:pPr indent="0" marL="0">
                        <a:buNone/>
                      </a:pPr>
                      <a:r>
                        <a:rPr lang="en-US" sz="1250" dirty="0">
                          <a:solidFill>
                            <a:srgbClr val="17222C"/>
                          </a:solidFill>
                          <a:latin typeface="Calibri" pitchFamily="34" charset="0"/>
                          <a:ea typeface="Calibri" pitchFamily="34" charset="-122"/>
                          <a:cs typeface="Calibri" pitchFamily="34" charset="-120"/>
                        </a:rPr>
                        <a:t>Point d'entrée</a:t>
                      </a:r>
                      <a:endParaRPr lang="en-US" sz="1250" dirty="0">
                        <a:latin typeface="Calibri" charset="0"/>
                        <a:ea typeface="Calibri" charset="0"/>
                        <a:cs typeface="Calibri" charset="0"/>
                      </a:endParaRPr>
                    </a:p>
                  </a:txBody>
                  <a:tcPr marL="91440" marR="91440" marT="45720" marB="45720" anchor="t">
                    <a:lnL w="6350" cap="flat" cmpd="sng" algn="ctr">
                      <a:solidFill>
                        <a:srgbClr val="D3DBE3"/>
                      </a:solidFill>
                      <a:prstDash val="solid"/>
                      <a:round/>
                      <a:headEnd type="none" w="med" len="med"/>
                      <a:tailEnd type="none" w="med" len="med"/>
                    </a:lnL>
                    <a:lnR w="6350" cap="flat" cmpd="sng" algn="ctr">
                      <a:solidFill>
                        <a:srgbClr val="D3DBE3"/>
                      </a:solidFill>
                      <a:prstDash val="solid"/>
                      <a:round/>
                      <a:headEnd type="none" w="med" len="med"/>
                      <a:tailEnd type="none" w="med" len="med"/>
                    </a:lnR>
                    <a:lnT w="6350" cap="flat" cmpd="sng" algn="ctr">
                      <a:solidFill>
                        <a:srgbClr val="D3DBE3"/>
                      </a:solidFill>
                      <a:prstDash val="solid"/>
                      <a:round/>
                      <a:headEnd type="none" w="med" len="med"/>
                      <a:tailEnd type="none" w="med" len="med"/>
                    </a:lnT>
                    <a:lnB w="6350" cap="flat" cmpd="sng" algn="ctr">
                      <a:solidFill>
                        <a:srgbClr val="D3DBE3"/>
                      </a:solidFill>
                      <a:prstDash val="solid"/>
                      <a:round/>
                      <a:headEnd type="none" w="med" len="med"/>
                      <a:tailEnd type="none" w="med" len="med"/>
                    </a:lnB>
                    <a:solidFill>
                      <a:srgbClr val="FFFFFF"/>
                    </a:solidFill>
                  </a:tcPr>
                </a:tc>
                <a:tc>
                  <a:txBody>
                    <a:bodyPr/>
                    <a:lstStyle/>
                    <a:p>
                      <a:pPr indent="0" marL="0">
                        <a:buNone/>
                      </a:pPr>
                      <a:r>
                        <a:rPr lang="en-US" sz="1250" dirty="0">
                          <a:solidFill>
                            <a:srgbClr val="17222C"/>
                          </a:solidFill>
                          <a:latin typeface="Calibri" pitchFamily="34" charset="0"/>
                          <a:ea typeface="Calibri" pitchFamily="34" charset="-122"/>
                          <a:cs typeface="Calibri" pitchFamily="34" charset="-120"/>
                        </a:rPr>
                        <a:t>Load balancer (ALB)</a:t>
                      </a:r>
                      <a:endParaRPr lang="en-US" sz="1250" dirty="0">
                        <a:latin typeface="Calibri" charset="0"/>
                        <a:ea typeface="Calibri" charset="0"/>
                        <a:cs typeface="Calibri" charset="0"/>
                      </a:endParaRPr>
                    </a:p>
                  </a:txBody>
                  <a:tcPr marL="91440" marR="91440" marT="45720" marB="45720" anchor="t">
                    <a:lnL w="6350" cap="flat" cmpd="sng" algn="ctr">
                      <a:solidFill>
                        <a:srgbClr val="D3DBE3"/>
                      </a:solidFill>
                      <a:prstDash val="solid"/>
                      <a:round/>
                      <a:headEnd type="none" w="med" len="med"/>
                      <a:tailEnd type="none" w="med" len="med"/>
                    </a:lnL>
                    <a:lnR w="6350" cap="flat" cmpd="sng" algn="ctr">
                      <a:solidFill>
                        <a:srgbClr val="D3DBE3"/>
                      </a:solidFill>
                      <a:prstDash val="solid"/>
                      <a:round/>
                      <a:headEnd type="none" w="med" len="med"/>
                      <a:tailEnd type="none" w="med" len="med"/>
                    </a:lnR>
                    <a:lnT w="6350" cap="flat" cmpd="sng" algn="ctr">
                      <a:solidFill>
                        <a:srgbClr val="D3DBE3"/>
                      </a:solidFill>
                      <a:prstDash val="solid"/>
                      <a:round/>
                      <a:headEnd type="none" w="med" len="med"/>
                      <a:tailEnd type="none" w="med" len="med"/>
                    </a:lnT>
                    <a:lnB w="6350" cap="flat" cmpd="sng" algn="ctr">
                      <a:solidFill>
                        <a:srgbClr val="D3DBE3"/>
                      </a:solidFill>
                      <a:prstDash val="solid"/>
                      <a:round/>
                      <a:headEnd type="none" w="med" len="med"/>
                      <a:tailEnd type="none" w="med" len="med"/>
                    </a:lnB>
                    <a:solidFill>
                      <a:srgbClr val="FFFFFF"/>
                    </a:solidFill>
                  </a:tcPr>
                </a:tc>
                <a:tc>
                  <a:txBody>
                    <a:bodyPr/>
                    <a:lstStyle/>
                    <a:p>
                      <a:pPr indent="0" marL="0">
                        <a:buNone/>
                      </a:pPr>
                      <a:r>
                        <a:rPr lang="en-US" sz="1250" dirty="0">
                          <a:solidFill>
                            <a:srgbClr val="17222C"/>
                          </a:solidFill>
                          <a:latin typeface="Calibri" pitchFamily="34" charset="0"/>
                          <a:ea typeface="Calibri" pitchFamily="34" charset="-122"/>
                          <a:cs typeface="Calibri" pitchFamily="34" charset="-120"/>
                        </a:rPr>
                        <a:t>Il surveille l'état des serveurs et répartit les requêtes entre les zones.</a:t>
                      </a:r>
                      <a:endParaRPr lang="en-US" sz="1250" dirty="0">
                        <a:latin typeface="Calibri" charset="0"/>
                        <a:ea typeface="Calibri" charset="0"/>
                        <a:cs typeface="Calibri" charset="0"/>
                      </a:endParaRPr>
                    </a:p>
                  </a:txBody>
                  <a:tcPr marL="91440" marR="91440" marT="45720" marB="45720" anchor="t">
                    <a:lnL w="6350" cap="flat" cmpd="sng" algn="ctr">
                      <a:solidFill>
                        <a:srgbClr val="D3DBE3"/>
                      </a:solidFill>
                      <a:prstDash val="solid"/>
                      <a:round/>
                      <a:headEnd type="none" w="med" len="med"/>
                      <a:tailEnd type="none" w="med" len="med"/>
                    </a:lnL>
                    <a:lnR w="6350" cap="flat" cmpd="sng" algn="ctr">
                      <a:solidFill>
                        <a:srgbClr val="D3DBE3"/>
                      </a:solidFill>
                      <a:prstDash val="solid"/>
                      <a:round/>
                      <a:headEnd type="none" w="med" len="med"/>
                      <a:tailEnd type="none" w="med" len="med"/>
                    </a:lnR>
                    <a:lnT w="6350" cap="flat" cmpd="sng" algn="ctr">
                      <a:solidFill>
                        <a:srgbClr val="D3DBE3"/>
                      </a:solidFill>
                      <a:prstDash val="solid"/>
                      <a:round/>
                      <a:headEnd type="none" w="med" len="med"/>
                      <a:tailEnd type="none" w="med" len="med"/>
                    </a:lnT>
                    <a:lnB w="6350" cap="flat" cmpd="sng" algn="ctr">
                      <a:solidFill>
                        <a:srgbClr val="D3DBE3"/>
                      </a:solidFill>
                      <a:prstDash val="solid"/>
                      <a:round/>
                      <a:headEnd type="none" w="med" len="med"/>
                      <a:tailEnd type="none" w="med" len="med"/>
                    </a:lnB>
                    <a:solidFill>
                      <a:srgbClr val="FFFFFF"/>
                    </a:solidFill>
                  </a:tcPr>
                </a:tc>
              </a:tr>
              <a:tr h="566928">
                <a:tc>
                  <a:txBody>
                    <a:bodyPr/>
                    <a:lstStyle/>
                    <a:p>
                      <a:pPr indent="0" marL="0">
                        <a:buNone/>
                      </a:pPr>
                      <a:r>
                        <a:rPr lang="en-US" sz="1250" dirty="0">
                          <a:solidFill>
                            <a:srgbClr val="17222C"/>
                          </a:solidFill>
                          <a:latin typeface="Calibri" pitchFamily="34" charset="0"/>
                          <a:ea typeface="Calibri" pitchFamily="34" charset="-122"/>
                          <a:cs typeface="Calibri" pitchFamily="34" charset="-120"/>
                        </a:rPr>
                        <a:t>Secrets</a:t>
                      </a:r>
                      <a:endParaRPr lang="en-US" sz="1250" dirty="0">
                        <a:latin typeface="Calibri" charset="0"/>
                        <a:ea typeface="Calibri" charset="0"/>
                        <a:cs typeface="Calibri" charset="0"/>
                      </a:endParaRPr>
                    </a:p>
                  </a:txBody>
                  <a:tcPr marL="91440" marR="91440" marT="45720" marB="45720" anchor="t">
                    <a:lnL w="6350" cap="flat" cmpd="sng" algn="ctr">
                      <a:solidFill>
                        <a:srgbClr val="D3DBE3"/>
                      </a:solidFill>
                      <a:prstDash val="solid"/>
                      <a:round/>
                      <a:headEnd type="none" w="med" len="med"/>
                      <a:tailEnd type="none" w="med" len="med"/>
                    </a:lnL>
                    <a:lnR w="6350" cap="flat" cmpd="sng" algn="ctr">
                      <a:solidFill>
                        <a:srgbClr val="D3DBE3"/>
                      </a:solidFill>
                      <a:prstDash val="solid"/>
                      <a:round/>
                      <a:headEnd type="none" w="med" len="med"/>
                      <a:tailEnd type="none" w="med" len="med"/>
                    </a:lnR>
                    <a:lnT w="6350" cap="flat" cmpd="sng" algn="ctr">
                      <a:solidFill>
                        <a:srgbClr val="D3DBE3"/>
                      </a:solidFill>
                      <a:prstDash val="solid"/>
                      <a:round/>
                      <a:headEnd type="none" w="med" len="med"/>
                      <a:tailEnd type="none" w="med" len="med"/>
                    </a:lnT>
                    <a:lnB w="6350" cap="flat" cmpd="sng" algn="ctr">
                      <a:solidFill>
                        <a:srgbClr val="D3DBE3"/>
                      </a:solidFill>
                      <a:prstDash val="solid"/>
                      <a:round/>
                      <a:headEnd type="none" w="med" len="med"/>
                      <a:tailEnd type="none" w="med" len="med"/>
                    </a:lnB>
                    <a:solidFill>
                      <a:srgbClr val="FFFFFF"/>
                    </a:solidFill>
                  </a:tcPr>
                </a:tc>
                <a:tc>
                  <a:txBody>
                    <a:bodyPr/>
                    <a:lstStyle/>
                    <a:p>
                      <a:pPr indent="0" marL="0">
                        <a:buNone/>
                      </a:pPr>
                      <a:r>
                        <a:rPr lang="en-US" sz="1250" dirty="0">
                          <a:solidFill>
                            <a:srgbClr val="17222C"/>
                          </a:solidFill>
                          <a:latin typeface="Calibri" pitchFamily="34" charset="0"/>
                          <a:ea typeface="Calibri" pitchFamily="34" charset="-122"/>
                          <a:cs typeface="Calibri" pitchFamily="34" charset="-120"/>
                        </a:rPr>
                        <a:t>Secrets Manager + Vault</a:t>
                      </a:r>
                      <a:endParaRPr lang="en-US" sz="1250" dirty="0">
                        <a:latin typeface="Calibri" charset="0"/>
                        <a:ea typeface="Calibri" charset="0"/>
                        <a:cs typeface="Calibri" charset="0"/>
                      </a:endParaRPr>
                    </a:p>
                  </a:txBody>
                  <a:tcPr marL="91440" marR="91440" marT="45720" marB="45720" anchor="t">
                    <a:lnL w="6350" cap="flat" cmpd="sng" algn="ctr">
                      <a:solidFill>
                        <a:srgbClr val="D3DBE3"/>
                      </a:solidFill>
                      <a:prstDash val="solid"/>
                      <a:round/>
                      <a:headEnd type="none" w="med" len="med"/>
                      <a:tailEnd type="none" w="med" len="med"/>
                    </a:lnL>
                    <a:lnR w="6350" cap="flat" cmpd="sng" algn="ctr">
                      <a:solidFill>
                        <a:srgbClr val="D3DBE3"/>
                      </a:solidFill>
                      <a:prstDash val="solid"/>
                      <a:round/>
                      <a:headEnd type="none" w="med" len="med"/>
                      <a:tailEnd type="none" w="med" len="med"/>
                    </a:lnR>
                    <a:lnT w="6350" cap="flat" cmpd="sng" algn="ctr">
                      <a:solidFill>
                        <a:srgbClr val="D3DBE3"/>
                      </a:solidFill>
                      <a:prstDash val="solid"/>
                      <a:round/>
                      <a:headEnd type="none" w="med" len="med"/>
                      <a:tailEnd type="none" w="med" len="med"/>
                    </a:lnT>
                    <a:lnB w="6350" cap="flat" cmpd="sng" algn="ctr">
                      <a:solidFill>
                        <a:srgbClr val="D3DBE3"/>
                      </a:solidFill>
                      <a:prstDash val="solid"/>
                      <a:round/>
                      <a:headEnd type="none" w="med" len="med"/>
                      <a:tailEnd type="none" w="med" len="med"/>
                    </a:lnB>
                    <a:solidFill>
                      <a:srgbClr val="FFFFFF"/>
                    </a:solidFill>
                  </a:tcPr>
                </a:tc>
                <a:tc>
                  <a:txBody>
                    <a:bodyPr/>
                    <a:lstStyle/>
                    <a:p>
                      <a:pPr indent="0" marL="0">
                        <a:buNone/>
                      </a:pPr>
                      <a:r>
                        <a:rPr lang="en-US" sz="1250" dirty="0">
                          <a:solidFill>
                            <a:srgbClr val="17222C"/>
                          </a:solidFill>
                          <a:latin typeface="Calibri" pitchFamily="34" charset="0"/>
                          <a:ea typeface="Calibri" pitchFamily="34" charset="-122"/>
                          <a:cs typeface="Calibri" pitchFamily="34" charset="-120"/>
                        </a:rPr>
                        <a:t>Le mot de passe de la base n'est pas dans le dépôt. Chaque serveur le lit avec son rôle IAM.</a:t>
                      </a:r>
                      <a:endParaRPr lang="en-US" sz="1250" dirty="0">
                        <a:latin typeface="Calibri" charset="0"/>
                        <a:ea typeface="Calibri" charset="0"/>
                        <a:cs typeface="Calibri" charset="0"/>
                      </a:endParaRPr>
                    </a:p>
                  </a:txBody>
                  <a:tcPr marL="91440" marR="91440" marT="45720" marB="45720" anchor="t">
                    <a:lnL w="6350" cap="flat" cmpd="sng" algn="ctr">
                      <a:solidFill>
                        <a:srgbClr val="D3DBE3"/>
                      </a:solidFill>
                      <a:prstDash val="solid"/>
                      <a:round/>
                      <a:headEnd type="none" w="med" len="med"/>
                      <a:tailEnd type="none" w="med" len="med"/>
                    </a:lnL>
                    <a:lnR w="6350" cap="flat" cmpd="sng" algn="ctr">
                      <a:solidFill>
                        <a:srgbClr val="D3DBE3"/>
                      </a:solidFill>
                      <a:prstDash val="solid"/>
                      <a:round/>
                      <a:headEnd type="none" w="med" len="med"/>
                      <a:tailEnd type="none" w="med" len="med"/>
                    </a:lnR>
                    <a:lnT w="6350" cap="flat" cmpd="sng" algn="ctr">
                      <a:solidFill>
                        <a:srgbClr val="D3DBE3"/>
                      </a:solidFill>
                      <a:prstDash val="solid"/>
                      <a:round/>
                      <a:headEnd type="none" w="med" len="med"/>
                      <a:tailEnd type="none" w="med" len="med"/>
                    </a:lnT>
                    <a:lnB w="6350" cap="flat" cmpd="sng" algn="ctr">
                      <a:solidFill>
                        <a:srgbClr val="D3DBE3"/>
                      </a:solidFill>
                      <a:prstDash val="solid"/>
                      <a:round/>
                      <a:headEnd type="none" w="med" len="med"/>
                      <a:tailEnd type="none" w="med" len="med"/>
                    </a:lnB>
                    <a:solidFill>
                      <a:srgbClr val="FFFFFF"/>
                    </a:solidFill>
                  </a:tcPr>
                </a:tc>
              </a:tr>
              <a:tr h="566928">
                <a:tc>
                  <a:txBody>
                    <a:bodyPr/>
                    <a:lstStyle/>
                    <a:p>
                      <a:pPr indent="0" marL="0">
                        <a:buNone/>
                      </a:pPr>
                      <a:r>
                        <a:rPr lang="en-US" sz="1250" dirty="0">
                          <a:solidFill>
                            <a:srgbClr val="17222C"/>
                          </a:solidFill>
                          <a:latin typeface="Calibri" pitchFamily="34" charset="0"/>
                          <a:ea typeface="Calibri" pitchFamily="34" charset="-122"/>
                          <a:cs typeface="Calibri" pitchFamily="34" charset="-120"/>
                        </a:rPr>
                        <a:t>Accès administration</a:t>
                      </a:r>
                      <a:endParaRPr lang="en-US" sz="1250" dirty="0">
                        <a:latin typeface="Calibri" charset="0"/>
                        <a:ea typeface="Calibri" charset="0"/>
                        <a:cs typeface="Calibri" charset="0"/>
                      </a:endParaRPr>
                    </a:p>
                  </a:txBody>
                  <a:tcPr marL="91440" marR="91440" marT="45720" marB="45720" anchor="t">
                    <a:lnL w="6350" cap="flat" cmpd="sng" algn="ctr">
                      <a:solidFill>
                        <a:srgbClr val="D3DBE3"/>
                      </a:solidFill>
                      <a:prstDash val="solid"/>
                      <a:round/>
                      <a:headEnd type="none" w="med" len="med"/>
                      <a:tailEnd type="none" w="med" len="med"/>
                    </a:lnL>
                    <a:lnR w="6350" cap="flat" cmpd="sng" algn="ctr">
                      <a:solidFill>
                        <a:srgbClr val="D3DBE3"/>
                      </a:solidFill>
                      <a:prstDash val="solid"/>
                      <a:round/>
                      <a:headEnd type="none" w="med" len="med"/>
                      <a:tailEnd type="none" w="med" len="med"/>
                    </a:lnR>
                    <a:lnT w="6350" cap="flat" cmpd="sng" algn="ctr">
                      <a:solidFill>
                        <a:srgbClr val="D3DBE3"/>
                      </a:solidFill>
                      <a:prstDash val="solid"/>
                      <a:round/>
                      <a:headEnd type="none" w="med" len="med"/>
                      <a:tailEnd type="none" w="med" len="med"/>
                    </a:lnT>
                    <a:lnB w="6350" cap="flat" cmpd="sng" algn="ctr">
                      <a:solidFill>
                        <a:srgbClr val="D3DBE3"/>
                      </a:solidFill>
                      <a:prstDash val="solid"/>
                      <a:round/>
                      <a:headEnd type="none" w="med" len="med"/>
                      <a:tailEnd type="none" w="med" len="med"/>
                    </a:lnB>
                    <a:solidFill>
                      <a:srgbClr val="FFFFFF"/>
                    </a:solidFill>
                  </a:tcPr>
                </a:tc>
                <a:tc>
                  <a:txBody>
                    <a:bodyPr/>
                    <a:lstStyle/>
                    <a:p>
                      <a:pPr indent="0" marL="0">
                        <a:buNone/>
                      </a:pPr>
                      <a:r>
                        <a:rPr lang="en-US" sz="1250" dirty="0">
                          <a:solidFill>
                            <a:srgbClr val="17222C"/>
                          </a:solidFill>
                          <a:latin typeface="Calibri" pitchFamily="34" charset="0"/>
                          <a:ea typeface="Calibri" pitchFamily="34" charset="-122"/>
                          <a:cs typeface="Calibri" pitchFamily="34" charset="-120"/>
                        </a:rPr>
                        <a:t>Bastion SSH</a:t>
                      </a:r>
                      <a:endParaRPr lang="en-US" sz="1250" dirty="0">
                        <a:latin typeface="Calibri" charset="0"/>
                        <a:ea typeface="Calibri" charset="0"/>
                        <a:cs typeface="Calibri" charset="0"/>
                      </a:endParaRPr>
                    </a:p>
                  </a:txBody>
                  <a:tcPr marL="91440" marR="91440" marT="45720" marB="45720" anchor="t">
                    <a:lnL w="6350" cap="flat" cmpd="sng" algn="ctr">
                      <a:solidFill>
                        <a:srgbClr val="D3DBE3"/>
                      </a:solidFill>
                      <a:prstDash val="solid"/>
                      <a:round/>
                      <a:headEnd type="none" w="med" len="med"/>
                      <a:tailEnd type="none" w="med" len="med"/>
                    </a:lnL>
                    <a:lnR w="6350" cap="flat" cmpd="sng" algn="ctr">
                      <a:solidFill>
                        <a:srgbClr val="D3DBE3"/>
                      </a:solidFill>
                      <a:prstDash val="solid"/>
                      <a:round/>
                      <a:headEnd type="none" w="med" len="med"/>
                      <a:tailEnd type="none" w="med" len="med"/>
                    </a:lnR>
                    <a:lnT w="6350" cap="flat" cmpd="sng" algn="ctr">
                      <a:solidFill>
                        <a:srgbClr val="D3DBE3"/>
                      </a:solidFill>
                      <a:prstDash val="solid"/>
                      <a:round/>
                      <a:headEnd type="none" w="med" len="med"/>
                      <a:tailEnd type="none" w="med" len="med"/>
                    </a:lnT>
                    <a:lnB w="6350" cap="flat" cmpd="sng" algn="ctr">
                      <a:solidFill>
                        <a:srgbClr val="D3DBE3"/>
                      </a:solidFill>
                      <a:prstDash val="solid"/>
                      <a:round/>
                      <a:headEnd type="none" w="med" len="med"/>
                      <a:tailEnd type="none" w="med" len="med"/>
                    </a:lnB>
                    <a:solidFill>
                      <a:srgbClr val="FFFFFF"/>
                    </a:solidFill>
                  </a:tcPr>
                </a:tc>
                <a:tc>
                  <a:txBody>
                    <a:bodyPr/>
                    <a:lstStyle/>
                    <a:p>
                      <a:pPr indent="0" marL="0">
                        <a:buNone/>
                      </a:pPr>
                      <a:r>
                        <a:rPr lang="en-US" sz="1250" dirty="0">
                          <a:solidFill>
                            <a:srgbClr val="17222C"/>
                          </a:solidFill>
                          <a:latin typeface="Calibri" pitchFamily="34" charset="0"/>
                          <a:ea typeface="Calibri" pitchFamily="34" charset="-122"/>
                          <a:cs typeface="Calibri" pitchFamily="34" charset="-120"/>
                        </a:rPr>
                        <a:t>Les serveurs n'ont pas d'adresse publique. Un seul point d'accès, limité à notre IP.</a:t>
                      </a:r>
                      <a:endParaRPr lang="en-US" sz="1250" dirty="0">
                        <a:latin typeface="Calibri" charset="0"/>
                        <a:ea typeface="Calibri" charset="0"/>
                        <a:cs typeface="Calibri" charset="0"/>
                      </a:endParaRPr>
                    </a:p>
                  </a:txBody>
                  <a:tcPr marL="91440" marR="91440" marT="45720" marB="45720" anchor="t">
                    <a:lnL w="6350" cap="flat" cmpd="sng" algn="ctr">
                      <a:solidFill>
                        <a:srgbClr val="D3DBE3"/>
                      </a:solidFill>
                      <a:prstDash val="solid"/>
                      <a:round/>
                      <a:headEnd type="none" w="med" len="med"/>
                      <a:tailEnd type="none" w="med" len="med"/>
                    </a:lnL>
                    <a:lnR w="6350" cap="flat" cmpd="sng" algn="ctr">
                      <a:solidFill>
                        <a:srgbClr val="D3DBE3"/>
                      </a:solidFill>
                      <a:prstDash val="solid"/>
                      <a:round/>
                      <a:headEnd type="none" w="med" len="med"/>
                      <a:tailEnd type="none" w="med" len="med"/>
                    </a:lnR>
                    <a:lnT w="6350" cap="flat" cmpd="sng" algn="ctr">
                      <a:solidFill>
                        <a:srgbClr val="D3DBE3"/>
                      </a:solidFill>
                      <a:prstDash val="solid"/>
                      <a:round/>
                      <a:headEnd type="none" w="med" len="med"/>
                      <a:tailEnd type="none" w="med" len="med"/>
                    </a:lnT>
                    <a:lnB w="6350" cap="flat" cmpd="sng" algn="ctr">
                      <a:solidFill>
                        <a:srgbClr val="D3DBE3"/>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66928" y="384048"/>
            <a:ext cx="11055096" cy="274320"/>
          </a:xfrm>
          <a:prstGeom prst="rect">
            <a:avLst/>
          </a:prstGeom>
          <a:noFill/>
          <a:ln/>
        </p:spPr>
        <p:txBody>
          <a:bodyPr wrap="square" lIns="0" tIns="0" rIns="0" bIns="0" rtlCol="0" anchor="ctr"/>
          <a:lstStyle/>
          <a:p>
            <a:pPr indent="0" marL="0">
              <a:buNone/>
            </a:pPr>
            <a:r>
              <a:rPr lang="en-US" sz="1100" spc="200" kern="0" dirty="0">
                <a:solidFill>
                  <a:srgbClr val="9E5D06"/>
                </a:solidFill>
                <a:latin typeface="Courier New" pitchFamily="34" charset="0"/>
                <a:ea typeface="Courier New" pitchFamily="34" charset="-122"/>
                <a:cs typeface="Courier New" pitchFamily="34" charset="-120"/>
              </a:rPr>
              <a:t>04 — TERRAFORM</a:t>
            </a:r>
            <a:endParaRPr lang="en-US" sz="1100" dirty="0"/>
          </a:p>
        </p:txBody>
      </p:sp>
      <p:sp>
        <p:nvSpPr>
          <p:cNvPr id="3" name="Text 1"/>
          <p:cNvSpPr txBox="1"/>
          <p:nvPr/>
        </p:nvSpPr>
        <p:spPr>
          <a:xfrm>
            <a:off x="566928" y="694944"/>
            <a:ext cx="11055096" cy="658368"/>
          </a:xfrm>
          <a:prstGeom prst="rect">
            <a:avLst/>
          </a:prstGeom>
          <a:noFill/>
          <a:ln/>
        </p:spPr>
        <p:txBody>
          <a:bodyPr wrap="square" lIns="0" tIns="0" rIns="0" bIns="0" rtlCol="0" anchor="ctr"/>
          <a:lstStyle/>
          <a:p>
            <a:pPr indent="0" marL="0">
              <a:buNone/>
            </a:pPr>
            <a:r>
              <a:rPr lang="en-US" sz="3000" b="1" dirty="0">
                <a:solidFill>
                  <a:srgbClr val="17222C"/>
                </a:solidFill>
                <a:latin typeface="Arial" pitchFamily="34" charset="0"/>
                <a:ea typeface="Arial" pitchFamily="34" charset="-122"/>
                <a:cs typeface="Arial" pitchFamily="34" charset="-120"/>
              </a:rPr>
              <a:t>Terraform crée l'infrastructure</a:t>
            </a:r>
            <a:endParaRPr lang="en-US" sz="3000" dirty="0"/>
          </a:p>
        </p:txBody>
      </p:sp>
      <p:sp>
        <p:nvSpPr>
          <p:cNvPr id="4" name="Text 2"/>
          <p:cNvSpPr txBox="1"/>
          <p:nvPr/>
        </p:nvSpPr>
        <p:spPr>
          <a:xfrm>
            <a:off x="566928" y="1444752"/>
            <a:ext cx="10789920" cy="411480"/>
          </a:xfrm>
          <a:prstGeom prst="rect">
            <a:avLst/>
          </a:prstGeom>
          <a:noFill/>
          <a:ln/>
        </p:spPr>
        <p:txBody>
          <a:bodyPr wrap="square" lIns="0" tIns="0" rIns="0" bIns="0" rtlCol="0" anchor="ctr"/>
          <a:lstStyle/>
          <a:p>
            <a:pPr indent="0" marL="0">
              <a:buNone/>
            </a:pPr>
            <a:r>
              <a:rPr lang="en-US" sz="1400" dirty="0">
                <a:solidFill>
                  <a:srgbClr val="5C6B7A"/>
                </a:solidFill>
                <a:latin typeface="Calibri" pitchFamily="34" charset="0"/>
                <a:ea typeface="Calibri" pitchFamily="34" charset="-122"/>
                <a:cs typeface="Calibri" pitchFamily="34" charset="-120"/>
              </a:rPr>
              <a:t>Le code est découpé en six modules, un par couche. Chaque module a ses variables et ses sorties, et peut être relu séparément.</a:t>
            </a:r>
            <a:endParaRPr lang="en-US" sz="1400" dirty="0"/>
          </a:p>
        </p:txBody>
      </p:sp>
      <p:sp>
        <p:nvSpPr>
          <p:cNvPr id="5" name="Shape 3"/>
          <p:cNvSpPr/>
          <p:nvPr/>
        </p:nvSpPr>
        <p:spPr>
          <a:xfrm>
            <a:off x="566928" y="2066544"/>
            <a:ext cx="91440" cy="256032"/>
          </a:xfrm>
          <a:prstGeom prst="rect">
            <a:avLst/>
          </a:prstGeom>
          <a:solidFill>
            <a:srgbClr val="0C6A72"/>
          </a:solidFill>
          <a:ln w="12700">
            <a:solidFill>
              <a:srgbClr val="0C6A72"/>
            </a:solidFill>
            <a:prstDash val="solid"/>
          </a:ln>
        </p:spPr>
      </p:sp>
      <p:sp>
        <p:nvSpPr>
          <p:cNvPr id="6" name="Text 4"/>
          <p:cNvSpPr txBox="1"/>
          <p:nvPr/>
        </p:nvSpPr>
        <p:spPr>
          <a:xfrm>
            <a:off x="768096" y="2011680"/>
            <a:ext cx="1645920" cy="365760"/>
          </a:xfrm>
          <a:prstGeom prst="rect">
            <a:avLst/>
          </a:prstGeom>
          <a:noFill/>
          <a:ln/>
        </p:spPr>
        <p:txBody>
          <a:bodyPr wrap="square" lIns="0" tIns="0" rIns="0" bIns="0" rtlCol="0" anchor="ctr"/>
          <a:lstStyle/>
          <a:p>
            <a:pPr indent="0" marL="0">
              <a:buNone/>
            </a:pPr>
            <a:r>
              <a:rPr lang="en-US" sz="1200" b="1" dirty="0">
                <a:solidFill>
                  <a:srgbClr val="17222C"/>
                </a:solidFill>
                <a:latin typeface="Courier New" pitchFamily="34" charset="0"/>
                <a:ea typeface="Courier New" pitchFamily="34" charset="-122"/>
                <a:cs typeface="Courier New" pitchFamily="34" charset="-120"/>
              </a:rPr>
              <a:t>network</a:t>
            </a:r>
            <a:endParaRPr lang="en-US" sz="1200" dirty="0"/>
          </a:p>
        </p:txBody>
      </p:sp>
      <p:sp>
        <p:nvSpPr>
          <p:cNvPr id="7" name="Text 5"/>
          <p:cNvSpPr txBox="1"/>
          <p:nvPr/>
        </p:nvSpPr>
        <p:spPr>
          <a:xfrm>
            <a:off x="2395728" y="2011680"/>
            <a:ext cx="3931920" cy="365760"/>
          </a:xfrm>
          <a:prstGeom prst="rect">
            <a:avLst/>
          </a:prstGeom>
          <a:noFill/>
          <a:ln/>
        </p:spPr>
        <p:txBody>
          <a:bodyPr wrap="square" lIns="0" tIns="0" rIns="0" bIns="0" rtlCol="0" anchor="ctr"/>
          <a:lstStyle/>
          <a:p>
            <a:pPr indent="0" marL="0">
              <a:buNone/>
            </a:pPr>
            <a:r>
              <a:rPr lang="en-US" sz="1250" dirty="0">
                <a:solidFill>
                  <a:srgbClr val="5C6B7A"/>
                </a:solidFill>
                <a:latin typeface="Calibri" pitchFamily="34" charset="0"/>
                <a:ea typeface="Calibri" pitchFamily="34" charset="-122"/>
                <a:cs typeface="Calibri" pitchFamily="34" charset="-120"/>
              </a:rPr>
              <a:t>VPC, sous-réseaux, NAT, routes</a:t>
            </a:r>
            <a:endParaRPr lang="en-US" sz="1250" dirty="0"/>
          </a:p>
        </p:txBody>
      </p:sp>
      <p:sp>
        <p:nvSpPr>
          <p:cNvPr id="8" name="Shape 6"/>
          <p:cNvSpPr/>
          <p:nvPr/>
        </p:nvSpPr>
        <p:spPr>
          <a:xfrm>
            <a:off x="566928" y="2542032"/>
            <a:ext cx="91440" cy="256032"/>
          </a:xfrm>
          <a:prstGeom prst="rect">
            <a:avLst/>
          </a:prstGeom>
          <a:solidFill>
            <a:srgbClr val="0C6A72"/>
          </a:solidFill>
          <a:ln w="12700">
            <a:solidFill>
              <a:srgbClr val="0C6A72"/>
            </a:solidFill>
            <a:prstDash val="solid"/>
          </a:ln>
        </p:spPr>
      </p:sp>
      <p:sp>
        <p:nvSpPr>
          <p:cNvPr id="9" name="Text 7"/>
          <p:cNvSpPr txBox="1"/>
          <p:nvPr/>
        </p:nvSpPr>
        <p:spPr>
          <a:xfrm>
            <a:off x="768096" y="2487168"/>
            <a:ext cx="1645920" cy="365760"/>
          </a:xfrm>
          <a:prstGeom prst="rect">
            <a:avLst/>
          </a:prstGeom>
          <a:noFill/>
          <a:ln/>
        </p:spPr>
        <p:txBody>
          <a:bodyPr wrap="square" lIns="0" tIns="0" rIns="0" bIns="0" rtlCol="0" anchor="ctr"/>
          <a:lstStyle/>
          <a:p>
            <a:pPr indent="0" marL="0">
              <a:buNone/>
            </a:pPr>
            <a:r>
              <a:rPr lang="en-US" sz="1200" b="1" dirty="0">
                <a:solidFill>
                  <a:srgbClr val="17222C"/>
                </a:solidFill>
                <a:latin typeface="Courier New" pitchFamily="34" charset="0"/>
                <a:ea typeface="Courier New" pitchFamily="34" charset="-122"/>
                <a:cs typeface="Courier New" pitchFamily="34" charset="-120"/>
              </a:rPr>
              <a:t>security</a:t>
            </a:r>
            <a:endParaRPr lang="en-US" sz="1200" dirty="0"/>
          </a:p>
        </p:txBody>
      </p:sp>
      <p:sp>
        <p:nvSpPr>
          <p:cNvPr id="10" name="Text 8"/>
          <p:cNvSpPr txBox="1"/>
          <p:nvPr/>
        </p:nvSpPr>
        <p:spPr>
          <a:xfrm>
            <a:off x="2395728" y="2487168"/>
            <a:ext cx="3931920" cy="365760"/>
          </a:xfrm>
          <a:prstGeom prst="rect">
            <a:avLst/>
          </a:prstGeom>
          <a:noFill/>
          <a:ln/>
        </p:spPr>
        <p:txBody>
          <a:bodyPr wrap="square" lIns="0" tIns="0" rIns="0" bIns="0" rtlCol="0" anchor="ctr"/>
          <a:lstStyle/>
          <a:p>
            <a:pPr indent="0" marL="0">
              <a:buNone/>
            </a:pPr>
            <a:r>
              <a:rPr lang="en-US" sz="1250" dirty="0">
                <a:solidFill>
                  <a:srgbClr val="5C6B7A"/>
                </a:solidFill>
                <a:latin typeface="Calibri" pitchFamily="34" charset="0"/>
                <a:ea typeface="Calibri" pitchFamily="34" charset="-122"/>
                <a:cs typeface="Calibri" pitchFamily="34" charset="-120"/>
              </a:rPr>
              <a:t>groupes de sécurité</a:t>
            </a:r>
            <a:endParaRPr lang="en-US" sz="1250" dirty="0"/>
          </a:p>
        </p:txBody>
      </p:sp>
      <p:sp>
        <p:nvSpPr>
          <p:cNvPr id="11" name="Shape 9"/>
          <p:cNvSpPr/>
          <p:nvPr/>
        </p:nvSpPr>
        <p:spPr>
          <a:xfrm>
            <a:off x="566928" y="3017520"/>
            <a:ext cx="91440" cy="256032"/>
          </a:xfrm>
          <a:prstGeom prst="rect">
            <a:avLst/>
          </a:prstGeom>
          <a:solidFill>
            <a:srgbClr val="0C6A72"/>
          </a:solidFill>
          <a:ln w="12700">
            <a:solidFill>
              <a:srgbClr val="0C6A72"/>
            </a:solidFill>
            <a:prstDash val="solid"/>
          </a:ln>
        </p:spPr>
      </p:sp>
      <p:sp>
        <p:nvSpPr>
          <p:cNvPr id="12" name="Text 10"/>
          <p:cNvSpPr txBox="1"/>
          <p:nvPr/>
        </p:nvSpPr>
        <p:spPr>
          <a:xfrm>
            <a:off x="768096" y="2962656"/>
            <a:ext cx="1645920" cy="365760"/>
          </a:xfrm>
          <a:prstGeom prst="rect">
            <a:avLst/>
          </a:prstGeom>
          <a:noFill/>
          <a:ln/>
        </p:spPr>
        <p:txBody>
          <a:bodyPr wrap="square" lIns="0" tIns="0" rIns="0" bIns="0" rtlCol="0" anchor="ctr"/>
          <a:lstStyle/>
          <a:p>
            <a:pPr indent="0" marL="0">
              <a:buNone/>
            </a:pPr>
            <a:r>
              <a:rPr lang="en-US" sz="1200" b="1" dirty="0">
                <a:solidFill>
                  <a:srgbClr val="17222C"/>
                </a:solidFill>
                <a:latin typeface="Courier New" pitchFamily="34" charset="0"/>
                <a:ea typeface="Courier New" pitchFamily="34" charset="-122"/>
                <a:cs typeface="Courier New" pitchFamily="34" charset="-120"/>
              </a:rPr>
              <a:t>storage</a:t>
            </a:r>
            <a:endParaRPr lang="en-US" sz="1200" dirty="0"/>
          </a:p>
        </p:txBody>
      </p:sp>
      <p:sp>
        <p:nvSpPr>
          <p:cNvPr id="13" name="Text 11"/>
          <p:cNvSpPr txBox="1"/>
          <p:nvPr/>
        </p:nvSpPr>
        <p:spPr>
          <a:xfrm>
            <a:off x="2395728" y="2962656"/>
            <a:ext cx="3931920" cy="365760"/>
          </a:xfrm>
          <a:prstGeom prst="rect">
            <a:avLst/>
          </a:prstGeom>
          <a:noFill/>
          <a:ln/>
        </p:spPr>
        <p:txBody>
          <a:bodyPr wrap="square" lIns="0" tIns="0" rIns="0" bIns="0" rtlCol="0" anchor="ctr"/>
          <a:lstStyle/>
          <a:p>
            <a:pPr indent="0" marL="0">
              <a:buNone/>
            </a:pPr>
            <a:r>
              <a:rPr lang="en-US" sz="1250" dirty="0">
                <a:solidFill>
                  <a:srgbClr val="5C6B7A"/>
                </a:solidFill>
                <a:latin typeface="Calibri" pitchFamily="34" charset="0"/>
                <a:ea typeface="Calibri" pitchFamily="34" charset="-122"/>
                <a:cs typeface="Calibri" pitchFamily="34" charset="-120"/>
              </a:rPr>
              <a:t>disque partagé EFS</a:t>
            </a:r>
            <a:endParaRPr lang="en-US" sz="1250" dirty="0"/>
          </a:p>
        </p:txBody>
      </p:sp>
      <p:sp>
        <p:nvSpPr>
          <p:cNvPr id="14" name="Shape 12"/>
          <p:cNvSpPr/>
          <p:nvPr/>
        </p:nvSpPr>
        <p:spPr>
          <a:xfrm>
            <a:off x="566928" y="3493008"/>
            <a:ext cx="91440" cy="256032"/>
          </a:xfrm>
          <a:prstGeom prst="rect">
            <a:avLst/>
          </a:prstGeom>
          <a:solidFill>
            <a:srgbClr val="0C6A72"/>
          </a:solidFill>
          <a:ln w="12700">
            <a:solidFill>
              <a:srgbClr val="0C6A72"/>
            </a:solidFill>
            <a:prstDash val="solid"/>
          </a:ln>
        </p:spPr>
      </p:sp>
      <p:sp>
        <p:nvSpPr>
          <p:cNvPr id="15" name="Text 13"/>
          <p:cNvSpPr txBox="1"/>
          <p:nvPr/>
        </p:nvSpPr>
        <p:spPr>
          <a:xfrm>
            <a:off x="768096" y="3438144"/>
            <a:ext cx="1645920" cy="365760"/>
          </a:xfrm>
          <a:prstGeom prst="rect">
            <a:avLst/>
          </a:prstGeom>
          <a:noFill/>
          <a:ln/>
        </p:spPr>
        <p:txBody>
          <a:bodyPr wrap="square" lIns="0" tIns="0" rIns="0" bIns="0" rtlCol="0" anchor="ctr"/>
          <a:lstStyle/>
          <a:p>
            <a:pPr indent="0" marL="0">
              <a:buNone/>
            </a:pPr>
            <a:r>
              <a:rPr lang="en-US" sz="1200" b="1" dirty="0">
                <a:solidFill>
                  <a:srgbClr val="17222C"/>
                </a:solidFill>
                <a:latin typeface="Courier New" pitchFamily="34" charset="0"/>
                <a:ea typeface="Courier New" pitchFamily="34" charset="-122"/>
                <a:cs typeface="Courier New" pitchFamily="34" charset="-120"/>
              </a:rPr>
              <a:t>database</a:t>
            </a:r>
            <a:endParaRPr lang="en-US" sz="1200" dirty="0"/>
          </a:p>
        </p:txBody>
      </p:sp>
      <p:sp>
        <p:nvSpPr>
          <p:cNvPr id="16" name="Text 14"/>
          <p:cNvSpPr txBox="1"/>
          <p:nvPr/>
        </p:nvSpPr>
        <p:spPr>
          <a:xfrm>
            <a:off x="2395728" y="3438144"/>
            <a:ext cx="3931920" cy="365760"/>
          </a:xfrm>
          <a:prstGeom prst="rect">
            <a:avLst/>
          </a:prstGeom>
          <a:noFill/>
          <a:ln/>
        </p:spPr>
        <p:txBody>
          <a:bodyPr wrap="square" lIns="0" tIns="0" rIns="0" bIns="0" rtlCol="0" anchor="ctr"/>
          <a:lstStyle/>
          <a:p>
            <a:pPr indent="0" marL="0">
              <a:buNone/>
            </a:pPr>
            <a:r>
              <a:rPr lang="en-US" sz="1250" dirty="0">
                <a:solidFill>
                  <a:srgbClr val="5C6B7A"/>
                </a:solidFill>
                <a:latin typeface="Calibri" pitchFamily="34" charset="0"/>
                <a:ea typeface="Calibri" pitchFamily="34" charset="-122"/>
                <a:cs typeface="Calibri" pitchFamily="34" charset="-120"/>
              </a:rPr>
              <a:t>RDS MySQL, Secrets Manager</a:t>
            </a:r>
            <a:endParaRPr lang="en-US" sz="1250" dirty="0"/>
          </a:p>
        </p:txBody>
      </p:sp>
      <p:sp>
        <p:nvSpPr>
          <p:cNvPr id="17" name="Shape 15"/>
          <p:cNvSpPr/>
          <p:nvPr/>
        </p:nvSpPr>
        <p:spPr>
          <a:xfrm>
            <a:off x="566928" y="3968496"/>
            <a:ext cx="91440" cy="256032"/>
          </a:xfrm>
          <a:prstGeom prst="rect">
            <a:avLst/>
          </a:prstGeom>
          <a:solidFill>
            <a:srgbClr val="0C6A72"/>
          </a:solidFill>
          <a:ln w="12700">
            <a:solidFill>
              <a:srgbClr val="0C6A72"/>
            </a:solidFill>
            <a:prstDash val="solid"/>
          </a:ln>
        </p:spPr>
      </p:sp>
      <p:sp>
        <p:nvSpPr>
          <p:cNvPr id="18" name="Text 16"/>
          <p:cNvSpPr txBox="1"/>
          <p:nvPr/>
        </p:nvSpPr>
        <p:spPr>
          <a:xfrm>
            <a:off x="768096" y="3913632"/>
            <a:ext cx="1645920" cy="365760"/>
          </a:xfrm>
          <a:prstGeom prst="rect">
            <a:avLst/>
          </a:prstGeom>
          <a:noFill/>
          <a:ln/>
        </p:spPr>
        <p:txBody>
          <a:bodyPr wrap="square" lIns="0" tIns="0" rIns="0" bIns="0" rtlCol="0" anchor="ctr"/>
          <a:lstStyle/>
          <a:p>
            <a:pPr indent="0" marL="0">
              <a:buNone/>
            </a:pPr>
            <a:r>
              <a:rPr lang="en-US" sz="1200" b="1" dirty="0">
                <a:solidFill>
                  <a:srgbClr val="17222C"/>
                </a:solidFill>
                <a:latin typeface="Courier New" pitchFamily="34" charset="0"/>
                <a:ea typeface="Courier New" pitchFamily="34" charset="-122"/>
                <a:cs typeface="Courier New" pitchFamily="34" charset="-120"/>
              </a:rPr>
              <a:t>compute</a:t>
            </a:r>
            <a:endParaRPr lang="en-US" sz="1200" dirty="0"/>
          </a:p>
        </p:txBody>
      </p:sp>
      <p:sp>
        <p:nvSpPr>
          <p:cNvPr id="19" name="Text 17"/>
          <p:cNvSpPr txBox="1"/>
          <p:nvPr/>
        </p:nvSpPr>
        <p:spPr>
          <a:xfrm>
            <a:off x="2395728" y="3913632"/>
            <a:ext cx="3931920" cy="365760"/>
          </a:xfrm>
          <a:prstGeom prst="rect">
            <a:avLst/>
          </a:prstGeom>
          <a:noFill/>
          <a:ln/>
        </p:spPr>
        <p:txBody>
          <a:bodyPr wrap="square" lIns="0" tIns="0" rIns="0" bIns="0" rtlCol="0" anchor="ctr"/>
          <a:lstStyle/>
          <a:p>
            <a:pPr indent="0" marL="0">
              <a:buNone/>
            </a:pPr>
            <a:r>
              <a:rPr lang="en-US" sz="1250" dirty="0">
                <a:solidFill>
                  <a:srgbClr val="5C6B7A"/>
                </a:solidFill>
                <a:latin typeface="Calibri" pitchFamily="34" charset="0"/>
                <a:ea typeface="Calibri" pitchFamily="34" charset="-122"/>
                <a:cs typeface="Calibri" pitchFamily="34" charset="-120"/>
              </a:rPr>
              <a:t>instances EC2, bastion, rôle IAM</a:t>
            </a:r>
            <a:endParaRPr lang="en-US" sz="1250" dirty="0"/>
          </a:p>
        </p:txBody>
      </p:sp>
      <p:sp>
        <p:nvSpPr>
          <p:cNvPr id="20" name="Shape 18"/>
          <p:cNvSpPr/>
          <p:nvPr/>
        </p:nvSpPr>
        <p:spPr>
          <a:xfrm>
            <a:off x="566928" y="4443984"/>
            <a:ext cx="91440" cy="256032"/>
          </a:xfrm>
          <a:prstGeom prst="rect">
            <a:avLst/>
          </a:prstGeom>
          <a:solidFill>
            <a:srgbClr val="0C6A72"/>
          </a:solidFill>
          <a:ln w="12700">
            <a:solidFill>
              <a:srgbClr val="0C6A72"/>
            </a:solidFill>
            <a:prstDash val="solid"/>
          </a:ln>
        </p:spPr>
      </p:sp>
      <p:sp>
        <p:nvSpPr>
          <p:cNvPr id="21" name="Text 19"/>
          <p:cNvSpPr txBox="1"/>
          <p:nvPr/>
        </p:nvSpPr>
        <p:spPr>
          <a:xfrm>
            <a:off x="768096" y="4389120"/>
            <a:ext cx="1645920" cy="365760"/>
          </a:xfrm>
          <a:prstGeom prst="rect">
            <a:avLst/>
          </a:prstGeom>
          <a:noFill/>
          <a:ln/>
        </p:spPr>
        <p:txBody>
          <a:bodyPr wrap="square" lIns="0" tIns="0" rIns="0" bIns="0" rtlCol="0" anchor="ctr"/>
          <a:lstStyle/>
          <a:p>
            <a:pPr indent="0" marL="0">
              <a:buNone/>
            </a:pPr>
            <a:r>
              <a:rPr lang="en-US" sz="1200" b="1" dirty="0">
                <a:solidFill>
                  <a:srgbClr val="17222C"/>
                </a:solidFill>
                <a:latin typeface="Courier New" pitchFamily="34" charset="0"/>
                <a:ea typeface="Courier New" pitchFamily="34" charset="-122"/>
                <a:cs typeface="Courier New" pitchFamily="34" charset="-120"/>
              </a:rPr>
              <a:t>loadbalancer</a:t>
            </a:r>
            <a:endParaRPr lang="en-US" sz="1200" dirty="0"/>
          </a:p>
        </p:txBody>
      </p:sp>
      <p:sp>
        <p:nvSpPr>
          <p:cNvPr id="22" name="Text 20"/>
          <p:cNvSpPr txBox="1"/>
          <p:nvPr/>
        </p:nvSpPr>
        <p:spPr>
          <a:xfrm>
            <a:off x="2395728" y="4389120"/>
            <a:ext cx="3931920" cy="365760"/>
          </a:xfrm>
          <a:prstGeom prst="rect">
            <a:avLst/>
          </a:prstGeom>
          <a:noFill/>
          <a:ln/>
        </p:spPr>
        <p:txBody>
          <a:bodyPr wrap="square" lIns="0" tIns="0" rIns="0" bIns="0" rtlCol="0" anchor="ctr"/>
          <a:lstStyle/>
          <a:p>
            <a:pPr indent="0" marL="0">
              <a:buNone/>
            </a:pPr>
            <a:r>
              <a:rPr lang="en-US" sz="1250" dirty="0">
                <a:solidFill>
                  <a:srgbClr val="5C6B7A"/>
                </a:solidFill>
                <a:latin typeface="Calibri" pitchFamily="34" charset="0"/>
                <a:ea typeface="Calibri" pitchFamily="34" charset="-122"/>
                <a:cs typeface="Calibri" pitchFamily="34" charset="-120"/>
              </a:rPr>
              <a:t>ALB, alarmes CloudWatch</a:t>
            </a:r>
            <a:endParaRPr lang="en-US" sz="1250" dirty="0"/>
          </a:p>
        </p:txBody>
      </p:sp>
      <p:sp>
        <p:nvSpPr>
          <p:cNvPr id="23" name="Shape 21"/>
          <p:cNvSpPr/>
          <p:nvPr/>
        </p:nvSpPr>
        <p:spPr>
          <a:xfrm>
            <a:off x="6446520" y="2011680"/>
            <a:ext cx="5175504" cy="1097280"/>
          </a:xfrm>
          <a:prstGeom prst="roundRect">
            <a:avLst>
              <a:gd name="adj" fmla="val 5000"/>
            </a:avLst>
          </a:prstGeom>
          <a:solidFill>
            <a:srgbClr val="F2F5F7"/>
          </a:solidFill>
          <a:ln w="9525">
            <a:solidFill>
              <a:srgbClr val="D3DBE3"/>
            </a:solidFill>
            <a:prstDash val="solid"/>
          </a:ln>
        </p:spPr>
      </p:sp>
      <p:sp>
        <p:nvSpPr>
          <p:cNvPr id="24" name="Text 22"/>
          <p:cNvSpPr txBox="1"/>
          <p:nvPr/>
        </p:nvSpPr>
        <p:spPr>
          <a:xfrm>
            <a:off x="6629400" y="2121408"/>
            <a:ext cx="4846320" cy="274320"/>
          </a:xfrm>
          <a:prstGeom prst="rect">
            <a:avLst/>
          </a:prstGeom>
          <a:noFill/>
          <a:ln/>
        </p:spPr>
        <p:txBody>
          <a:bodyPr wrap="square" lIns="0" tIns="0" rIns="0" bIns="0" rtlCol="0" anchor="ctr"/>
          <a:lstStyle/>
          <a:p>
            <a:pPr indent="0" marL="0">
              <a:buNone/>
            </a:pPr>
            <a:r>
              <a:rPr lang="en-US" sz="1300" b="1" dirty="0">
                <a:solidFill>
                  <a:srgbClr val="17222C"/>
                </a:solidFill>
                <a:latin typeface="Arial" pitchFamily="34" charset="0"/>
                <a:ea typeface="Arial" pitchFamily="34" charset="-122"/>
                <a:cs typeface="Arial" pitchFamily="34" charset="-120"/>
              </a:rPr>
              <a:t>Trois environnements, un seul code</a:t>
            </a:r>
            <a:endParaRPr lang="en-US" sz="1300" dirty="0"/>
          </a:p>
        </p:txBody>
      </p:sp>
      <p:sp>
        <p:nvSpPr>
          <p:cNvPr id="25" name="Text 23"/>
          <p:cNvSpPr txBox="1"/>
          <p:nvPr/>
        </p:nvSpPr>
        <p:spPr>
          <a:xfrm>
            <a:off x="6629400" y="2414016"/>
            <a:ext cx="4846320" cy="658368"/>
          </a:xfrm>
          <a:prstGeom prst="rect">
            <a:avLst/>
          </a:prstGeom>
          <a:noFill/>
          <a:ln/>
        </p:spPr>
        <p:txBody>
          <a:bodyPr wrap="square" lIns="0" tIns="0" rIns="0" bIns="0" rtlCol="0" anchor="ctr"/>
          <a:lstStyle/>
          <a:p>
            <a:pPr indent="0" marL="0">
              <a:buNone/>
            </a:pPr>
            <a:r>
              <a:rPr lang="en-US" sz="1150" dirty="0">
                <a:solidFill>
                  <a:srgbClr val="5C6B7A"/>
                </a:solidFill>
                <a:latin typeface="Calibri" pitchFamily="34" charset="0"/>
                <a:ea typeface="Calibri" pitchFamily="34" charset="-122"/>
                <a:cs typeface="Calibri" pitchFamily="34" charset="-120"/>
              </a:rPr>
              <a:t>dev, staging et prod utilisent le même code. Une table de variables définit les tailles : 1 serveur en dev, 3 serveurs sur 3 zones en prod.</a:t>
            </a:r>
            <a:endParaRPr lang="en-US" sz="1150" dirty="0"/>
          </a:p>
        </p:txBody>
      </p:sp>
      <p:sp>
        <p:nvSpPr>
          <p:cNvPr id="26" name="Shape 24"/>
          <p:cNvSpPr/>
          <p:nvPr/>
        </p:nvSpPr>
        <p:spPr>
          <a:xfrm>
            <a:off x="6446520" y="3227832"/>
            <a:ext cx="5175504" cy="1097280"/>
          </a:xfrm>
          <a:prstGeom prst="roundRect">
            <a:avLst>
              <a:gd name="adj" fmla="val 5000"/>
            </a:avLst>
          </a:prstGeom>
          <a:solidFill>
            <a:srgbClr val="F2F5F7"/>
          </a:solidFill>
          <a:ln w="9525">
            <a:solidFill>
              <a:srgbClr val="D3DBE3"/>
            </a:solidFill>
            <a:prstDash val="solid"/>
          </a:ln>
        </p:spPr>
      </p:sp>
      <p:sp>
        <p:nvSpPr>
          <p:cNvPr id="27" name="Text 25"/>
          <p:cNvSpPr txBox="1"/>
          <p:nvPr/>
        </p:nvSpPr>
        <p:spPr>
          <a:xfrm>
            <a:off x="6629400" y="3337560"/>
            <a:ext cx="4846320" cy="274320"/>
          </a:xfrm>
          <a:prstGeom prst="rect">
            <a:avLst/>
          </a:prstGeom>
          <a:noFill/>
          <a:ln/>
        </p:spPr>
        <p:txBody>
          <a:bodyPr wrap="square" lIns="0" tIns="0" rIns="0" bIns="0" rtlCol="0" anchor="ctr"/>
          <a:lstStyle/>
          <a:p>
            <a:pPr indent="0" marL="0">
              <a:buNone/>
            </a:pPr>
            <a:r>
              <a:rPr lang="en-US" sz="1300" b="1" dirty="0">
                <a:solidFill>
                  <a:srgbClr val="17222C"/>
                </a:solidFill>
                <a:latin typeface="Arial" pitchFamily="34" charset="0"/>
                <a:ea typeface="Arial" pitchFamily="34" charset="-122"/>
                <a:cs typeface="Arial" pitchFamily="34" charset="-120"/>
              </a:rPr>
              <a:t>État distant et verrouillage</a:t>
            </a:r>
            <a:endParaRPr lang="en-US" sz="1300" dirty="0"/>
          </a:p>
        </p:txBody>
      </p:sp>
      <p:sp>
        <p:nvSpPr>
          <p:cNvPr id="28" name="Text 26"/>
          <p:cNvSpPr txBox="1"/>
          <p:nvPr/>
        </p:nvSpPr>
        <p:spPr>
          <a:xfrm>
            <a:off x="6629400" y="3630168"/>
            <a:ext cx="4846320" cy="658368"/>
          </a:xfrm>
          <a:prstGeom prst="rect">
            <a:avLst/>
          </a:prstGeom>
          <a:noFill/>
          <a:ln/>
        </p:spPr>
        <p:txBody>
          <a:bodyPr wrap="square" lIns="0" tIns="0" rIns="0" bIns="0" rtlCol="0" anchor="ctr"/>
          <a:lstStyle/>
          <a:p>
            <a:pPr indent="0" marL="0">
              <a:buNone/>
            </a:pPr>
            <a:r>
              <a:rPr lang="en-US" sz="1150" dirty="0">
                <a:solidFill>
                  <a:srgbClr val="5C6B7A"/>
                </a:solidFill>
                <a:latin typeface="Calibri" pitchFamily="34" charset="0"/>
                <a:ea typeface="Calibri" pitchFamily="34" charset="-122"/>
                <a:cs typeface="Calibri" pitchFamily="34" charset="-120"/>
              </a:rPr>
              <a:t>L'état Terraform est dans un bucket S3 versionné et chiffré, avec un verrou. Deux personnes ne peuvent pas modifier en même temps.</a:t>
            </a:r>
            <a:endParaRPr lang="en-US" sz="1150" dirty="0"/>
          </a:p>
        </p:txBody>
      </p:sp>
      <p:sp>
        <p:nvSpPr>
          <p:cNvPr id="29" name="Shape 27"/>
          <p:cNvSpPr/>
          <p:nvPr/>
        </p:nvSpPr>
        <p:spPr>
          <a:xfrm>
            <a:off x="6446520" y="4443984"/>
            <a:ext cx="5175504" cy="1097280"/>
          </a:xfrm>
          <a:prstGeom prst="roundRect">
            <a:avLst>
              <a:gd name="adj" fmla="val 5000"/>
            </a:avLst>
          </a:prstGeom>
          <a:solidFill>
            <a:srgbClr val="F2F5F7"/>
          </a:solidFill>
          <a:ln w="9525">
            <a:solidFill>
              <a:srgbClr val="D3DBE3"/>
            </a:solidFill>
            <a:prstDash val="solid"/>
          </a:ln>
        </p:spPr>
      </p:sp>
      <p:sp>
        <p:nvSpPr>
          <p:cNvPr id="30" name="Text 28"/>
          <p:cNvSpPr txBox="1"/>
          <p:nvPr/>
        </p:nvSpPr>
        <p:spPr>
          <a:xfrm>
            <a:off x="6629400" y="4553712"/>
            <a:ext cx="4846320" cy="274320"/>
          </a:xfrm>
          <a:prstGeom prst="rect">
            <a:avLst/>
          </a:prstGeom>
          <a:noFill/>
          <a:ln/>
        </p:spPr>
        <p:txBody>
          <a:bodyPr wrap="square" lIns="0" tIns="0" rIns="0" bIns="0" rtlCol="0" anchor="ctr"/>
          <a:lstStyle/>
          <a:p>
            <a:pPr indent="0" marL="0">
              <a:buNone/>
            </a:pPr>
            <a:r>
              <a:rPr lang="en-US" sz="1300" b="1" dirty="0">
                <a:solidFill>
                  <a:srgbClr val="17222C"/>
                </a:solidFill>
                <a:latin typeface="Arial" pitchFamily="34" charset="0"/>
                <a:ea typeface="Arial" pitchFamily="34" charset="-122"/>
                <a:cs typeface="Arial" pitchFamily="34" charset="-120"/>
              </a:rPr>
              <a:t>Valeurs résolues automatiquement</a:t>
            </a:r>
            <a:endParaRPr lang="en-US" sz="1300" dirty="0"/>
          </a:p>
        </p:txBody>
      </p:sp>
      <p:sp>
        <p:nvSpPr>
          <p:cNvPr id="31" name="Text 29"/>
          <p:cNvSpPr txBox="1"/>
          <p:nvPr/>
        </p:nvSpPr>
        <p:spPr>
          <a:xfrm>
            <a:off x="6629400" y="4846320"/>
            <a:ext cx="4846320" cy="658368"/>
          </a:xfrm>
          <a:prstGeom prst="rect">
            <a:avLst/>
          </a:prstGeom>
          <a:noFill/>
          <a:ln/>
        </p:spPr>
        <p:txBody>
          <a:bodyPr wrap="square" lIns="0" tIns="0" rIns="0" bIns="0" rtlCol="0" anchor="ctr"/>
          <a:lstStyle/>
          <a:p>
            <a:pPr indent="0" marL="0">
              <a:buNone/>
            </a:pPr>
            <a:r>
              <a:rPr lang="en-US" sz="1150" dirty="0">
                <a:solidFill>
                  <a:srgbClr val="5C6B7A"/>
                </a:solidFill>
                <a:latin typeface="Calibri" pitchFamily="34" charset="0"/>
                <a:ea typeface="Calibri" pitchFamily="34" charset="-122"/>
                <a:cs typeface="Calibri" pitchFamily="34" charset="-120"/>
              </a:rPr>
              <a:t>L'AMI Ubuntu, la liste des zones et notre adresse IP publique sont lues à l'exécution, pas écrites en dur dans le code.</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66928" y="384048"/>
            <a:ext cx="11055096" cy="274320"/>
          </a:xfrm>
          <a:prstGeom prst="rect">
            <a:avLst/>
          </a:prstGeom>
          <a:noFill/>
          <a:ln/>
        </p:spPr>
        <p:txBody>
          <a:bodyPr wrap="square" lIns="0" tIns="0" rIns="0" bIns="0" rtlCol="0" anchor="ctr"/>
          <a:lstStyle/>
          <a:p>
            <a:pPr indent="0" marL="0">
              <a:buNone/>
            </a:pPr>
            <a:r>
              <a:rPr lang="en-US" sz="1100" spc="200" kern="0" dirty="0">
                <a:solidFill>
                  <a:srgbClr val="9E5D06"/>
                </a:solidFill>
                <a:latin typeface="Courier New" pitchFamily="34" charset="0"/>
                <a:ea typeface="Courier New" pitchFamily="34" charset="-122"/>
                <a:cs typeface="Courier New" pitchFamily="34" charset="-120"/>
              </a:rPr>
              <a:t>05 — ANSIBLE</a:t>
            </a:r>
            <a:endParaRPr lang="en-US" sz="1100" dirty="0"/>
          </a:p>
        </p:txBody>
      </p:sp>
      <p:sp>
        <p:nvSpPr>
          <p:cNvPr id="3" name="Text 1"/>
          <p:cNvSpPr txBox="1"/>
          <p:nvPr/>
        </p:nvSpPr>
        <p:spPr>
          <a:xfrm>
            <a:off x="566928" y="694944"/>
            <a:ext cx="11055096" cy="658368"/>
          </a:xfrm>
          <a:prstGeom prst="rect">
            <a:avLst/>
          </a:prstGeom>
          <a:noFill/>
          <a:ln/>
        </p:spPr>
        <p:txBody>
          <a:bodyPr wrap="square" lIns="0" tIns="0" rIns="0" bIns="0" rtlCol="0" anchor="ctr"/>
          <a:lstStyle/>
          <a:p>
            <a:pPr indent="0" marL="0">
              <a:buNone/>
            </a:pPr>
            <a:r>
              <a:rPr lang="en-US" sz="3000" b="1" dirty="0">
                <a:solidFill>
                  <a:srgbClr val="17222C"/>
                </a:solidFill>
                <a:latin typeface="Arial" pitchFamily="34" charset="0"/>
                <a:ea typeface="Arial" pitchFamily="34" charset="-122"/>
                <a:cs typeface="Arial" pitchFamily="34" charset="-120"/>
              </a:rPr>
              <a:t>Ansible configure les serveurs</a:t>
            </a:r>
            <a:endParaRPr lang="en-US" sz="3000" dirty="0"/>
          </a:p>
        </p:txBody>
      </p:sp>
      <p:sp>
        <p:nvSpPr>
          <p:cNvPr id="4" name="Text 2"/>
          <p:cNvSpPr txBox="1"/>
          <p:nvPr/>
        </p:nvSpPr>
        <p:spPr>
          <a:xfrm>
            <a:off x="566928" y="1444752"/>
            <a:ext cx="10789920" cy="365760"/>
          </a:xfrm>
          <a:prstGeom prst="rect">
            <a:avLst/>
          </a:prstGeom>
          <a:noFill/>
          <a:ln/>
        </p:spPr>
        <p:txBody>
          <a:bodyPr wrap="square" lIns="0" tIns="0" rIns="0" bIns="0" rtlCol="0" anchor="ctr"/>
          <a:lstStyle/>
          <a:p>
            <a:pPr indent="0" marL="0">
              <a:buNone/>
            </a:pPr>
            <a:r>
              <a:rPr lang="en-US" sz="1400" dirty="0">
                <a:solidFill>
                  <a:srgbClr val="5C6B7A"/>
                </a:solidFill>
                <a:latin typeface="Calibri" pitchFamily="34" charset="0"/>
                <a:ea typeface="Calibri" pitchFamily="34" charset="-122"/>
                <a:cs typeface="Calibri" pitchFamily="34" charset="-120"/>
              </a:rPr>
              <a:t>Terraform connaît les adresses des serveurs. Ansible les lit directement dans l'état Terraform, au lieu qu'on les recopie.</a:t>
            </a:r>
            <a:endParaRPr lang="en-US" sz="1400" dirty="0"/>
          </a:p>
        </p:txBody>
      </p:sp>
      <p:sp>
        <p:nvSpPr>
          <p:cNvPr id="5" name="Shape 3"/>
          <p:cNvSpPr/>
          <p:nvPr/>
        </p:nvSpPr>
        <p:spPr>
          <a:xfrm>
            <a:off x="566928" y="1920240"/>
            <a:ext cx="6537960" cy="2286000"/>
          </a:xfrm>
          <a:prstGeom prst="roundRect">
            <a:avLst>
              <a:gd name="adj" fmla="val 1600"/>
            </a:avLst>
          </a:prstGeom>
          <a:solidFill>
            <a:srgbClr val="EDF1F4"/>
          </a:solidFill>
          <a:ln w="9525">
            <a:solidFill>
              <a:srgbClr val="D3DBE3"/>
            </a:solidFill>
            <a:prstDash val="solid"/>
          </a:ln>
        </p:spPr>
      </p:sp>
      <p:sp>
        <p:nvSpPr>
          <p:cNvPr id="6" name="Text 4"/>
          <p:cNvSpPr txBox="1"/>
          <p:nvPr/>
        </p:nvSpPr>
        <p:spPr>
          <a:xfrm>
            <a:off x="731520" y="2029968"/>
            <a:ext cx="6208776" cy="2066544"/>
          </a:xfrm>
          <a:prstGeom prst="rect">
            <a:avLst/>
          </a:prstGeom>
          <a:noFill/>
          <a:ln/>
        </p:spPr>
        <p:txBody>
          <a:bodyPr wrap="square" lIns="0" tIns="0" rIns="0" bIns="0" rtlCol="0" anchor="ctr"/>
          <a:lstStyle/>
          <a:p>
            <a:pPr indent="0" marL="0">
              <a:lnSpc>
                <a:spcPts val="1725"/>
              </a:lnSpc>
              <a:buNone/>
            </a:pPr>
            <a:r>
              <a:rPr lang="en-US" sz="1150" dirty="0">
                <a:solidFill>
                  <a:srgbClr val="17222C"/>
                </a:solidFill>
                <a:latin typeface="Courier New" pitchFamily="34" charset="0"/>
                <a:ea typeface="Courier New" pitchFamily="34" charset="-122"/>
                <a:cs typeface="Courier New" pitchFamily="34" charset="-120"/>
              </a:rPr>
              <a:t># Terraform déclare les serveurs et leurs informations</a:t>
            </a:r>
            <a:endParaRPr lang="en-US" sz="1150" dirty="0"/>
          </a:p>
          <a:p>
            <a:pPr indent="0" marL="0">
              <a:lnSpc>
                <a:spcPts val="1725"/>
              </a:lnSpc>
              <a:buNone/>
            </a:pPr>
            <a:r>
              <a:rPr lang="en-US" sz="1150" dirty="0">
                <a:solidFill>
                  <a:srgbClr val="17222C"/>
                </a:solidFill>
                <a:latin typeface="Courier New" pitchFamily="34" charset="0"/>
                <a:ea typeface="Courier New" pitchFamily="34" charset="-122"/>
                <a:cs typeface="Courier New" pitchFamily="34" charset="-120"/>
              </a:rPr>
              <a:t>resource "ansible_host" "app" {</a:t>
            </a:r>
            <a:endParaRPr lang="en-US" sz="1150" dirty="0"/>
          </a:p>
          <a:p>
            <a:pPr indent="0" marL="0">
              <a:lnSpc>
                <a:spcPts val="1725"/>
              </a:lnSpc>
              <a:buNone/>
            </a:pPr>
            <a:r>
              <a:rPr lang="en-US" sz="1150" dirty="0">
                <a:solidFill>
                  <a:srgbClr val="17222C"/>
                </a:solidFill>
                <a:latin typeface="Courier New" pitchFamily="34" charset="0"/>
                <a:ea typeface="Courier New" pitchFamily="34" charset="-122"/>
                <a:cs typeface="Courier New" pitchFamily="34" charset="-120"/>
              </a:rPr>
              <a:t>  name      = "taylorshift-dev-app-1"</a:t>
            </a:r>
            <a:endParaRPr lang="en-US" sz="1150" dirty="0"/>
          </a:p>
          <a:p>
            <a:pPr indent="0" marL="0">
              <a:lnSpc>
                <a:spcPts val="1725"/>
              </a:lnSpc>
              <a:buNone/>
            </a:pPr>
            <a:r>
              <a:rPr lang="en-US" sz="1150" dirty="0">
                <a:solidFill>
                  <a:srgbClr val="17222C"/>
                </a:solidFill>
                <a:latin typeface="Courier New" pitchFamily="34" charset="0"/>
                <a:ea typeface="Courier New" pitchFamily="34" charset="-122"/>
                <a:cs typeface="Courier New" pitchFamily="34" charset="-120"/>
              </a:rPr>
              <a:t>  groups    = ["prestashop"]</a:t>
            </a:r>
            <a:endParaRPr lang="en-US" sz="1150" dirty="0"/>
          </a:p>
          <a:p>
            <a:pPr indent="0" marL="0">
              <a:lnSpc>
                <a:spcPts val="1725"/>
              </a:lnSpc>
              <a:buNone/>
            </a:pPr>
            <a:r>
              <a:rPr lang="en-US" sz="1150" dirty="0">
                <a:solidFill>
                  <a:srgbClr val="17222C"/>
                </a:solidFill>
                <a:latin typeface="Courier New" pitchFamily="34" charset="0"/>
                <a:ea typeface="Courier New" pitchFamily="34" charset="-122"/>
                <a:cs typeface="Courier New" pitchFamily="34" charset="-120"/>
              </a:rPr>
              <a:t>  variables = { ansible_host = ..., db_host = ... }</a:t>
            </a:r>
            <a:endParaRPr lang="en-US" sz="1150" dirty="0"/>
          </a:p>
          <a:p>
            <a:pPr indent="0" marL="0">
              <a:lnSpc>
                <a:spcPts val="1725"/>
              </a:lnSpc>
              <a:buNone/>
            </a:pPr>
            <a:r>
              <a:rPr lang="en-US" sz="1150" dirty="0">
                <a:solidFill>
                  <a:srgbClr val="17222C"/>
                </a:solidFill>
                <a:latin typeface="Courier New" pitchFamily="34" charset="0"/>
                <a:ea typeface="Courier New" pitchFamily="34" charset="-122"/>
                <a:cs typeface="Courier New" pitchFamily="34" charset="-120"/>
              </a:rPr>
              <a:t>}</a:t>
            </a:r>
            <a:endParaRPr lang="en-US" sz="1150" dirty="0"/>
          </a:p>
          <a:p>
            <a:pPr indent="0" marL="0">
              <a:lnSpc>
                <a:spcPts val="1725"/>
              </a:lnSpc>
              <a:buNone/>
            </a:pPr>
            <a:endParaRPr lang="en-US" sz="1150" dirty="0"/>
          </a:p>
          <a:p>
            <a:pPr indent="0" marL="0">
              <a:lnSpc>
                <a:spcPts val="1725"/>
              </a:lnSpc>
              <a:buNone/>
            </a:pPr>
            <a:r>
              <a:rPr lang="en-US" sz="1150" dirty="0">
                <a:solidFill>
                  <a:srgbClr val="17222C"/>
                </a:solidFill>
                <a:latin typeface="Courier New" pitchFamily="34" charset="0"/>
                <a:ea typeface="Courier New" pitchFamily="34" charset="-122"/>
                <a:cs typeface="Courier New" pitchFamily="34" charset="-120"/>
              </a:rPr>
              <a:t># Ansible les lit depuis l'état Terraform</a:t>
            </a:r>
            <a:endParaRPr lang="en-US" sz="1150" dirty="0"/>
          </a:p>
          <a:p>
            <a:pPr indent="0" marL="0">
              <a:lnSpc>
                <a:spcPts val="1725"/>
              </a:lnSpc>
              <a:buNone/>
            </a:pPr>
            <a:r>
              <a:rPr lang="en-US" sz="1150" dirty="0">
                <a:solidFill>
                  <a:srgbClr val="17222C"/>
                </a:solidFill>
                <a:latin typeface="Courier New" pitchFamily="34" charset="0"/>
                <a:ea typeface="Courier New" pitchFamily="34" charset="-122"/>
                <a:cs typeface="Courier New" pitchFamily="34" charset="-120"/>
              </a:rPr>
              <a:t>plugin: cloud.terraform.terraform_provider</a:t>
            </a:r>
            <a:endParaRPr lang="en-US" sz="1150" dirty="0"/>
          </a:p>
        </p:txBody>
      </p:sp>
      <p:sp>
        <p:nvSpPr>
          <p:cNvPr id="7" name="Shape 5"/>
          <p:cNvSpPr/>
          <p:nvPr/>
        </p:nvSpPr>
        <p:spPr>
          <a:xfrm>
            <a:off x="7360920" y="1920240"/>
            <a:ext cx="4261104" cy="1234440"/>
          </a:xfrm>
          <a:prstGeom prst="roundRect">
            <a:avLst>
              <a:gd name="adj" fmla="val 4444"/>
            </a:avLst>
          </a:prstGeom>
          <a:solidFill>
            <a:srgbClr val="F2F5F7"/>
          </a:solidFill>
          <a:ln w="9525">
            <a:solidFill>
              <a:srgbClr val="D3DBE3"/>
            </a:solidFill>
            <a:prstDash val="solid"/>
          </a:ln>
        </p:spPr>
      </p:sp>
      <p:sp>
        <p:nvSpPr>
          <p:cNvPr id="8" name="Text 6"/>
          <p:cNvSpPr txBox="1"/>
          <p:nvPr/>
        </p:nvSpPr>
        <p:spPr>
          <a:xfrm>
            <a:off x="7543800" y="2039112"/>
            <a:ext cx="3931920" cy="274320"/>
          </a:xfrm>
          <a:prstGeom prst="rect">
            <a:avLst/>
          </a:prstGeom>
          <a:noFill/>
          <a:ln/>
        </p:spPr>
        <p:txBody>
          <a:bodyPr wrap="square" lIns="0" tIns="0" rIns="0" bIns="0" rtlCol="0" anchor="ctr"/>
          <a:lstStyle/>
          <a:p>
            <a:pPr indent="0" marL="0">
              <a:buNone/>
            </a:pPr>
            <a:r>
              <a:rPr lang="en-US" sz="1300" b="1" dirty="0">
                <a:solidFill>
                  <a:srgbClr val="17222C"/>
                </a:solidFill>
                <a:latin typeface="Arial" pitchFamily="34" charset="0"/>
                <a:ea typeface="Arial" pitchFamily="34" charset="-122"/>
                <a:cs typeface="Arial" pitchFamily="34" charset="-120"/>
              </a:rPr>
              <a:t>Trois rôles réutilisables</a:t>
            </a:r>
            <a:endParaRPr lang="en-US" sz="1300" dirty="0"/>
          </a:p>
        </p:txBody>
      </p:sp>
      <p:sp>
        <p:nvSpPr>
          <p:cNvPr id="9" name="Text 7"/>
          <p:cNvSpPr txBox="1"/>
          <p:nvPr/>
        </p:nvSpPr>
        <p:spPr>
          <a:xfrm>
            <a:off x="7543800" y="2340864"/>
            <a:ext cx="3931920" cy="777240"/>
          </a:xfrm>
          <a:prstGeom prst="rect">
            <a:avLst/>
          </a:prstGeom>
          <a:noFill/>
          <a:ln/>
        </p:spPr>
        <p:txBody>
          <a:bodyPr wrap="square" lIns="0" tIns="0" rIns="0" bIns="0" rtlCol="0" anchor="ctr"/>
          <a:lstStyle/>
          <a:p>
            <a:pPr indent="0" marL="0">
              <a:buNone/>
            </a:pPr>
            <a:r>
              <a:rPr lang="en-US" sz="1100" dirty="0">
                <a:solidFill>
                  <a:srgbClr val="5C6B7A"/>
                </a:solidFill>
                <a:latin typeface="Calibri" pitchFamily="34" charset="0"/>
                <a:ea typeface="Calibri" pitchFamily="34" charset="-122"/>
                <a:cs typeface="Calibri" pitchFamily="34" charset="-120"/>
              </a:rPr>
              <a:t>common, efs et prestashop. Le bastion et les serveurs applicatifs utilisent le même rôle common avec des variables différentes. Docker vient d'un rôle Ansible Galaxy.</a:t>
            </a:r>
            <a:endParaRPr lang="en-US" sz="1100" dirty="0"/>
          </a:p>
        </p:txBody>
      </p:sp>
      <p:sp>
        <p:nvSpPr>
          <p:cNvPr id="10" name="Shape 8"/>
          <p:cNvSpPr/>
          <p:nvPr/>
        </p:nvSpPr>
        <p:spPr>
          <a:xfrm>
            <a:off x="7360920" y="3291840"/>
            <a:ext cx="4261104" cy="1234440"/>
          </a:xfrm>
          <a:prstGeom prst="roundRect">
            <a:avLst>
              <a:gd name="adj" fmla="val 4444"/>
            </a:avLst>
          </a:prstGeom>
          <a:solidFill>
            <a:srgbClr val="F2F5F7"/>
          </a:solidFill>
          <a:ln w="9525">
            <a:solidFill>
              <a:srgbClr val="D3DBE3"/>
            </a:solidFill>
            <a:prstDash val="solid"/>
          </a:ln>
        </p:spPr>
      </p:sp>
      <p:sp>
        <p:nvSpPr>
          <p:cNvPr id="11" name="Text 9"/>
          <p:cNvSpPr txBox="1"/>
          <p:nvPr/>
        </p:nvSpPr>
        <p:spPr>
          <a:xfrm>
            <a:off x="7543800" y="3410712"/>
            <a:ext cx="3931920" cy="274320"/>
          </a:xfrm>
          <a:prstGeom prst="rect">
            <a:avLst/>
          </a:prstGeom>
          <a:noFill/>
          <a:ln/>
        </p:spPr>
        <p:txBody>
          <a:bodyPr wrap="square" lIns="0" tIns="0" rIns="0" bIns="0" rtlCol="0" anchor="ctr"/>
          <a:lstStyle/>
          <a:p>
            <a:pPr indent="0" marL="0">
              <a:buNone/>
            </a:pPr>
            <a:r>
              <a:rPr lang="en-US" sz="1300" b="1" dirty="0">
                <a:solidFill>
                  <a:srgbClr val="17222C"/>
                </a:solidFill>
                <a:latin typeface="Arial" pitchFamily="34" charset="0"/>
                <a:ea typeface="Arial" pitchFamily="34" charset="-122"/>
                <a:cs typeface="Arial" pitchFamily="34" charset="-120"/>
              </a:rPr>
              <a:t>Secrets protégés</a:t>
            </a:r>
            <a:endParaRPr lang="en-US" sz="1300" dirty="0"/>
          </a:p>
        </p:txBody>
      </p:sp>
      <p:sp>
        <p:nvSpPr>
          <p:cNvPr id="12" name="Text 10"/>
          <p:cNvSpPr txBox="1"/>
          <p:nvPr/>
        </p:nvSpPr>
        <p:spPr>
          <a:xfrm>
            <a:off x="7543800" y="3712464"/>
            <a:ext cx="3931920" cy="777240"/>
          </a:xfrm>
          <a:prstGeom prst="rect">
            <a:avLst/>
          </a:prstGeom>
          <a:noFill/>
          <a:ln/>
        </p:spPr>
        <p:txBody>
          <a:bodyPr wrap="square" lIns="0" tIns="0" rIns="0" bIns="0" rtlCol="0" anchor="ctr"/>
          <a:lstStyle/>
          <a:p>
            <a:pPr indent="0" marL="0">
              <a:buNone/>
            </a:pPr>
            <a:r>
              <a:rPr lang="en-US" sz="1100" dirty="0">
                <a:solidFill>
                  <a:srgbClr val="5C6B7A"/>
                </a:solidFill>
                <a:latin typeface="Calibri" pitchFamily="34" charset="0"/>
                <a:ea typeface="Calibri" pitchFamily="34" charset="-122"/>
                <a:cs typeface="Calibri" pitchFamily="34" charset="-120"/>
              </a:rPr>
              <a:t>Les identifiants du back-office sont chiffrés avec Ansible Vault. Le mot de passe de la base n'est pas dans le dépôt.</a:t>
            </a:r>
            <a:endParaRPr lang="en-US" sz="1100" dirty="0"/>
          </a:p>
        </p:txBody>
      </p:sp>
      <p:sp>
        <p:nvSpPr>
          <p:cNvPr id="13" name="Shape 11"/>
          <p:cNvSpPr/>
          <p:nvPr/>
        </p:nvSpPr>
        <p:spPr>
          <a:xfrm>
            <a:off x="7360920" y="4663440"/>
            <a:ext cx="4261104" cy="1234440"/>
          </a:xfrm>
          <a:prstGeom prst="roundRect">
            <a:avLst>
              <a:gd name="adj" fmla="val 4444"/>
            </a:avLst>
          </a:prstGeom>
          <a:solidFill>
            <a:srgbClr val="F2F5F7"/>
          </a:solidFill>
          <a:ln w="9525">
            <a:solidFill>
              <a:srgbClr val="D3DBE3"/>
            </a:solidFill>
            <a:prstDash val="solid"/>
          </a:ln>
        </p:spPr>
      </p:sp>
      <p:sp>
        <p:nvSpPr>
          <p:cNvPr id="14" name="Text 12"/>
          <p:cNvSpPr txBox="1"/>
          <p:nvPr/>
        </p:nvSpPr>
        <p:spPr>
          <a:xfrm>
            <a:off x="7543800" y="4782312"/>
            <a:ext cx="3931920" cy="274320"/>
          </a:xfrm>
          <a:prstGeom prst="rect">
            <a:avLst/>
          </a:prstGeom>
          <a:noFill/>
          <a:ln/>
        </p:spPr>
        <p:txBody>
          <a:bodyPr wrap="square" lIns="0" tIns="0" rIns="0" bIns="0" rtlCol="0" anchor="ctr"/>
          <a:lstStyle/>
          <a:p>
            <a:pPr indent="0" marL="0">
              <a:buNone/>
            </a:pPr>
            <a:r>
              <a:rPr lang="en-US" sz="1300" b="1" dirty="0">
                <a:solidFill>
                  <a:srgbClr val="17222C"/>
                </a:solidFill>
                <a:latin typeface="Arial" pitchFamily="34" charset="0"/>
                <a:ea typeface="Arial" pitchFamily="34" charset="-122"/>
                <a:cs typeface="Arial" pitchFamily="34" charset="-120"/>
              </a:rPr>
              <a:t>Playbook idempotent</a:t>
            </a:r>
            <a:endParaRPr lang="en-US" sz="1300" dirty="0"/>
          </a:p>
        </p:txBody>
      </p:sp>
      <p:sp>
        <p:nvSpPr>
          <p:cNvPr id="15" name="Text 13"/>
          <p:cNvSpPr txBox="1"/>
          <p:nvPr/>
        </p:nvSpPr>
        <p:spPr>
          <a:xfrm>
            <a:off x="7543800" y="5084064"/>
            <a:ext cx="3931920" cy="777240"/>
          </a:xfrm>
          <a:prstGeom prst="rect">
            <a:avLst/>
          </a:prstGeom>
          <a:noFill/>
          <a:ln/>
        </p:spPr>
        <p:txBody>
          <a:bodyPr wrap="square" lIns="0" tIns="0" rIns="0" bIns="0" rtlCol="0" anchor="ctr"/>
          <a:lstStyle/>
          <a:p>
            <a:pPr indent="0" marL="0">
              <a:buNone/>
            </a:pPr>
            <a:r>
              <a:rPr lang="en-US" sz="1100" dirty="0">
                <a:solidFill>
                  <a:srgbClr val="5C6B7A"/>
                </a:solidFill>
                <a:latin typeface="Calibri" pitchFamily="34" charset="0"/>
                <a:ea typeface="Calibri" pitchFamily="34" charset="-122"/>
                <a:cs typeface="Calibri" pitchFamily="34" charset="-120"/>
              </a:rPr>
              <a:t>Le playbook décrit l'état voulu. Si l'état est déjà atteint, il ne modifie rien.</a:t>
            </a:r>
            <a:endParaRPr lang="en-US" sz="1100" dirty="0"/>
          </a:p>
        </p:txBody>
      </p:sp>
      <p:sp>
        <p:nvSpPr>
          <p:cNvPr id="16" name="Shape 14"/>
          <p:cNvSpPr/>
          <p:nvPr/>
        </p:nvSpPr>
        <p:spPr>
          <a:xfrm>
            <a:off x="566928" y="4434840"/>
            <a:ext cx="6537960" cy="914400"/>
          </a:xfrm>
          <a:prstGeom prst="roundRect">
            <a:avLst>
              <a:gd name="adj" fmla="val 5000"/>
            </a:avLst>
          </a:prstGeom>
          <a:solidFill>
            <a:srgbClr val="E8F3EC"/>
          </a:solidFill>
          <a:ln w="9525">
            <a:solidFill>
              <a:srgbClr val="2E7D4F"/>
            </a:solidFill>
            <a:prstDash val="solid"/>
          </a:ln>
        </p:spPr>
      </p:sp>
      <p:sp>
        <p:nvSpPr>
          <p:cNvPr id="17" name="Text 15"/>
          <p:cNvSpPr txBox="1"/>
          <p:nvPr/>
        </p:nvSpPr>
        <p:spPr>
          <a:xfrm>
            <a:off x="795528" y="4553712"/>
            <a:ext cx="6126480" cy="320040"/>
          </a:xfrm>
          <a:prstGeom prst="rect">
            <a:avLst/>
          </a:prstGeom>
          <a:noFill/>
          <a:ln/>
        </p:spPr>
        <p:txBody>
          <a:bodyPr wrap="square" lIns="0" tIns="0" rIns="0" bIns="0" rtlCol="0" anchor="ctr"/>
          <a:lstStyle/>
          <a:p>
            <a:pPr indent="0" marL="0">
              <a:buNone/>
            </a:pPr>
            <a:r>
              <a:rPr lang="en-US" sz="1600" b="1" dirty="0">
                <a:solidFill>
                  <a:srgbClr val="2E7D4F"/>
                </a:solidFill>
                <a:latin typeface="Arial" pitchFamily="34" charset="0"/>
                <a:ea typeface="Arial" pitchFamily="34" charset="-122"/>
                <a:cs typeface="Arial" pitchFamily="34" charset="-120"/>
              </a:rPr>
              <a:t>Deuxième exécution : changed=0</a:t>
            </a:r>
            <a:endParaRPr lang="en-US" sz="1600" dirty="0"/>
          </a:p>
        </p:txBody>
      </p:sp>
      <p:sp>
        <p:nvSpPr>
          <p:cNvPr id="18" name="Text 16"/>
          <p:cNvSpPr txBox="1"/>
          <p:nvPr/>
        </p:nvSpPr>
        <p:spPr>
          <a:xfrm>
            <a:off x="795528" y="4901184"/>
            <a:ext cx="6126480" cy="320040"/>
          </a:xfrm>
          <a:prstGeom prst="rect">
            <a:avLst/>
          </a:prstGeom>
          <a:noFill/>
          <a:ln/>
        </p:spPr>
        <p:txBody>
          <a:bodyPr wrap="square" lIns="0" tIns="0" rIns="0" bIns="0" rtlCol="0" anchor="ctr"/>
          <a:lstStyle/>
          <a:p>
            <a:pPr indent="0" marL="0">
              <a:buNone/>
            </a:pPr>
            <a:r>
              <a:rPr lang="en-US" sz="1250" dirty="0">
                <a:solidFill>
                  <a:srgbClr val="5C6B7A"/>
                </a:solidFill>
                <a:latin typeface="Calibri" pitchFamily="34" charset="0"/>
                <a:ea typeface="Calibri" pitchFamily="34" charset="-122"/>
                <a:cs typeface="Calibri" pitchFamily="34" charset="-120"/>
              </a:rPr>
              <a:t>Aucune modification. Les serveurs sont déjà dans l'état décrit.</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66928" y="384048"/>
            <a:ext cx="11055096" cy="274320"/>
          </a:xfrm>
          <a:prstGeom prst="rect">
            <a:avLst/>
          </a:prstGeom>
          <a:noFill/>
          <a:ln/>
        </p:spPr>
        <p:txBody>
          <a:bodyPr wrap="square" lIns="0" tIns="0" rIns="0" bIns="0" rtlCol="0" anchor="ctr"/>
          <a:lstStyle/>
          <a:p>
            <a:pPr indent="0" marL="0">
              <a:buNone/>
            </a:pPr>
            <a:r>
              <a:rPr lang="en-US" sz="1100" spc="200" kern="0" dirty="0">
                <a:solidFill>
                  <a:srgbClr val="9E5D06"/>
                </a:solidFill>
                <a:latin typeface="Courier New" pitchFamily="34" charset="0"/>
                <a:ea typeface="Courier New" pitchFamily="34" charset="-122"/>
                <a:cs typeface="Courier New" pitchFamily="34" charset="-120"/>
              </a:rPr>
              <a:t>06 — MONTÉE EN CHARGE</a:t>
            </a:r>
            <a:endParaRPr lang="en-US" sz="1100" dirty="0"/>
          </a:p>
        </p:txBody>
      </p:sp>
      <p:sp>
        <p:nvSpPr>
          <p:cNvPr id="3" name="Text 1"/>
          <p:cNvSpPr txBox="1"/>
          <p:nvPr/>
        </p:nvSpPr>
        <p:spPr>
          <a:xfrm>
            <a:off x="566928" y="694944"/>
            <a:ext cx="11055096" cy="658368"/>
          </a:xfrm>
          <a:prstGeom prst="rect">
            <a:avLst/>
          </a:prstGeom>
          <a:noFill/>
          <a:ln/>
        </p:spPr>
        <p:txBody>
          <a:bodyPr wrap="square" lIns="0" tIns="0" rIns="0" bIns="0" rtlCol="0" anchor="ctr"/>
          <a:lstStyle/>
          <a:p>
            <a:pPr indent="0" marL="0">
              <a:buNone/>
            </a:pPr>
            <a:r>
              <a:rPr lang="en-US" sz="3000" b="1" dirty="0">
                <a:solidFill>
                  <a:srgbClr val="17222C"/>
                </a:solidFill>
                <a:latin typeface="Arial" pitchFamily="34" charset="0"/>
                <a:ea typeface="Arial" pitchFamily="34" charset="-122"/>
                <a:cs typeface="Arial" pitchFamily="34" charset="-120"/>
              </a:rPr>
              <a:t>Ajouter des serveurs = modifier une variable</a:t>
            </a:r>
            <a:endParaRPr lang="en-US" sz="3000" dirty="0"/>
          </a:p>
        </p:txBody>
      </p:sp>
      <p:sp>
        <p:nvSpPr>
          <p:cNvPr id="4" name="Text 2"/>
          <p:cNvSpPr txBox="1"/>
          <p:nvPr/>
        </p:nvSpPr>
        <p:spPr>
          <a:xfrm>
            <a:off x="566928" y="1463040"/>
            <a:ext cx="10789920" cy="365760"/>
          </a:xfrm>
          <a:prstGeom prst="rect">
            <a:avLst/>
          </a:prstGeom>
          <a:noFill/>
          <a:ln/>
        </p:spPr>
        <p:txBody>
          <a:bodyPr wrap="square" lIns="0" tIns="0" rIns="0" bIns="0" rtlCol="0" anchor="ctr"/>
          <a:lstStyle/>
          <a:p>
            <a:pPr indent="0" marL="0">
              <a:buNone/>
            </a:pPr>
            <a:r>
              <a:rPr lang="en-US" sz="1400" dirty="0">
                <a:solidFill>
                  <a:srgbClr val="5C6B7A"/>
                </a:solidFill>
                <a:latin typeface="Calibri" pitchFamily="34" charset="0"/>
                <a:ea typeface="Calibri" pitchFamily="34" charset="-122"/>
                <a:cs typeface="Calibri" pitchFamily="34" charset="-120"/>
              </a:rPr>
              <a:t>Les serveurs ne stockent aucune donnée. On peut donc en ajouter sans interrompre ceux qui répondent déjà.</a:t>
            </a:r>
            <a:endParaRPr lang="en-US" sz="1400" dirty="0"/>
          </a:p>
        </p:txBody>
      </p:sp>
      <p:sp>
        <p:nvSpPr>
          <p:cNvPr id="5" name="Shape 3"/>
          <p:cNvSpPr/>
          <p:nvPr/>
        </p:nvSpPr>
        <p:spPr>
          <a:xfrm>
            <a:off x="566928" y="2103120"/>
            <a:ext cx="11055096" cy="1234440"/>
          </a:xfrm>
          <a:prstGeom prst="roundRect">
            <a:avLst>
              <a:gd name="adj" fmla="val 2963"/>
            </a:avLst>
          </a:prstGeom>
          <a:solidFill>
            <a:srgbClr val="1B2732"/>
          </a:solidFill>
          <a:ln w="9525">
            <a:solidFill>
              <a:srgbClr val="1B2732"/>
            </a:solidFill>
            <a:prstDash val="solid"/>
          </a:ln>
        </p:spPr>
      </p:sp>
      <p:sp>
        <p:nvSpPr>
          <p:cNvPr id="6" name="Text 4"/>
          <p:cNvSpPr txBox="1"/>
          <p:nvPr/>
        </p:nvSpPr>
        <p:spPr>
          <a:xfrm>
            <a:off x="731520" y="2212848"/>
            <a:ext cx="10725912" cy="1014984"/>
          </a:xfrm>
          <a:prstGeom prst="rect">
            <a:avLst/>
          </a:prstGeom>
          <a:noFill/>
          <a:ln/>
        </p:spPr>
        <p:txBody>
          <a:bodyPr wrap="square" lIns="0" tIns="0" rIns="0" bIns="0" rtlCol="0" anchor="ctr"/>
          <a:lstStyle/>
          <a:p>
            <a:pPr indent="0" marL="0">
              <a:lnSpc>
                <a:spcPts val="1875"/>
              </a:lnSpc>
              <a:buNone/>
            </a:pPr>
            <a:r>
              <a:rPr lang="en-US" sz="1250" dirty="0">
                <a:solidFill>
                  <a:srgbClr val="C9D6E2"/>
                </a:solidFill>
                <a:latin typeface="Courier New" pitchFamily="34" charset="0"/>
                <a:ea typeface="Courier New" pitchFamily="34" charset="-122"/>
                <a:cs typeface="Courier New" pitchFamily="34" charset="-120"/>
              </a:rPr>
              <a:t>terraform apply -var app_instance_count=6     # crée les serveurs</a:t>
            </a:r>
            <a:endParaRPr lang="en-US" sz="1250" dirty="0"/>
          </a:p>
          <a:p>
            <a:pPr indent="0" marL="0">
              <a:lnSpc>
                <a:spcPts val="1875"/>
              </a:lnSpc>
              <a:buNone/>
            </a:pPr>
            <a:r>
              <a:rPr lang="en-US" sz="1250" dirty="0">
                <a:solidFill>
                  <a:srgbClr val="C9D6E2"/>
                </a:solidFill>
                <a:latin typeface="Courier New" pitchFamily="34" charset="0"/>
                <a:ea typeface="Courier New" pitchFamily="34" charset="-122"/>
                <a:cs typeface="Courier New" pitchFamily="34" charset="-120"/>
              </a:rPr>
              <a:t>ansible-playbook ... site.yml                 # les configure</a:t>
            </a:r>
            <a:endParaRPr lang="en-US" sz="1250" dirty="0"/>
          </a:p>
          <a:p>
            <a:pPr indent="0" marL="0">
              <a:lnSpc>
                <a:spcPts val="1875"/>
              </a:lnSpc>
              <a:buNone/>
            </a:pPr>
            <a:endParaRPr lang="en-US" sz="1250" dirty="0"/>
          </a:p>
          <a:p>
            <a:pPr indent="0" marL="0">
              <a:lnSpc>
                <a:spcPts val="1875"/>
              </a:lnSpc>
              <a:buNone/>
            </a:pPr>
            <a:r>
              <a:rPr lang="en-US" sz="1250" dirty="0">
                <a:solidFill>
                  <a:srgbClr val="C9D6E2"/>
                </a:solidFill>
                <a:latin typeface="Courier New" pitchFamily="34" charset="0"/>
                <a:ea typeface="Courier New" pitchFamily="34" charset="-122"/>
                <a:cs typeface="Courier New" pitchFamily="34" charset="-120"/>
              </a:rPr>
              <a:t># environ 3 minutes, sans interruption de service</a:t>
            </a:r>
            <a:endParaRPr lang="en-US" sz="1250" dirty="0"/>
          </a:p>
        </p:txBody>
      </p:sp>
      <p:sp>
        <p:nvSpPr>
          <p:cNvPr id="7" name="Shape 5"/>
          <p:cNvSpPr/>
          <p:nvPr/>
        </p:nvSpPr>
        <p:spPr>
          <a:xfrm>
            <a:off x="566928" y="3657600"/>
            <a:ext cx="3520440" cy="1691640"/>
          </a:xfrm>
          <a:prstGeom prst="roundRect">
            <a:avLst>
              <a:gd name="adj" fmla="val 3243"/>
            </a:avLst>
          </a:prstGeom>
          <a:solidFill>
            <a:srgbClr val="F2F5F7"/>
          </a:solidFill>
          <a:ln w="9525">
            <a:solidFill>
              <a:srgbClr val="D3DBE3"/>
            </a:solidFill>
            <a:prstDash val="solid"/>
          </a:ln>
        </p:spPr>
      </p:sp>
      <p:sp>
        <p:nvSpPr>
          <p:cNvPr id="8" name="Text 6"/>
          <p:cNvSpPr txBox="1"/>
          <p:nvPr/>
        </p:nvSpPr>
        <p:spPr>
          <a:xfrm>
            <a:off x="795528" y="3794760"/>
            <a:ext cx="3108960" cy="228600"/>
          </a:xfrm>
          <a:prstGeom prst="rect">
            <a:avLst/>
          </a:prstGeom>
          <a:noFill/>
          <a:ln/>
        </p:spPr>
        <p:txBody>
          <a:bodyPr wrap="square" lIns="0" tIns="0" rIns="0" bIns="0" rtlCol="0" anchor="ctr"/>
          <a:lstStyle/>
          <a:p>
            <a:pPr indent="0" marL="0">
              <a:buNone/>
            </a:pPr>
            <a:r>
              <a:rPr lang="en-US" sz="900" spc="100" kern="0" dirty="0">
                <a:solidFill>
                  <a:srgbClr val="9E5D06"/>
                </a:solidFill>
                <a:latin typeface="Courier New" pitchFamily="34" charset="0"/>
                <a:ea typeface="Courier New" pitchFamily="34" charset="-122"/>
                <a:cs typeface="Courier New" pitchFamily="34" charset="-120"/>
              </a:rPr>
              <a:t>ALARME CLOUDWATCH</a:t>
            </a:r>
            <a:endParaRPr lang="en-US" sz="900" dirty="0"/>
          </a:p>
        </p:txBody>
      </p:sp>
      <p:sp>
        <p:nvSpPr>
          <p:cNvPr id="9" name="Text 7"/>
          <p:cNvSpPr txBox="1"/>
          <p:nvPr/>
        </p:nvSpPr>
        <p:spPr>
          <a:xfrm>
            <a:off x="795528" y="4069080"/>
            <a:ext cx="3108960" cy="320040"/>
          </a:xfrm>
          <a:prstGeom prst="rect">
            <a:avLst/>
          </a:prstGeom>
          <a:noFill/>
          <a:ln/>
        </p:spPr>
        <p:txBody>
          <a:bodyPr wrap="square" lIns="0" tIns="0" rIns="0" bIns="0" rtlCol="0" anchor="ctr"/>
          <a:lstStyle/>
          <a:p>
            <a:pPr indent="0" marL="0">
              <a:buNone/>
            </a:pPr>
            <a:r>
              <a:rPr lang="en-US" sz="1400" b="1" dirty="0">
                <a:solidFill>
                  <a:srgbClr val="17222C"/>
                </a:solidFill>
                <a:latin typeface="Arial" pitchFamily="34" charset="0"/>
                <a:ea typeface="Arial" pitchFamily="34" charset="-122"/>
                <a:cs typeface="Arial" pitchFamily="34" charset="-120"/>
              </a:rPr>
              <a:t>Temps de réponse &gt; 2 s</a:t>
            </a:r>
            <a:endParaRPr lang="en-US" sz="1400" dirty="0"/>
          </a:p>
        </p:txBody>
      </p:sp>
      <p:sp>
        <p:nvSpPr>
          <p:cNvPr id="10" name="Text 8"/>
          <p:cNvSpPr txBox="1"/>
          <p:nvPr/>
        </p:nvSpPr>
        <p:spPr>
          <a:xfrm>
            <a:off x="795528" y="4462272"/>
            <a:ext cx="3108960" cy="777240"/>
          </a:xfrm>
          <a:prstGeom prst="rect">
            <a:avLst/>
          </a:prstGeom>
          <a:noFill/>
          <a:ln/>
        </p:spPr>
        <p:txBody>
          <a:bodyPr wrap="square" lIns="0" tIns="0" rIns="0" bIns="0" rtlCol="0" anchor="ctr"/>
          <a:lstStyle/>
          <a:p>
            <a:pPr indent="0" marL="0">
              <a:buNone/>
            </a:pPr>
            <a:r>
              <a:rPr lang="en-US" sz="1150" dirty="0">
                <a:solidFill>
                  <a:srgbClr val="5C6B7A"/>
                </a:solidFill>
                <a:latin typeface="Calibri" pitchFamily="34" charset="0"/>
                <a:ea typeface="Calibri" pitchFamily="34" charset="-122"/>
                <a:cs typeface="Calibri" pitchFamily="34" charset="-120"/>
              </a:rPr>
              <a:t>Moyenne sur 3 minutes. Signifie que les serveurs saturent : il faut en ajouter.</a:t>
            </a:r>
            <a:endParaRPr lang="en-US" sz="1150" dirty="0"/>
          </a:p>
        </p:txBody>
      </p:sp>
      <p:sp>
        <p:nvSpPr>
          <p:cNvPr id="11" name="Shape 9"/>
          <p:cNvSpPr/>
          <p:nvPr/>
        </p:nvSpPr>
        <p:spPr>
          <a:xfrm>
            <a:off x="4334256" y="3657600"/>
            <a:ext cx="3520440" cy="1691640"/>
          </a:xfrm>
          <a:prstGeom prst="roundRect">
            <a:avLst>
              <a:gd name="adj" fmla="val 3243"/>
            </a:avLst>
          </a:prstGeom>
          <a:solidFill>
            <a:srgbClr val="F2F5F7"/>
          </a:solidFill>
          <a:ln w="9525">
            <a:solidFill>
              <a:srgbClr val="D3DBE3"/>
            </a:solidFill>
            <a:prstDash val="solid"/>
          </a:ln>
        </p:spPr>
      </p:sp>
      <p:sp>
        <p:nvSpPr>
          <p:cNvPr id="12" name="Text 10"/>
          <p:cNvSpPr txBox="1"/>
          <p:nvPr/>
        </p:nvSpPr>
        <p:spPr>
          <a:xfrm>
            <a:off x="4562856" y="3794760"/>
            <a:ext cx="3108960" cy="228600"/>
          </a:xfrm>
          <a:prstGeom prst="rect">
            <a:avLst/>
          </a:prstGeom>
          <a:noFill/>
          <a:ln/>
        </p:spPr>
        <p:txBody>
          <a:bodyPr wrap="square" lIns="0" tIns="0" rIns="0" bIns="0" rtlCol="0" anchor="ctr"/>
          <a:lstStyle/>
          <a:p>
            <a:pPr indent="0" marL="0">
              <a:buNone/>
            </a:pPr>
            <a:r>
              <a:rPr lang="en-US" sz="900" spc="100" kern="0" dirty="0">
                <a:solidFill>
                  <a:srgbClr val="9E5D06"/>
                </a:solidFill>
                <a:latin typeface="Courier New" pitchFamily="34" charset="0"/>
                <a:ea typeface="Courier New" pitchFamily="34" charset="-122"/>
                <a:cs typeface="Courier New" pitchFamily="34" charset="-120"/>
              </a:rPr>
              <a:t>ALARME CLOUDWATCH</a:t>
            </a:r>
            <a:endParaRPr lang="en-US" sz="900" dirty="0"/>
          </a:p>
        </p:txBody>
      </p:sp>
      <p:sp>
        <p:nvSpPr>
          <p:cNvPr id="13" name="Text 11"/>
          <p:cNvSpPr txBox="1"/>
          <p:nvPr/>
        </p:nvSpPr>
        <p:spPr>
          <a:xfrm>
            <a:off x="4562856" y="4069080"/>
            <a:ext cx="3108960" cy="320040"/>
          </a:xfrm>
          <a:prstGeom prst="rect">
            <a:avLst/>
          </a:prstGeom>
          <a:noFill/>
          <a:ln/>
        </p:spPr>
        <p:txBody>
          <a:bodyPr wrap="square" lIns="0" tIns="0" rIns="0" bIns="0" rtlCol="0" anchor="ctr"/>
          <a:lstStyle/>
          <a:p>
            <a:pPr indent="0" marL="0">
              <a:buNone/>
            </a:pPr>
            <a:r>
              <a:rPr lang="en-US" sz="1400" b="1" dirty="0">
                <a:solidFill>
                  <a:srgbClr val="17222C"/>
                </a:solidFill>
                <a:latin typeface="Arial" pitchFamily="34" charset="0"/>
                <a:ea typeface="Arial" pitchFamily="34" charset="-122"/>
                <a:cs typeface="Arial" pitchFamily="34" charset="-120"/>
              </a:rPr>
              <a:t>Serveur hors rotation</a:t>
            </a:r>
            <a:endParaRPr lang="en-US" sz="1400" dirty="0"/>
          </a:p>
        </p:txBody>
      </p:sp>
      <p:sp>
        <p:nvSpPr>
          <p:cNvPr id="14" name="Text 12"/>
          <p:cNvSpPr txBox="1"/>
          <p:nvPr/>
        </p:nvSpPr>
        <p:spPr>
          <a:xfrm>
            <a:off x="4562856" y="4462272"/>
            <a:ext cx="3108960" cy="777240"/>
          </a:xfrm>
          <a:prstGeom prst="rect">
            <a:avLst/>
          </a:prstGeom>
          <a:noFill/>
          <a:ln/>
        </p:spPr>
        <p:txBody>
          <a:bodyPr wrap="square" lIns="0" tIns="0" rIns="0" bIns="0" rtlCol="0" anchor="ctr"/>
          <a:lstStyle/>
          <a:p>
            <a:pPr indent="0" marL="0">
              <a:buNone/>
            </a:pPr>
            <a:r>
              <a:rPr lang="en-US" sz="1150" dirty="0">
                <a:solidFill>
                  <a:srgbClr val="5C6B7A"/>
                </a:solidFill>
                <a:latin typeface="Calibri" pitchFamily="34" charset="0"/>
                <a:ea typeface="Calibri" pitchFamily="34" charset="-122"/>
                <a:cs typeface="Calibri" pitchFamily="34" charset="-120"/>
              </a:rPr>
              <a:t>Le load balancer a retiré un serveur. Il faut comprendre pourquoi.</a:t>
            </a:r>
            <a:endParaRPr lang="en-US" sz="1150" dirty="0"/>
          </a:p>
        </p:txBody>
      </p:sp>
      <p:sp>
        <p:nvSpPr>
          <p:cNvPr id="15" name="Shape 13"/>
          <p:cNvSpPr/>
          <p:nvPr/>
        </p:nvSpPr>
        <p:spPr>
          <a:xfrm>
            <a:off x="8101584" y="3657600"/>
            <a:ext cx="3520440" cy="1691640"/>
          </a:xfrm>
          <a:prstGeom prst="roundRect">
            <a:avLst>
              <a:gd name="adj" fmla="val 3243"/>
            </a:avLst>
          </a:prstGeom>
          <a:solidFill>
            <a:srgbClr val="F2F5F7"/>
          </a:solidFill>
          <a:ln w="9525">
            <a:solidFill>
              <a:srgbClr val="D3DBE3"/>
            </a:solidFill>
            <a:prstDash val="solid"/>
          </a:ln>
        </p:spPr>
      </p:sp>
      <p:sp>
        <p:nvSpPr>
          <p:cNvPr id="16" name="Text 14"/>
          <p:cNvSpPr txBox="1"/>
          <p:nvPr/>
        </p:nvSpPr>
        <p:spPr>
          <a:xfrm>
            <a:off x="8330184" y="3794760"/>
            <a:ext cx="3108960" cy="228600"/>
          </a:xfrm>
          <a:prstGeom prst="rect">
            <a:avLst/>
          </a:prstGeom>
          <a:noFill/>
          <a:ln/>
        </p:spPr>
        <p:txBody>
          <a:bodyPr wrap="square" lIns="0" tIns="0" rIns="0" bIns="0" rtlCol="0" anchor="ctr"/>
          <a:lstStyle/>
          <a:p>
            <a:pPr indent="0" marL="0">
              <a:buNone/>
            </a:pPr>
            <a:r>
              <a:rPr lang="en-US" sz="900" spc="100" kern="0" dirty="0">
                <a:solidFill>
                  <a:srgbClr val="9E5D06"/>
                </a:solidFill>
                <a:latin typeface="Courier New" pitchFamily="34" charset="0"/>
                <a:ea typeface="Courier New" pitchFamily="34" charset="-122"/>
                <a:cs typeface="Courier New" pitchFamily="34" charset="-120"/>
              </a:rPr>
              <a:t>ALARME CLOUDWATCH</a:t>
            </a:r>
            <a:endParaRPr lang="en-US" sz="900" dirty="0"/>
          </a:p>
        </p:txBody>
      </p:sp>
      <p:sp>
        <p:nvSpPr>
          <p:cNvPr id="17" name="Text 15"/>
          <p:cNvSpPr txBox="1"/>
          <p:nvPr/>
        </p:nvSpPr>
        <p:spPr>
          <a:xfrm>
            <a:off x="8330184" y="4069080"/>
            <a:ext cx="3108960" cy="320040"/>
          </a:xfrm>
          <a:prstGeom prst="rect">
            <a:avLst/>
          </a:prstGeom>
          <a:noFill/>
          <a:ln/>
        </p:spPr>
        <p:txBody>
          <a:bodyPr wrap="square" lIns="0" tIns="0" rIns="0" bIns="0" rtlCol="0" anchor="ctr"/>
          <a:lstStyle/>
          <a:p>
            <a:pPr indent="0" marL="0">
              <a:buNone/>
            </a:pPr>
            <a:r>
              <a:rPr lang="en-US" sz="1400" b="1" dirty="0">
                <a:solidFill>
                  <a:srgbClr val="17222C"/>
                </a:solidFill>
                <a:latin typeface="Arial" pitchFamily="34" charset="0"/>
                <a:ea typeface="Arial" pitchFamily="34" charset="-122"/>
                <a:cs typeface="Arial" pitchFamily="34" charset="-120"/>
              </a:rPr>
              <a:t>Plus de 10 erreurs 5xx / min</a:t>
            </a:r>
            <a:endParaRPr lang="en-US" sz="1400" dirty="0"/>
          </a:p>
        </p:txBody>
      </p:sp>
      <p:sp>
        <p:nvSpPr>
          <p:cNvPr id="18" name="Text 16"/>
          <p:cNvSpPr txBox="1"/>
          <p:nvPr/>
        </p:nvSpPr>
        <p:spPr>
          <a:xfrm>
            <a:off x="8330184" y="4462272"/>
            <a:ext cx="3108960" cy="777240"/>
          </a:xfrm>
          <a:prstGeom prst="rect">
            <a:avLst/>
          </a:prstGeom>
          <a:noFill/>
          <a:ln/>
        </p:spPr>
        <p:txBody>
          <a:bodyPr wrap="square" lIns="0" tIns="0" rIns="0" bIns="0" rtlCol="0" anchor="ctr"/>
          <a:lstStyle/>
          <a:p>
            <a:pPr indent="0" marL="0">
              <a:buNone/>
            </a:pPr>
            <a:r>
              <a:rPr lang="en-US" sz="1150" dirty="0">
                <a:solidFill>
                  <a:srgbClr val="5C6B7A"/>
                </a:solidFill>
                <a:latin typeface="Calibri" pitchFamily="34" charset="0"/>
                <a:ea typeface="Calibri" pitchFamily="34" charset="-122"/>
                <a:cs typeface="Calibri" pitchFamily="34" charset="-120"/>
              </a:rPr>
              <a:t>Les serveurs répondent, mais renvoient des erreurs.</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66928" y="384048"/>
            <a:ext cx="11055096" cy="274320"/>
          </a:xfrm>
          <a:prstGeom prst="rect">
            <a:avLst/>
          </a:prstGeom>
          <a:noFill/>
          <a:ln/>
        </p:spPr>
        <p:txBody>
          <a:bodyPr wrap="square" lIns="0" tIns="0" rIns="0" bIns="0" rtlCol="0" anchor="ctr"/>
          <a:lstStyle/>
          <a:p>
            <a:pPr indent="0" marL="0">
              <a:buNone/>
            </a:pPr>
            <a:r>
              <a:rPr lang="en-US" sz="1100" spc="200" kern="0" dirty="0">
                <a:solidFill>
                  <a:srgbClr val="9E5D06"/>
                </a:solidFill>
                <a:latin typeface="Courier New" pitchFamily="34" charset="0"/>
                <a:ea typeface="Courier New" pitchFamily="34" charset="-122"/>
                <a:cs typeface="Courier New" pitchFamily="34" charset="-120"/>
              </a:rPr>
              <a:t>07 — PANNES</a:t>
            </a:r>
            <a:endParaRPr lang="en-US" sz="1100" dirty="0"/>
          </a:p>
        </p:txBody>
      </p:sp>
      <p:sp>
        <p:nvSpPr>
          <p:cNvPr id="3" name="Text 1"/>
          <p:cNvSpPr txBox="1"/>
          <p:nvPr/>
        </p:nvSpPr>
        <p:spPr>
          <a:xfrm>
            <a:off x="566928" y="694944"/>
            <a:ext cx="11055096" cy="658368"/>
          </a:xfrm>
          <a:prstGeom prst="rect">
            <a:avLst/>
          </a:prstGeom>
          <a:noFill/>
          <a:ln/>
        </p:spPr>
        <p:txBody>
          <a:bodyPr wrap="square" lIns="0" tIns="0" rIns="0" bIns="0" rtlCol="0" anchor="ctr"/>
          <a:lstStyle/>
          <a:p>
            <a:pPr indent="0" marL="0">
              <a:buNone/>
            </a:pPr>
            <a:r>
              <a:rPr lang="en-US" sz="3000" b="1" dirty="0">
                <a:solidFill>
                  <a:srgbClr val="17222C"/>
                </a:solidFill>
                <a:latin typeface="Arial" pitchFamily="34" charset="0"/>
                <a:ea typeface="Arial" pitchFamily="34" charset="-122"/>
                <a:cs typeface="Arial" pitchFamily="34" charset="-120"/>
              </a:rPr>
              <a:t>Comportement mesuré en cas de panne</a:t>
            </a:r>
            <a:endParaRPr lang="en-US" sz="3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66928" y="1600200"/>
          <a:ext cx="11055096" cy="914400"/>
        </p:xfrm>
        <a:graphic>
          <a:graphicData uri="http://schemas.openxmlformats.org/drawingml/2006/table">
            <a:tbl>
              <a:tblPr/>
              <a:tblGrid>
                <a:gridCol w="2377440"/>
                <a:gridCol w="5477256"/>
                <a:gridCol w="1737360"/>
                <a:gridCol w="1463040"/>
              </a:tblGrid>
              <a:tr h="713232">
                <a:tc>
                  <a:txBody>
                    <a:bodyPr/>
                    <a:lstStyle/>
                    <a:p>
                      <a:pPr indent="0" marL="0">
                        <a:buNone/>
                      </a:pPr>
                      <a:r>
                        <a:rPr lang="en-US" sz="1250" b="1" dirty="0">
                          <a:solidFill>
                            <a:srgbClr val="17222C"/>
                          </a:solidFill>
                          <a:latin typeface="Calibri" pitchFamily="34" charset="0"/>
                          <a:ea typeface="Calibri" pitchFamily="34" charset="-122"/>
                          <a:cs typeface="Calibri" pitchFamily="34" charset="-120"/>
                        </a:rPr>
                        <a:t>PANNE</a:t>
                      </a:r>
                      <a:endParaRPr lang="en-US" sz="1250" dirty="0">
                        <a:latin typeface="Calibri" charset="0"/>
                        <a:ea typeface="Calibri" charset="0"/>
                        <a:cs typeface="Calibri" charset="0"/>
                      </a:endParaRPr>
                    </a:p>
                  </a:txBody>
                  <a:tcPr marL="91440" marR="91440" marT="45720" marB="45720" anchor="t">
                    <a:lnL w="6350" cap="flat" cmpd="sng" algn="ctr">
                      <a:solidFill>
                        <a:srgbClr val="D3DBE3"/>
                      </a:solidFill>
                      <a:prstDash val="solid"/>
                      <a:round/>
                      <a:headEnd type="none" w="med" len="med"/>
                      <a:tailEnd type="none" w="med" len="med"/>
                    </a:lnL>
                    <a:lnR w="6350" cap="flat" cmpd="sng" algn="ctr">
                      <a:solidFill>
                        <a:srgbClr val="D3DBE3"/>
                      </a:solidFill>
                      <a:prstDash val="solid"/>
                      <a:round/>
                      <a:headEnd type="none" w="med" len="med"/>
                      <a:tailEnd type="none" w="med" len="med"/>
                    </a:lnR>
                    <a:lnT w="6350" cap="flat" cmpd="sng" algn="ctr">
                      <a:solidFill>
                        <a:srgbClr val="D3DBE3"/>
                      </a:solidFill>
                      <a:prstDash val="solid"/>
                      <a:round/>
                      <a:headEnd type="none" w="med" len="med"/>
                      <a:tailEnd type="none" w="med" len="med"/>
                    </a:lnT>
                    <a:lnB w="6350" cap="flat" cmpd="sng" algn="ctr">
                      <a:solidFill>
                        <a:srgbClr val="D3DBE3"/>
                      </a:solidFill>
                      <a:prstDash val="solid"/>
                      <a:round/>
                      <a:headEnd type="none" w="med" len="med"/>
                      <a:tailEnd type="none" w="med" len="med"/>
                    </a:lnB>
                    <a:solidFill>
                      <a:srgbClr val="FFFFFF"/>
                    </a:solidFill>
                  </a:tcPr>
                </a:tc>
                <a:tc>
                  <a:txBody>
                    <a:bodyPr/>
                    <a:lstStyle/>
                    <a:p>
                      <a:pPr indent="0" marL="0">
                        <a:buNone/>
                      </a:pPr>
                      <a:r>
                        <a:rPr lang="en-US" sz="1250" b="1" dirty="0">
                          <a:solidFill>
                            <a:srgbClr val="17222C"/>
                          </a:solidFill>
                          <a:latin typeface="Calibri" pitchFamily="34" charset="0"/>
                          <a:ea typeface="Calibri" pitchFamily="34" charset="-122"/>
                          <a:cs typeface="Calibri" pitchFamily="34" charset="-120"/>
                        </a:rPr>
                        <a:t>CONSÉQUENCE POUR LE CLIENT</a:t>
                      </a:r>
                      <a:endParaRPr lang="en-US" sz="1250" dirty="0">
                        <a:latin typeface="Calibri" charset="0"/>
                        <a:ea typeface="Calibri" charset="0"/>
                        <a:cs typeface="Calibri" charset="0"/>
                      </a:endParaRPr>
                    </a:p>
                  </a:txBody>
                  <a:tcPr marL="91440" marR="91440" marT="45720" marB="45720" anchor="t">
                    <a:lnL w="6350" cap="flat" cmpd="sng" algn="ctr">
                      <a:solidFill>
                        <a:srgbClr val="D3DBE3"/>
                      </a:solidFill>
                      <a:prstDash val="solid"/>
                      <a:round/>
                      <a:headEnd type="none" w="med" len="med"/>
                      <a:tailEnd type="none" w="med" len="med"/>
                    </a:lnL>
                    <a:lnR w="6350" cap="flat" cmpd="sng" algn="ctr">
                      <a:solidFill>
                        <a:srgbClr val="D3DBE3"/>
                      </a:solidFill>
                      <a:prstDash val="solid"/>
                      <a:round/>
                      <a:headEnd type="none" w="med" len="med"/>
                      <a:tailEnd type="none" w="med" len="med"/>
                    </a:lnR>
                    <a:lnT w="6350" cap="flat" cmpd="sng" algn="ctr">
                      <a:solidFill>
                        <a:srgbClr val="D3DBE3"/>
                      </a:solidFill>
                      <a:prstDash val="solid"/>
                      <a:round/>
                      <a:headEnd type="none" w="med" len="med"/>
                      <a:tailEnd type="none" w="med" len="med"/>
                    </a:lnT>
                    <a:lnB w="6350" cap="flat" cmpd="sng" algn="ctr">
                      <a:solidFill>
                        <a:srgbClr val="D3DBE3"/>
                      </a:solidFill>
                      <a:prstDash val="solid"/>
                      <a:round/>
                      <a:headEnd type="none" w="med" len="med"/>
                      <a:tailEnd type="none" w="med" len="med"/>
                    </a:lnB>
                    <a:solidFill>
                      <a:srgbClr val="FFFFFF"/>
                    </a:solidFill>
                  </a:tcPr>
                </a:tc>
                <a:tc>
                  <a:txBody>
                    <a:bodyPr/>
                    <a:lstStyle/>
                    <a:p>
                      <a:pPr indent="0" marL="0">
                        <a:buNone/>
                      </a:pPr>
                      <a:r>
                        <a:rPr lang="en-US" sz="1250" b="1" dirty="0">
                          <a:solidFill>
                            <a:srgbClr val="17222C"/>
                          </a:solidFill>
                          <a:latin typeface="Calibri" pitchFamily="34" charset="0"/>
                          <a:ea typeface="Calibri" pitchFamily="34" charset="-122"/>
                          <a:cs typeface="Calibri" pitchFamily="34" charset="-120"/>
                        </a:rPr>
                        <a:t>DURÉE</a:t>
                      </a:r>
                      <a:endParaRPr lang="en-US" sz="1250" dirty="0">
                        <a:latin typeface="Calibri" charset="0"/>
                        <a:ea typeface="Calibri" charset="0"/>
                        <a:cs typeface="Calibri" charset="0"/>
                      </a:endParaRPr>
                    </a:p>
                  </a:txBody>
                  <a:tcPr marL="91440" marR="91440" marT="45720" marB="45720" anchor="t">
                    <a:lnL w="6350" cap="flat" cmpd="sng" algn="ctr">
                      <a:solidFill>
                        <a:srgbClr val="D3DBE3"/>
                      </a:solidFill>
                      <a:prstDash val="solid"/>
                      <a:round/>
                      <a:headEnd type="none" w="med" len="med"/>
                      <a:tailEnd type="none" w="med" len="med"/>
                    </a:lnL>
                    <a:lnR w="6350" cap="flat" cmpd="sng" algn="ctr">
                      <a:solidFill>
                        <a:srgbClr val="D3DBE3"/>
                      </a:solidFill>
                      <a:prstDash val="solid"/>
                      <a:round/>
                      <a:headEnd type="none" w="med" len="med"/>
                      <a:tailEnd type="none" w="med" len="med"/>
                    </a:lnR>
                    <a:lnT w="6350" cap="flat" cmpd="sng" algn="ctr">
                      <a:solidFill>
                        <a:srgbClr val="D3DBE3"/>
                      </a:solidFill>
                      <a:prstDash val="solid"/>
                      <a:round/>
                      <a:headEnd type="none" w="med" len="med"/>
                      <a:tailEnd type="none" w="med" len="med"/>
                    </a:lnT>
                    <a:lnB w="6350" cap="flat" cmpd="sng" algn="ctr">
                      <a:solidFill>
                        <a:srgbClr val="D3DBE3"/>
                      </a:solidFill>
                      <a:prstDash val="solid"/>
                      <a:round/>
                      <a:headEnd type="none" w="med" len="med"/>
                      <a:tailEnd type="none" w="med" len="med"/>
                    </a:lnB>
                    <a:solidFill>
                      <a:srgbClr val="FFFFFF"/>
                    </a:solidFill>
                  </a:tcPr>
                </a:tc>
                <a:tc>
                  <a:txBody>
                    <a:bodyPr/>
                    <a:lstStyle/>
                    <a:p>
                      <a:pPr indent="0" marL="0">
                        <a:buNone/>
                      </a:pPr>
                      <a:r>
                        <a:rPr lang="en-US" sz="1250" b="1" dirty="0">
                          <a:solidFill>
                            <a:srgbClr val="17222C"/>
                          </a:solidFill>
                          <a:latin typeface="Calibri" pitchFamily="34" charset="0"/>
                          <a:ea typeface="Calibri" pitchFamily="34" charset="-122"/>
                          <a:cs typeface="Calibri" pitchFamily="34" charset="-120"/>
                        </a:rPr>
                        <a:t>ACTION</a:t>
                      </a:r>
                      <a:endParaRPr lang="en-US" sz="1250" dirty="0">
                        <a:latin typeface="Calibri" charset="0"/>
                        <a:ea typeface="Calibri" charset="0"/>
                        <a:cs typeface="Calibri" charset="0"/>
                      </a:endParaRPr>
                    </a:p>
                  </a:txBody>
                  <a:tcPr marL="91440" marR="91440" marT="45720" marB="45720" anchor="t">
                    <a:lnL w="6350" cap="flat" cmpd="sng" algn="ctr">
                      <a:solidFill>
                        <a:srgbClr val="D3DBE3"/>
                      </a:solidFill>
                      <a:prstDash val="solid"/>
                      <a:round/>
                      <a:headEnd type="none" w="med" len="med"/>
                      <a:tailEnd type="none" w="med" len="med"/>
                    </a:lnL>
                    <a:lnR w="6350" cap="flat" cmpd="sng" algn="ctr">
                      <a:solidFill>
                        <a:srgbClr val="D3DBE3"/>
                      </a:solidFill>
                      <a:prstDash val="solid"/>
                      <a:round/>
                      <a:headEnd type="none" w="med" len="med"/>
                      <a:tailEnd type="none" w="med" len="med"/>
                    </a:lnR>
                    <a:lnT w="6350" cap="flat" cmpd="sng" algn="ctr">
                      <a:solidFill>
                        <a:srgbClr val="D3DBE3"/>
                      </a:solidFill>
                      <a:prstDash val="solid"/>
                      <a:round/>
                      <a:headEnd type="none" w="med" len="med"/>
                      <a:tailEnd type="none" w="med" len="med"/>
                    </a:lnT>
                    <a:lnB w="6350" cap="flat" cmpd="sng" algn="ctr">
                      <a:solidFill>
                        <a:srgbClr val="D3DBE3"/>
                      </a:solidFill>
                      <a:prstDash val="solid"/>
                      <a:round/>
                      <a:headEnd type="none" w="med" len="med"/>
                      <a:tailEnd type="none" w="med" len="med"/>
                    </a:lnB>
                    <a:solidFill>
                      <a:srgbClr val="FFFFFF"/>
                    </a:solidFill>
                  </a:tcPr>
                </a:tc>
              </a:tr>
              <a:tr h="713232">
                <a:tc>
                  <a:txBody>
                    <a:bodyPr/>
                    <a:lstStyle/>
                    <a:p>
                      <a:pPr indent="0" marL="0">
                        <a:buNone/>
                      </a:pPr>
                      <a:r>
                        <a:rPr lang="en-US" sz="1250" dirty="0">
                          <a:solidFill>
                            <a:srgbClr val="17222C"/>
                          </a:solidFill>
                          <a:latin typeface="Calibri" pitchFamily="34" charset="0"/>
                          <a:ea typeface="Calibri" pitchFamily="34" charset="-122"/>
                          <a:cs typeface="Calibri" pitchFamily="34" charset="-120"/>
                        </a:rPr>
                        <a:t>Un serveur</a:t>
                      </a:r>
                      <a:endParaRPr lang="en-US" sz="1250" dirty="0">
                        <a:latin typeface="Calibri" charset="0"/>
                        <a:ea typeface="Calibri" charset="0"/>
                        <a:cs typeface="Calibri" charset="0"/>
                      </a:endParaRPr>
                    </a:p>
                  </a:txBody>
                  <a:tcPr marL="91440" marR="91440" marT="45720" marB="45720" anchor="t">
                    <a:lnL w="6350" cap="flat" cmpd="sng" algn="ctr">
                      <a:solidFill>
                        <a:srgbClr val="D3DBE3"/>
                      </a:solidFill>
                      <a:prstDash val="solid"/>
                      <a:round/>
                      <a:headEnd type="none" w="med" len="med"/>
                      <a:tailEnd type="none" w="med" len="med"/>
                    </a:lnL>
                    <a:lnR w="6350" cap="flat" cmpd="sng" algn="ctr">
                      <a:solidFill>
                        <a:srgbClr val="D3DBE3"/>
                      </a:solidFill>
                      <a:prstDash val="solid"/>
                      <a:round/>
                      <a:headEnd type="none" w="med" len="med"/>
                      <a:tailEnd type="none" w="med" len="med"/>
                    </a:lnR>
                    <a:lnT w="6350" cap="flat" cmpd="sng" algn="ctr">
                      <a:solidFill>
                        <a:srgbClr val="D3DBE3"/>
                      </a:solidFill>
                      <a:prstDash val="solid"/>
                      <a:round/>
                      <a:headEnd type="none" w="med" len="med"/>
                      <a:tailEnd type="none" w="med" len="med"/>
                    </a:lnT>
                    <a:lnB w="6350" cap="flat" cmpd="sng" algn="ctr">
                      <a:solidFill>
                        <a:srgbClr val="D3DBE3"/>
                      </a:solidFill>
                      <a:prstDash val="solid"/>
                      <a:round/>
                      <a:headEnd type="none" w="med" len="med"/>
                      <a:tailEnd type="none" w="med" len="med"/>
                    </a:lnB>
                    <a:solidFill>
                      <a:srgbClr val="FFFFFF"/>
                    </a:solidFill>
                  </a:tcPr>
                </a:tc>
                <a:tc>
                  <a:txBody>
                    <a:bodyPr/>
                    <a:lstStyle/>
                    <a:p>
                      <a:pPr indent="0" marL="0">
                        <a:buNone/>
                      </a:pPr>
                      <a:r>
                        <a:rPr lang="en-US" sz="1250" dirty="0">
                          <a:solidFill>
                            <a:srgbClr val="17222C"/>
                          </a:solidFill>
                          <a:latin typeface="Calibri" pitchFamily="34" charset="0"/>
                          <a:ea typeface="Calibri" pitchFamily="34" charset="-122"/>
                          <a:cs typeface="Calibri" pitchFamily="34" charset="-120"/>
                        </a:rPr>
                        <a:t>Aucune. Retiré de la rotation après 2 vérifications échouées, les requêtes en cours ont 30 s pour finir.</a:t>
                      </a:r>
                      <a:endParaRPr lang="en-US" sz="1250" dirty="0">
                        <a:latin typeface="Calibri" charset="0"/>
                        <a:ea typeface="Calibri" charset="0"/>
                        <a:cs typeface="Calibri" charset="0"/>
                      </a:endParaRPr>
                    </a:p>
                  </a:txBody>
                  <a:tcPr marL="91440" marR="91440" marT="45720" marB="45720" anchor="t">
                    <a:lnL w="6350" cap="flat" cmpd="sng" algn="ctr">
                      <a:solidFill>
                        <a:srgbClr val="D3DBE3"/>
                      </a:solidFill>
                      <a:prstDash val="solid"/>
                      <a:round/>
                      <a:headEnd type="none" w="med" len="med"/>
                      <a:tailEnd type="none" w="med" len="med"/>
                    </a:lnL>
                    <a:lnR w="6350" cap="flat" cmpd="sng" algn="ctr">
                      <a:solidFill>
                        <a:srgbClr val="D3DBE3"/>
                      </a:solidFill>
                      <a:prstDash val="solid"/>
                      <a:round/>
                      <a:headEnd type="none" w="med" len="med"/>
                      <a:tailEnd type="none" w="med" len="med"/>
                    </a:lnR>
                    <a:lnT w="6350" cap="flat" cmpd="sng" algn="ctr">
                      <a:solidFill>
                        <a:srgbClr val="D3DBE3"/>
                      </a:solidFill>
                      <a:prstDash val="solid"/>
                      <a:round/>
                      <a:headEnd type="none" w="med" len="med"/>
                      <a:tailEnd type="none" w="med" len="med"/>
                    </a:lnT>
                    <a:lnB w="6350" cap="flat" cmpd="sng" algn="ctr">
                      <a:solidFill>
                        <a:srgbClr val="D3DBE3"/>
                      </a:solidFill>
                      <a:prstDash val="solid"/>
                      <a:round/>
                      <a:headEnd type="none" w="med" len="med"/>
                      <a:tailEnd type="none" w="med" len="med"/>
                    </a:lnB>
                    <a:solidFill>
                      <a:srgbClr val="FFFFFF"/>
                    </a:solidFill>
                  </a:tcPr>
                </a:tc>
                <a:tc>
                  <a:txBody>
                    <a:bodyPr/>
                    <a:lstStyle/>
                    <a:p>
                      <a:pPr indent="0" marL="0">
                        <a:buNone/>
                      </a:pPr>
                      <a:r>
                        <a:rPr lang="en-US" sz="1250" dirty="0">
                          <a:solidFill>
                            <a:srgbClr val="17222C"/>
                          </a:solidFill>
                          <a:latin typeface="Calibri" pitchFamily="34" charset="0"/>
                          <a:ea typeface="Calibri" pitchFamily="34" charset="-122"/>
                          <a:cs typeface="Calibri" pitchFamily="34" charset="-120"/>
                        </a:rPr>
                        <a:t>~30 s</a:t>
                      </a:r>
                      <a:endParaRPr lang="en-US" sz="1250" dirty="0">
                        <a:latin typeface="Calibri" charset="0"/>
                        <a:ea typeface="Calibri" charset="0"/>
                        <a:cs typeface="Calibri" charset="0"/>
                      </a:endParaRPr>
                    </a:p>
                  </a:txBody>
                  <a:tcPr marL="91440" marR="91440" marT="45720" marB="45720" anchor="t">
                    <a:lnL w="6350" cap="flat" cmpd="sng" algn="ctr">
                      <a:solidFill>
                        <a:srgbClr val="D3DBE3"/>
                      </a:solidFill>
                      <a:prstDash val="solid"/>
                      <a:round/>
                      <a:headEnd type="none" w="med" len="med"/>
                      <a:tailEnd type="none" w="med" len="med"/>
                    </a:lnL>
                    <a:lnR w="6350" cap="flat" cmpd="sng" algn="ctr">
                      <a:solidFill>
                        <a:srgbClr val="D3DBE3"/>
                      </a:solidFill>
                      <a:prstDash val="solid"/>
                      <a:round/>
                      <a:headEnd type="none" w="med" len="med"/>
                      <a:tailEnd type="none" w="med" len="med"/>
                    </a:lnR>
                    <a:lnT w="6350" cap="flat" cmpd="sng" algn="ctr">
                      <a:solidFill>
                        <a:srgbClr val="D3DBE3"/>
                      </a:solidFill>
                      <a:prstDash val="solid"/>
                      <a:round/>
                      <a:headEnd type="none" w="med" len="med"/>
                      <a:tailEnd type="none" w="med" len="med"/>
                    </a:lnT>
                    <a:lnB w="6350" cap="flat" cmpd="sng" algn="ctr">
                      <a:solidFill>
                        <a:srgbClr val="D3DBE3"/>
                      </a:solidFill>
                      <a:prstDash val="solid"/>
                      <a:round/>
                      <a:headEnd type="none" w="med" len="med"/>
                      <a:tailEnd type="none" w="med" len="med"/>
                    </a:lnB>
                    <a:solidFill>
                      <a:srgbClr val="FFFFFF"/>
                    </a:solidFill>
                  </a:tcPr>
                </a:tc>
                <a:tc>
                  <a:txBody>
                    <a:bodyPr/>
                    <a:lstStyle/>
                    <a:p>
                      <a:pPr indent="0" marL="0">
                        <a:buNone/>
                      </a:pPr>
                      <a:r>
                        <a:rPr lang="en-US" sz="1250" dirty="0">
                          <a:solidFill>
                            <a:srgbClr val="17222C"/>
                          </a:solidFill>
                          <a:latin typeface="Calibri" pitchFamily="34" charset="0"/>
                          <a:ea typeface="Calibri" pitchFamily="34" charset="-122"/>
                          <a:cs typeface="Calibri" pitchFamily="34" charset="-120"/>
                        </a:rPr>
                        <a:t>aucune</a:t>
                      </a:r>
                      <a:endParaRPr lang="en-US" sz="1250" dirty="0">
                        <a:latin typeface="Calibri" charset="0"/>
                        <a:ea typeface="Calibri" charset="0"/>
                        <a:cs typeface="Calibri" charset="0"/>
                      </a:endParaRPr>
                    </a:p>
                  </a:txBody>
                  <a:tcPr marL="91440" marR="91440" marT="45720" marB="45720" anchor="t">
                    <a:lnL w="6350" cap="flat" cmpd="sng" algn="ctr">
                      <a:solidFill>
                        <a:srgbClr val="D3DBE3"/>
                      </a:solidFill>
                      <a:prstDash val="solid"/>
                      <a:round/>
                      <a:headEnd type="none" w="med" len="med"/>
                      <a:tailEnd type="none" w="med" len="med"/>
                    </a:lnL>
                    <a:lnR w="6350" cap="flat" cmpd="sng" algn="ctr">
                      <a:solidFill>
                        <a:srgbClr val="D3DBE3"/>
                      </a:solidFill>
                      <a:prstDash val="solid"/>
                      <a:round/>
                      <a:headEnd type="none" w="med" len="med"/>
                      <a:tailEnd type="none" w="med" len="med"/>
                    </a:lnR>
                    <a:lnT w="6350" cap="flat" cmpd="sng" algn="ctr">
                      <a:solidFill>
                        <a:srgbClr val="D3DBE3"/>
                      </a:solidFill>
                      <a:prstDash val="solid"/>
                      <a:round/>
                      <a:headEnd type="none" w="med" len="med"/>
                      <a:tailEnd type="none" w="med" len="med"/>
                    </a:lnT>
                    <a:lnB w="6350" cap="flat" cmpd="sng" algn="ctr">
                      <a:solidFill>
                        <a:srgbClr val="D3DBE3"/>
                      </a:solidFill>
                      <a:prstDash val="solid"/>
                      <a:round/>
                      <a:headEnd type="none" w="med" len="med"/>
                      <a:tailEnd type="none" w="med" len="med"/>
                    </a:lnB>
                    <a:solidFill>
                      <a:srgbClr val="FFFFFF"/>
                    </a:solidFill>
                  </a:tcPr>
                </a:tc>
              </a:tr>
              <a:tr h="713232">
                <a:tc>
                  <a:txBody>
                    <a:bodyPr/>
                    <a:lstStyle/>
                    <a:p>
                      <a:pPr indent="0" marL="0">
                        <a:buNone/>
                      </a:pPr>
                      <a:r>
                        <a:rPr lang="en-US" sz="1250" dirty="0">
                          <a:solidFill>
                            <a:srgbClr val="17222C"/>
                          </a:solidFill>
                          <a:latin typeface="Calibri" pitchFamily="34" charset="0"/>
                          <a:ea typeface="Calibri" pitchFamily="34" charset="-122"/>
                          <a:cs typeface="Calibri" pitchFamily="34" charset="-120"/>
                        </a:rPr>
                        <a:t>Une zone de disponibilité</a:t>
                      </a:r>
                      <a:endParaRPr lang="en-US" sz="1250" dirty="0">
                        <a:latin typeface="Calibri" charset="0"/>
                        <a:ea typeface="Calibri" charset="0"/>
                        <a:cs typeface="Calibri" charset="0"/>
                      </a:endParaRPr>
                    </a:p>
                  </a:txBody>
                  <a:tcPr marL="91440" marR="91440" marT="45720" marB="45720" anchor="t">
                    <a:lnL w="6350" cap="flat" cmpd="sng" algn="ctr">
                      <a:solidFill>
                        <a:srgbClr val="D3DBE3"/>
                      </a:solidFill>
                      <a:prstDash val="solid"/>
                      <a:round/>
                      <a:headEnd type="none" w="med" len="med"/>
                      <a:tailEnd type="none" w="med" len="med"/>
                    </a:lnL>
                    <a:lnR w="6350" cap="flat" cmpd="sng" algn="ctr">
                      <a:solidFill>
                        <a:srgbClr val="D3DBE3"/>
                      </a:solidFill>
                      <a:prstDash val="solid"/>
                      <a:round/>
                      <a:headEnd type="none" w="med" len="med"/>
                      <a:tailEnd type="none" w="med" len="med"/>
                    </a:lnR>
                    <a:lnT w="6350" cap="flat" cmpd="sng" algn="ctr">
                      <a:solidFill>
                        <a:srgbClr val="D3DBE3"/>
                      </a:solidFill>
                      <a:prstDash val="solid"/>
                      <a:round/>
                      <a:headEnd type="none" w="med" len="med"/>
                      <a:tailEnd type="none" w="med" len="med"/>
                    </a:lnT>
                    <a:lnB w="6350" cap="flat" cmpd="sng" algn="ctr">
                      <a:solidFill>
                        <a:srgbClr val="D3DBE3"/>
                      </a:solidFill>
                      <a:prstDash val="solid"/>
                      <a:round/>
                      <a:headEnd type="none" w="med" len="med"/>
                      <a:tailEnd type="none" w="med" len="med"/>
                    </a:lnB>
                    <a:solidFill>
                      <a:srgbClr val="FFFFFF"/>
                    </a:solidFill>
                  </a:tcPr>
                </a:tc>
                <a:tc>
                  <a:txBody>
                    <a:bodyPr/>
                    <a:lstStyle/>
                    <a:p>
                      <a:pPr indent="0" marL="0">
                        <a:buNone/>
                      </a:pPr>
                      <a:r>
                        <a:rPr lang="en-US" sz="1250" dirty="0">
                          <a:solidFill>
                            <a:srgbClr val="17222C"/>
                          </a:solidFill>
                          <a:latin typeface="Calibri" pitchFamily="34" charset="0"/>
                          <a:ea typeface="Calibri" pitchFamily="34" charset="-122"/>
                          <a:cs typeface="Calibri" pitchFamily="34" charset="-120"/>
                        </a:rPr>
                        <a:t>Aucune. Les serveurs des autres zones prennent le relais.</a:t>
                      </a:r>
                      <a:endParaRPr lang="en-US" sz="1250" dirty="0">
                        <a:latin typeface="Calibri" charset="0"/>
                        <a:ea typeface="Calibri" charset="0"/>
                        <a:cs typeface="Calibri" charset="0"/>
                      </a:endParaRPr>
                    </a:p>
                  </a:txBody>
                  <a:tcPr marL="91440" marR="91440" marT="45720" marB="45720" anchor="t">
                    <a:lnL w="6350" cap="flat" cmpd="sng" algn="ctr">
                      <a:solidFill>
                        <a:srgbClr val="D3DBE3"/>
                      </a:solidFill>
                      <a:prstDash val="solid"/>
                      <a:round/>
                      <a:headEnd type="none" w="med" len="med"/>
                      <a:tailEnd type="none" w="med" len="med"/>
                    </a:lnL>
                    <a:lnR w="6350" cap="flat" cmpd="sng" algn="ctr">
                      <a:solidFill>
                        <a:srgbClr val="D3DBE3"/>
                      </a:solidFill>
                      <a:prstDash val="solid"/>
                      <a:round/>
                      <a:headEnd type="none" w="med" len="med"/>
                      <a:tailEnd type="none" w="med" len="med"/>
                    </a:lnR>
                    <a:lnT w="6350" cap="flat" cmpd="sng" algn="ctr">
                      <a:solidFill>
                        <a:srgbClr val="D3DBE3"/>
                      </a:solidFill>
                      <a:prstDash val="solid"/>
                      <a:round/>
                      <a:headEnd type="none" w="med" len="med"/>
                      <a:tailEnd type="none" w="med" len="med"/>
                    </a:lnT>
                    <a:lnB w="6350" cap="flat" cmpd="sng" algn="ctr">
                      <a:solidFill>
                        <a:srgbClr val="D3DBE3"/>
                      </a:solidFill>
                      <a:prstDash val="solid"/>
                      <a:round/>
                      <a:headEnd type="none" w="med" len="med"/>
                      <a:tailEnd type="none" w="med" len="med"/>
                    </a:lnB>
                    <a:solidFill>
                      <a:srgbClr val="FFFFFF"/>
                    </a:solidFill>
                  </a:tcPr>
                </a:tc>
                <a:tc>
                  <a:txBody>
                    <a:bodyPr/>
                    <a:lstStyle/>
                    <a:p>
                      <a:pPr indent="0" marL="0">
                        <a:buNone/>
                      </a:pPr>
                      <a:r>
                        <a:rPr lang="en-US" sz="1250" dirty="0">
                          <a:solidFill>
                            <a:srgbClr val="17222C"/>
                          </a:solidFill>
                          <a:latin typeface="Calibri" pitchFamily="34" charset="0"/>
                          <a:ea typeface="Calibri" pitchFamily="34" charset="-122"/>
                          <a:cs typeface="Calibri" pitchFamily="34" charset="-120"/>
                        </a:rPr>
                        <a:t>quelques secondes</a:t>
                      </a:r>
                      <a:endParaRPr lang="en-US" sz="1250" dirty="0">
                        <a:latin typeface="Calibri" charset="0"/>
                        <a:ea typeface="Calibri" charset="0"/>
                        <a:cs typeface="Calibri" charset="0"/>
                      </a:endParaRPr>
                    </a:p>
                  </a:txBody>
                  <a:tcPr marL="91440" marR="91440" marT="45720" marB="45720" anchor="t">
                    <a:lnL w="6350" cap="flat" cmpd="sng" algn="ctr">
                      <a:solidFill>
                        <a:srgbClr val="D3DBE3"/>
                      </a:solidFill>
                      <a:prstDash val="solid"/>
                      <a:round/>
                      <a:headEnd type="none" w="med" len="med"/>
                      <a:tailEnd type="none" w="med" len="med"/>
                    </a:lnL>
                    <a:lnR w="6350" cap="flat" cmpd="sng" algn="ctr">
                      <a:solidFill>
                        <a:srgbClr val="D3DBE3"/>
                      </a:solidFill>
                      <a:prstDash val="solid"/>
                      <a:round/>
                      <a:headEnd type="none" w="med" len="med"/>
                      <a:tailEnd type="none" w="med" len="med"/>
                    </a:lnR>
                    <a:lnT w="6350" cap="flat" cmpd="sng" algn="ctr">
                      <a:solidFill>
                        <a:srgbClr val="D3DBE3"/>
                      </a:solidFill>
                      <a:prstDash val="solid"/>
                      <a:round/>
                      <a:headEnd type="none" w="med" len="med"/>
                      <a:tailEnd type="none" w="med" len="med"/>
                    </a:lnT>
                    <a:lnB w="6350" cap="flat" cmpd="sng" algn="ctr">
                      <a:solidFill>
                        <a:srgbClr val="D3DBE3"/>
                      </a:solidFill>
                      <a:prstDash val="solid"/>
                      <a:round/>
                      <a:headEnd type="none" w="med" len="med"/>
                      <a:tailEnd type="none" w="med" len="med"/>
                    </a:lnB>
                    <a:solidFill>
                      <a:srgbClr val="FFFFFF"/>
                    </a:solidFill>
                  </a:tcPr>
                </a:tc>
                <a:tc>
                  <a:txBody>
                    <a:bodyPr/>
                    <a:lstStyle/>
                    <a:p>
                      <a:pPr indent="0" marL="0">
                        <a:buNone/>
                      </a:pPr>
                      <a:r>
                        <a:rPr lang="en-US" sz="1250" dirty="0">
                          <a:solidFill>
                            <a:srgbClr val="17222C"/>
                          </a:solidFill>
                          <a:latin typeface="Calibri" pitchFamily="34" charset="0"/>
                          <a:ea typeface="Calibri" pitchFamily="34" charset="-122"/>
                          <a:cs typeface="Calibri" pitchFamily="34" charset="-120"/>
                        </a:rPr>
                        <a:t>aucune</a:t>
                      </a:r>
                      <a:endParaRPr lang="en-US" sz="1250" dirty="0">
                        <a:latin typeface="Calibri" charset="0"/>
                        <a:ea typeface="Calibri" charset="0"/>
                        <a:cs typeface="Calibri" charset="0"/>
                      </a:endParaRPr>
                    </a:p>
                  </a:txBody>
                  <a:tcPr marL="91440" marR="91440" marT="45720" marB="45720" anchor="t">
                    <a:lnL w="6350" cap="flat" cmpd="sng" algn="ctr">
                      <a:solidFill>
                        <a:srgbClr val="D3DBE3"/>
                      </a:solidFill>
                      <a:prstDash val="solid"/>
                      <a:round/>
                      <a:headEnd type="none" w="med" len="med"/>
                      <a:tailEnd type="none" w="med" len="med"/>
                    </a:lnL>
                    <a:lnR w="6350" cap="flat" cmpd="sng" algn="ctr">
                      <a:solidFill>
                        <a:srgbClr val="D3DBE3"/>
                      </a:solidFill>
                      <a:prstDash val="solid"/>
                      <a:round/>
                      <a:headEnd type="none" w="med" len="med"/>
                      <a:tailEnd type="none" w="med" len="med"/>
                    </a:lnR>
                    <a:lnT w="6350" cap="flat" cmpd="sng" algn="ctr">
                      <a:solidFill>
                        <a:srgbClr val="D3DBE3"/>
                      </a:solidFill>
                      <a:prstDash val="solid"/>
                      <a:round/>
                      <a:headEnd type="none" w="med" len="med"/>
                      <a:tailEnd type="none" w="med" len="med"/>
                    </a:lnT>
                    <a:lnB w="6350" cap="flat" cmpd="sng" algn="ctr">
                      <a:solidFill>
                        <a:srgbClr val="D3DBE3"/>
                      </a:solidFill>
                      <a:prstDash val="solid"/>
                      <a:round/>
                      <a:headEnd type="none" w="med" len="med"/>
                      <a:tailEnd type="none" w="med" len="med"/>
                    </a:lnB>
                    <a:solidFill>
                      <a:srgbClr val="FFFFFF"/>
                    </a:solidFill>
                  </a:tcPr>
                </a:tc>
              </a:tr>
              <a:tr h="713232">
                <a:tc>
                  <a:txBody>
                    <a:bodyPr/>
                    <a:lstStyle/>
                    <a:p>
                      <a:pPr indent="0" marL="0">
                        <a:buNone/>
                      </a:pPr>
                      <a:r>
                        <a:rPr lang="en-US" sz="1250" dirty="0">
                          <a:solidFill>
                            <a:srgbClr val="17222C"/>
                          </a:solidFill>
                          <a:latin typeface="Calibri" pitchFamily="34" charset="0"/>
                          <a:ea typeface="Calibri" pitchFamily="34" charset="-122"/>
                          <a:cs typeface="Calibri" pitchFamily="34" charset="-120"/>
                        </a:rPr>
                        <a:t>La base de données</a:t>
                      </a:r>
                      <a:endParaRPr lang="en-US" sz="1250" dirty="0">
                        <a:latin typeface="Calibri" charset="0"/>
                        <a:ea typeface="Calibri" charset="0"/>
                        <a:cs typeface="Calibri" charset="0"/>
                      </a:endParaRPr>
                    </a:p>
                  </a:txBody>
                  <a:tcPr marL="91440" marR="91440" marT="45720" marB="45720" anchor="t">
                    <a:lnL w="6350" cap="flat" cmpd="sng" algn="ctr">
                      <a:solidFill>
                        <a:srgbClr val="D3DBE3"/>
                      </a:solidFill>
                      <a:prstDash val="solid"/>
                      <a:round/>
                      <a:headEnd type="none" w="med" len="med"/>
                      <a:tailEnd type="none" w="med" len="med"/>
                    </a:lnL>
                    <a:lnR w="6350" cap="flat" cmpd="sng" algn="ctr">
                      <a:solidFill>
                        <a:srgbClr val="D3DBE3"/>
                      </a:solidFill>
                      <a:prstDash val="solid"/>
                      <a:round/>
                      <a:headEnd type="none" w="med" len="med"/>
                      <a:tailEnd type="none" w="med" len="med"/>
                    </a:lnR>
                    <a:lnT w="6350" cap="flat" cmpd="sng" algn="ctr">
                      <a:solidFill>
                        <a:srgbClr val="D3DBE3"/>
                      </a:solidFill>
                      <a:prstDash val="solid"/>
                      <a:round/>
                      <a:headEnd type="none" w="med" len="med"/>
                      <a:tailEnd type="none" w="med" len="med"/>
                    </a:lnT>
                    <a:lnB w="6350" cap="flat" cmpd="sng" algn="ctr">
                      <a:solidFill>
                        <a:srgbClr val="D3DBE3"/>
                      </a:solidFill>
                      <a:prstDash val="solid"/>
                      <a:round/>
                      <a:headEnd type="none" w="med" len="med"/>
                      <a:tailEnd type="none" w="med" len="med"/>
                    </a:lnB>
                    <a:solidFill>
                      <a:srgbClr val="FFFFFF"/>
                    </a:solidFill>
                  </a:tcPr>
                </a:tc>
                <a:tc>
                  <a:txBody>
                    <a:bodyPr/>
                    <a:lstStyle/>
                    <a:p>
                      <a:pPr indent="0" marL="0">
                        <a:buNone/>
                      </a:pPr>
                      <a:r>
                        <a:rPr lang="en-US" sz="1250" dirty="0">
                          <a:solidFill>
                            <a:srgbClr val="17222C"/>
                          </a:solidFill>
                          <a:latin typeface="Calibri" pitchFamily="34" charset="0"/>
                          <a:ea typeface="Calibri" pitchFamily="34" charset="-122"/>
                          <a:cs typeface="Calibri" pitchFamily="34" charset="-120"/>
                        </a:rPr>
                        <a:t>Erreurs pendant le basculement, puis retour à la normale sur l'instance de secours.</a:t>
                      </a:r>
                      <a:endParaRPr lang="en-US" sz="1250" dirty="0">
                        <a:latin typeface="Calibri" charset="0"/>
                        <a:ea typeface="Calibri" charset="0"/>
                        <a:cs typeface="Calibri" charset="0"/>
                      </a:endParaRPr>
                    </a:p>
                  </a:txBody>
                  <a:tcPr marL="91440" marR="91440" marT="45720" marB="45720" anchor="t">
                    <a:lnL w="6350" cap="flat" cmpd="sng" algn="ctr">
                      <a:solidFill>
                        <a:srgbClr val="D3DBE3"/>
                      </a:solidFill>
                      <a:prstDash val="solid"/>
                      <a:round/>
                      <a:headEnd type="none" w="med" len="med"/>
                      <a:tailEnd type="none" w="med" len="med"/>
                    </a:lnL>
                    <a:lnR w="6350" cap="flat" cmpd="sng" algn="ctr">
                      <a:solidFill>
                        <a:srgbClr val="D3DBE3"/>
                      </a:solidFill>
                      <a:prstDash val="solid"/>
                      <a:round/>
                      <a:headEnd type="none" w="med" len="med"/>
                      <a:tailEnd type="none" w="med" len="med"/>
                    </a:lnR>
                    <a:lnT w="6350" cap="flat" cmpd="sng" algn="ctr">
                      <a:solidFill>
                        <a:srgbClr val="D3DBE3"/>
                      </a:solidFill>
                      <a:prstDash val="solid"/>
                      <a:round/>
                      <a:headEnd type="none" w="med" len="med"/>
                      <a:tailEnd type="none" w="med" len="med"/>
                    </a:lnT>
                    <a:lnB w="6350" cap="flat" cmpd="sng" algn="ctr">
                      <a:solidFill>
                        <a:srgbClr val="D3DBE3"/>
                      </a:solidFill>
                      <a:prstDash val="solid"/>
                      <a:round/>
                      <a:headEnd type="none" w="med" len="med"/>
                      <a:tailEnd type="none" w="med" len="med"/>
                    </a:lnB>
                    <a:solidFill>
                      <a:srgbClr val="FFFFFF"/>
                    </a:solidFill>
                  </a:tcPr>
                </a:tc>
                <a:tc>
                  <a:txBody>
                    <a:bodyPr/>
                    <a:lstStyle/>
                    <a:p>
                      <a:pPr indent="0" marL="0">
                        <a:buNone/>
                      </a:pPr>
                      <a:r>
                        <a:rPr lang="en-US" sz="1250" dirty="0">
                          <a:solidFill>
                            <a:srgbClr val="17222C"/>
                          </a:solidFill>
                          <a:latin typeface="Calibri" pitchFamily="34" charset="0"/>
                          <a:ea typeface="Calibri" pitchFamily="34" charset="-122"/>
                          <a:cs typeface="Calibri" pitchFamily="34" charset="-120"/>
                        </a:rPr>
                        <a:t>60 à 120 s</a:t>
                      </a:r>
                      <a:endParaRPr lang="en-US" sz="1250" dirty="0">
                        <a:latin typeface="Calibri" charset="0"/>
                        <a:ea typeface="Calibri" charset="0"/>
                        <a:cs typeface="Calibri" charset="0"/>
                      </a:endParaRPr>
                    </a:p>
                  </a:txBody>
                  <a:tcPr marL="91440" marR="91440" marT="45720" marB="45720" anchor="t">
                    <a:lnL w="6350" cap="flat" cmpd="sng" algn="ctr">
                      <a:solidFill>
                        <a:srgbClr val="D3DBE3"/>
                      </a:solidFill>
                      <a:prstDash val="solid"/>
                      <a:round/>
                      <a:headEnd type="none" w="med" len="med"/>
                      <a:tailEnd type="none" w="med" len="med"/>
                    </a:lnL>
                    <a:lnR w="6350" cap="flat" cmpd="sng" algn="ctr">
                      <a:solidFill>
                        <a:srgbClr val="D3DBE3"/>
                      </a:solidFill>
                      <a:prstDash val="solid"/>
                      <a:round/>
                      <a:headEnd type="none" w="med" len="med"/>
                      <a:tailEnd type="none" w="med" len="med"/>
                    </a:lnR>
                    <a:lnT w="6350" cap="flat" cmpd="sng" algn="ctr">
                      <a:solidFill>
                        <a:srgbClr val="D3DBE3"/>
                      </a:solidFill>
                      <a:prstDash val="solid"/>
                      <a:round/>
                      <a:headEnd type="none" w="med" len="med"/>
                      <a:tailEnd type="none" w="med" len="med"/>
                    </a:lnT>
                    <a:lnB w="6350" cap="flat" cmpd="sng" algn="ctr">
                      <a:solidFill>
                        <a:srgbClr val="D3DBE3"/>
                      </a:solidFill>
                      <a:prstDash val="solid"/>
                      <a:round/>
                      <a:headEnd type="none" w="med" len="med"/>
                      <a:tailEnd type="none" w="med" len="med"/>
                    </a:lnB>
                    <a:solidFill>
                      <a:srgbClr val="FFFFFF"/>
                    </a:solidFill>
                  </a:tcPr>
                </a:tc>
                <a:tc>
                  <a:txBody>
                    <a:bodyPr/>
                    <a:lstStyle/>
                    <a:p>
                      <a:pPr indent="0" marL="0">
                        <a:buNone/>
                      </a:pPr>
                      <a:r>
                        <a:rPr lang="en-US" sz="1250" dirty="0">
                          <a:solidFill>
                            <a:srgbClr val="17222C"/>
                          </a:solidFill>
                          <a:latin typeface="Calibri" pitchFamily="34" charset="0"/>
                          <a:ea typeface="Calibri" pitchFamily="34" charset="-122"/>
                          <a:cs typeface="Calibri" pitchFamily="34" charset="-120"/>
                        </a:rPr>
                        <a:t>aucune (prod)</a:t>
                      </a:r>
                      <a:endParaRPr lang="en-US" sz="1250" dirty="0">
                        <a:latin typeface="Calibri" charset="0"/>
                        <a:ea typeface="Calibri" charset="0"/>
                        <a:cs typeface="Calibri" charset="0"/>
                      </a:endParaRPr>
                    </a:p>
                  </a:txBody>
                  <a:tcPr marL="91440" marR="91440" marT="45720" marB="45720" anchor="t">
                    <a:lnL w="6350" cap="flat" cmpd="sng" algn="ctr">
                      <a:solidFill>
                        <a:srgbClr val="D3DBE3"/>
                      </a:solidFill>
                      <a:prstDash val="solid"/>
                      <a:round/>
                      <a:headEnd type="none" w="med" len="med"/>
                      <a:tailEnd type="none" w="med" len="med"/>
                    </a:lnL>
                    <a:lnR w="6350" cap="flat" cmpd="sng" algn="ctr">
                      <a:solidFill>
                        <a:srgbClr val="D3DBE3"/>
                      </a:solidFill>
                      <a:prstDash val="solid"/>
                      <a:round/>
                      <a:headEnd type="none" w="med" len="med"/>
                      <a:tailEnd type="none" w="med" len="med"/>
                    </a:lnR>
                    <a:lnT w="6350" cap="flat" cmpd="sng" algn="ctr">
                      <a:solidFill>
                        <a:srgbClr val="D3DBE3"/>
                      </a:solidFill>
                      <a:prstDash val="solid"/>
                      <a:round/>
                      <a:headEnd type="none" w="med" len="med"/>
                      <a:tailEnd type="none" w="med" len="med"/>
                    </a:lnT>
                    <a:lnB w="6350" cap="flat" cmpd="sng" algn="ctr">
                      <a:solidFill>
                        <a:srgbClr val="D3DBE3"/>
                      </a:solidFill>
                      <a:prstDash val="solid"/>
                      <a:round/>
                      <a:headEnd type="none" w="med" len="med"/>
                      <a:tailEnd type="none" w="med" len="med"/>
                    </a:lnB>
                    <a:solidFill>
                      <a:srgbClr val="FFFFFF"/>
                    </a:solidFill>
                  </a:tcPr>
                </a:tc>
              </a:tr>
              <a:tr h="713232">
                <a:tc>
                  <a:txBody>
                    <a:bodyPr/>
                    <a:lstStyle/>
                    <a:p>
                      <a:pPr indent="0" marL="0">
                        <a:buNone/>
                      </a:pPr>
                      <a:r>
                        <a:rPr lang="en-US" sz="1250" dirty="0">
                          <a:solidFill>
                            <a:srgbClr val="17222C"/>
                          </a:solidFill>
                          <a:latin typeface="Calibri" pitchFamily="34" charset="0"/>
                          <a:ea typeface="Calibri" pitchFamily="34" charset="-122"/>
                          <a:cs typeface="Calibri" pitchFamily="34" charset="-120"/>
                        </a:rPr>
                        <a:t>Le bastion</a:t>
                      </a:r>
                      <a:endParaRPr lang="en-US" sz="1250" dirty="0">
                        <a:latin typeface="Calibri" charset="0"/>
                        <a:ea typeface="Calibri" charset="0"/>
                        <a:cs typeface="Calibri" charset="0"/>
                      </a:endParaRPr>
                    </a:p>
                  </a:txBody>
                  <a:tcPr marL="91440" marR="91440" marT="45720" marB="45720" anchor="t">
                    <a:lnL w="6350" cap="flat" cmpd="sng" algn="ctr">
                      <a:solidFill>
                        <a:srgbClr val="D3DBE3"/>
                      </a:solidFill>
                      <a:prstDash val="solid"/>
                      <a:round/>
                      <a:headEnd type="none" w="med" len="med"/>
                      <a:tailEnd type="none" w="med" len="med"/>
                    </a:lnL>
                    <a:lnR w="6350" cap="flat" cmpd="sng" algn="ctr">
                      <a:solidFill>
                        <a:srgbClr val="D3DBE3"/>
                      </a:solidFill>
                      <a:prstDash val="solid"/>
                      <a:round/>
                      <a:headEnd type="none" w="med" len="med"/>
                      <a:tailEnd type="none" w="med" len="med"/>
                    </a:lnR>
                    <a:lnT w="6350" cap="flat" cmpd="sng" algn="ctr">
                      <a:solidFill>
                        <a:srgbClr val="D3DBE3"/>
                      </a:solidFill>
                      <a:prstDash val="solid"/>
                      <a:round/>
                      <a:headEnd type="none" w="med" len="med"/>
                      <a:tailEnd type="none" w="med" len="med"/>
                    </a:lnT>
                    <a:lnB w="6350" cap="flat" cmpd="sng" algn="ctr">
                      <a:solidFill>
                        <a:srgbClr val="D3DBE3"/>
                      </a:solidFill>
                      <a:prstDash val="solid"/>
                      <a:round/>
                      <a:headEnd type="none" w="med" len="med"/>
                      <a:tailEnd type="none" w="med" len="med"/>
                    </a:lnB>
                    <a:solidFill>
                      <a:srgbClr val="FFFFFF"/>
                    </a:solidFill>
                  </a:tcPr>
                </a:tc>
                <a:tc>
                  <a:txBody>
                    <a:bodyPr/>
                    <a:lstStyle/>
                    <a:p>
                      <a:pPr indent="0" marL="0">
                        <a:buNone/>
                      </a:pPr>
                      <a:r>
                        <a:rPr lang="en-US" sz="1250" dirty="0">
                          <a:solidFill>
                            <a:srgbClr val="17222C"/>
                          </a:solidFill>
                          <a:latin typeface="Calibri" pitchFamily="34" charset="0"/>
                          <a:ea typeface="Calibri" pitchFamily="34" charset="-122"/>
                          <a:cs typeface="Calibri" pitchFamily="34" charset="-120"/>
                        </a:rPr>
                        <a:t>Aucune. Il ne sert qu'à l'administration.</a:t>
                      </a:r>
                      <a:endParaRPr lang="en-US" sz="1250" dirty="0">
                        <a:latin typeface="Calibri" charset="0"/>
                        <a:ea typeface="Calibri" charset="0"/>
                        <a:cs typeface="Calibri" charset="0"/>
                      </a:endParaRPr>
                    </a:p>
                  </a:txBody>
                  <a:tcPr marL="91440" marR="91440" marT="45720" marB="45720" anchor="t">
                    <a:lnL w="6350" cap="flat" cmpd="sng" algn="ctr">
                      <a:solidFill>
                        <a:srgbClr val="D3DBE3"/>
                      </a:solidFill>
                      <a:prstDash val="solid"/>
                      <a:round/>
                      <a:headEnd type="none" w="med" len="med"/>
                      <a:tailEnd type="none" w="med" len="med"/>
                    </a:lnL>
                    <a:lnR w="6350" cap="flat" cmpd="sng" algn="ctr">
                      <a:solidFill>
                        <a:srgbClr val="D3DBE3"/>
                      </a:solidFill>
                      <a:prstDash val="solid"/>
                      <a:round/>
                      <a:headEnd type="none" w="med" len="med"/>
                      <a:tailEnd type="none" w="med" len="med"/>
                    </a:lnR>
                    <a:lnT w="6350" cap="flat" cmpd="sng" algn="ctr">
                      <a:solidFill>
                        <a:srgbClr val="D3DBE3"/>
                      </a:solidFill>
                      <a:prstDash val="solid"/>
                      <a:round/>
                      <a:headEnd type="none" w="med" len="med"/>
                      <a:tailEnd type="none" w="med" len="med"/>
                    </a:lnT>
                    <a:lnB w="6350" cap="flat" cmpd="sng" algn="ctr">
                      <a:solidFill>
                        <a:srgbClr val="D3DBE3"/>
                      </a:solidFill>
                      <a:prstDash val="solid"/>
                      <a:round/>
                      <a:headEnd type="none" w="med" len="med"/>
                      <a:tailEnd type="none" w="med" len="med"/>
                    </a:lnB>
                    <a:solidFill>
                      <a:srgbClr val="FFFFFF"/>
                    </a:solidFill>
                  </a:tcPr>
                </a:tc>
                <a:tc>
                  <a:txBody>
                    <a:bodyPr/>
                    <a:lstStyle/>
                    <a:p>
                      <a:pPr indent="0" marL="0">
                        <a:buNone/>
                      </a:pPr>
                      <a:r>
                        <a:rPr lang="en-US" sz="1250" dirty="0">
                          <a:solidFill>
                            <a:srgbClr val="17222C"/>
                          </a:solidFill>
                          <a:latin typeface="Calibri" pitchFamily="34" charset="0"/>
                          <a:ea typeface="Calibri" pitchFamily="34" charset="-122"/>
                          <a:cs typeface="Calibri" pitchFamily="34" charset="-120"/>
                        </a:rPr>
                        <a:t>~2 min</a:t>
                      </a:r>
                      <a:endParaRPr lang="en-US" sz="1250" dirty="0">
                        <a:latin typeface="Calibri" charset="0"/>
                        <a:ea typeface="Calibri" charset="0"/>
                        <a:cs typeface="Calibri" charset="0"/>
                      </a:endParaRPr>
                    </a:p>
                  </a:txBody>
                  <a:tcPr marL="91440" marR="91440" marT="45720" marB="45720" anchor="t">
                    <a:lnL w="6350" cap="flat" cmpd="sng" algn="ctr">
                      <a:solidFill>
                        <a:srgbClr val="D3DBE3"/>
                      </a:solidFill>
                      <a:prstDash val="solid"/>
                      <a:round/>
                      <a:headEnd type="none" w="med" len="med"/>
                      <a:tailEnd type="none" w="med" len="med"/>
                    </a:lnL>
                    <a:lnR w="6350" cap="flat" cmpd="sng" algn="ctr">
                      <a:solidFill>
                        <a:srgbClr val="D3DBE3"/>
                      </a:solidFill>
                      <a:prstDash val="solid"/>
                      <a:round/>
                      <a:headEnd type="none" w="med" len="med"/>
                      <a:tailEnd type="none" w="med" len="med"/>
                    </a:lnR>
                    <a:lnT w="6350" cap="flat" cmpd="sng" algn="ctr">
                      <a:solidFill>
                        <a:srgbClr val="D3DBE3"/>
                      </a:solidFill>
                      <a:prstDash val="solid"/>
                      <a:round/>
                      <a:headEnd type="none" w="med" len="med"/>
                      <a:tailEnd type="none" w="med" len="med"/>
                    </a:lnT>
                    <a:lnB w="6350" cap="flat" cmpd="sng" algn="ctr">
                      <a:solidFill>
                        <a:srgbClr val="D3DBE3"/>
                      </a:solidFill>
                      <a:prstDash val="solid"/>
                      <a:round/>
                      <a:headEnd type="none" w="med" len="med"/>
                      <a:tailEnd type="none" w="med" len="med"/>
                    </a:lnB>
                    <a:solidFill>
                      <a:srgbClr val="FFFFFF"/>
                    </a:solidFill>
                  </a:tcPr>
                </a:tc>
                <a:tc>
                  <a:txBody>
                    <a:bodyPr/>
                    <a:lstStyle/>
                    <a:p>
                      <a:pPr indent="0" marL="0">
                        <a:buNone/>
                      </a:pPr>
                      <a:r>
                        <a:rPr lang="en-US" sz="1250" dirty="0">
                          <a:solidFill>
                            <a:srgbClr val="17222C"/>
                          </a:solidFill>
                          <a:latin typeface="Calibri" pitchFamily="34" charset="0"/>
                          <a:ea typeface="Calibri" pitchFamily="34" charset="-122"/>
                          <a:cs typeface="Calibri" pitchFamily="34" charset="-120"/>
                        </a:rPr>
                        <a:t>le recréer</a:t>
                      </a:r>
                      <a:endParaRPr lang="en-US" sz="1250" dirty="0">
                        <a:latin typeface="Calibri" charset="0"/>
                        <a:ea typeface="Calibri" charset="0"/>
                        <a:cs typeface="Calibri" charset="0"/>
                      </a:endParaRPr>
                    </a:p>
                  </a:txBody>
                  <a:tcPr marL="91440" marR="91440" marT="45720" marB="45720" anchor="t">
                    <a:lnL w="6350" cap="flat" cmpd="sng" algn="ctr">
                      <a:solidFill>
                        <a:srgbClr val="D3DBE3"/>
                      </a:solidFill>
                      <a:prstDash val="solid"/>
                      <a:round/>
                      <a:headEnd type="none" w="med" len="med"/>
                      <a:tailEnd type="none" w="med" len="med"/>
                    </a:lnL>
                    <a:lnR w="6350" cap="flat" cmpd="sng" algn="ctr">
                      <a:solidFill>
                        <a:srgbClr val="D3DBE3"/>
                      </a:solidFill>
                      <a:prstDash val="solid"/>
                      <a:round/>
                      <a:headEnd type="none" w="med" len="med"/>
                      <a:tailEnd type="none" w="med" len="med"/>
                    </a:lnR>
                    <a:lnT w="6350" cap="flat" cmpd="sng" algn="ctr">
                      <a:solidFill>
                        <a:srgbClr val="D3DBE3"/>
                      </a:solidFill>
                      <a:prstDash val="solid"/>
                      <a:round/>
                      <a:headEnd type="none" w="med" len="med"/>
                      <a:tailEnd type="none" w="med" len="med"/>
                    </a:lnT>
                    <a:lnB w="6350" cap="flat" cmpd="sng" algn="ctr">
                      <a:solidFill>
                        <a:srgbClr val="D3DBE3"/>
                      </a:solidFill>
                      <a:prstDash val="solid"/>
                      <a:round/>
                      <a:headEnd type="none" w="med" len="med"/>
                      <a:tailEnd type="none" w="med" len="med"/>
                    </a:lnB>
                    <a:solidFill>
                      <a:srgbClr val="FFFFFF"/>
                    </a:solidFill>
                  </a:tcPr>
                </a:tc>
              </a:tr>
            </a:tbl>
          </a:graphicData>
        </a:graphic>
      </p:graphicFrame>
      <p:sp>
        <p:nvSpPr>
          <p:cNvPr id="5" name="Shape 2"/>
          <p:cNvSpPr/>
          <p:nvPr/>
        </p:nvSpPr>
        <p:spPr>
          <a:xfrm>
            <a:off x="566928" y="4892040"/>
            <a:ext cx="11055096" cy="822960"/>
          </a:xfrm>
          <a:prstGeom prst="roundRect">
            <a:avLst>
              <a:gd name="adj" fmla="val 5556"/>
            </a:avLst>
          </a:prstGeom>
          <a:solidFill>
            <a:srgbClr val="FDF4E6"/>
          </a:solidFill>
          <a:ln w="9525">
            <a:solidFill>
              <a:srgbClr val="E08B1F"/>
            </a:solidFill>
            <a:prstDash val="solid"/>
          </a:ln>
        </p:spPr>
      </p:sp>
      <p:sp>
        <p:nvSpPr>
          <p:cNvPr id="6" name="Text 3"/>
          <p:cNvSpPr txBox="1"/>
          <p:nvPr/>
        </p:nvSpPr>
        <p:spPr>
          <a:xfrm>
            <a:off x="822960" y="5047488"/>
            <a:ext cx="10543032" cy="548640"/>
          </a:xfrm>
          <a:prstGeom prst="rect">
            <a:avLst/>
          </a:prstGeom>
          <a:noFill/>
          <a:ln/>
        </p:spPr>
        <p:txBody>
          <a:bodyPr wrap="square" lIns="0" tIns="0" rIns="0" bIns="0" rtlCol="0" anchor="ctr"/>
          <a:lstStyle/>
          <a:p>
            <a:pPr indent="0" marL="0">
              <a:buNone/>
            </a:pPr>
            <a:r>
              <a:rPr lang="en-US" sz="1400" b="1" dirty="0">
                <a:solidFill>
                  <a:srgbClr val="17222C"/>
                </a:solidFill>
                <a:latin typeface="Calibri" pitchFamily="34" charset="0"/>
                <a:ea typeface="Calibri" pitchFamily="34" charset="-122"/>
                <a:cs typeface="Calibri" pitchFamily="34" charset="-120"/>
              </a:rPr>
              <a:t>Le panier du client est conservé : les sessions PHP sont sur le disque partagé, pas sur le serveur en panne.</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66928" y="384048"/>
            <a:ext cx="11055096" cy="274320"/>
          </a:xfrm>
          <a:prstGeom prst="rect">
            <a:avLst/>
          </a:prstGeom>
          <a:noFill/>
          <a:ln/>
        </p:spPr>
        <p:txBody>
          <a:bodyPr wrap="square" lIns="0" tIns="0" rIns="0" bIns="0" rtlCol="0" anchor="ctr"/>
          <a:lstStyle/>
          <a:p>
            <a:pPr indent="0" marL="0">
              <a:buNone/>
            </a:pPr>
            <a:r>
              <a:rPr lang="en-US" sz="1100" spc="200" kern="0" dirty="0">
                <a:solidFill>
                  <a:srgbClr val="9E5D06"/>
                </a:solidFill>
                <a:latin typeface="Courier New" pitchFamily="34" charset="0"/>
                <a:ea typeface="Courier New" pitchFamily="34" charset="-122"/>
                <a:cs typeface="Courier New" pitchFamily="34" charset="-120"/>
              </a:rPr>
              <a:t>08 — PROBLÈMES RENCONTRÉS</a:t>
            </a:r>
            <a:endParaRPr lang="en-US" sz="1100" dirty="0"/>
          </a:p>
        </p:txBody>
      </p:sp>
      <p:sp>
        <p:nvSpPr>
          <p:cNvPr id="3" name="Text 1"/>
          <p:cNvSpPr txBox="1"/>
          <p:nvPr/>
        </p:nvSpPr>
        <p:spPr>
          <a:xfrm>
            <a:off x="566928" y="694944"/>
            <a:ext cx="11055096" cy="658368"/>
          </a:xfrm>
          <a:prstGeom prst="rect">
            <a:avLst/>
          </a:prstGeom>
          <a:noFill/>
          <a:ln/>
        </p:spPr>
        <p:txBody>
          <a:bodyPr wrap="square" lIns="0" tIns="0" rIns="0" bIns="0" rtlCol="0" anchor="ctr"/>
          <a:lstStyle/>
          <a:p>
            <a:pPr indent="0" marL="0">
              <a:buNone/>
            </a:pPr>
            <a:r>
              <a:rPr lang="en-US" sz="3000" b="1" dirty="0">
                <a:solidFill>
                  <a:srgbClr val="17222C"/>
                </a:solidFill>
                <a:latin typeface="Arial" pitchFamily="34" charset="0"/>
                <a:ea typeface="Arial" pitchFamily="34" charset="-122"/>
                <a:cs typeface="Arial" pitchFamily="34" charset="-120"/>
              </a:rPr>
              <a:t>Quatre erreurs apparues au déploiement réel</a:t>
            </a:r>
            <a:endParaRPr lang="en-US" sz="3000" dirty="0"/>
          </a:p>
        </p:txBody>
      </p:sp>
      <p:sp>
        <p:nvSpPr>
          <p:cNvPr id="4" name="Shape 2"/>
          <p:cNvSpPr/>
          <p:nvPr/>
        </p:nvSpPr>
        <p:spPr>
          <a:xfrm>
            <a:off x="566928" y="1627632"/>
            <a:ext cx="5394960" cy="1737360"/>
          </a:xfrm>
          <a:prstGeom prst="roundRect">
            <a:avLst>
              <a:gd name="adj" fmla="val 3158"/>
            </a:avLst>
          </a:prstGeom>
          <a:solidFill>
            <a:srgbClr val="F2F5F7"/>
          </a:solidFill>
          <a:ln w="9525">
            <a:solidFill>
              <a:srgbClr val="D3DBE3"/>
            </a:solidFill>
            <a:prstDash val="solid"/>
          </a:ln>
        </p:spPr>
      </p:sp>
      <p:sp>
        <p:nvSpPr>
          <p:cNvPr id="5" name="Shape 3"/>
          <p:cNvSpPr/>
          <p:nvPr/>
        </p:nvSpPr>
        <p:spPr>
          <a:xfrm>
            <a:off x="822960" y="1865376"/>
            <a:ext cx="310896" cy="310896"/>
          </a:xfrm>
          <a:prstGeom prst="ellipse">
            <a:avLst/>
          </a:prstGeom>
          <a:solidFill>
            <a:srgbClr val="0C6A72"/>
          </a:solidFill>
          <a:ln w="12700">
            <a:solidFill>
              <a:srgbClr val="0C6A72"/>
            </a:solidFill>
            <a:prstDash val="solid"/>
          </a:ln>
        </p:spPr>
      </p:sp>
      <p:sp>
        <p:nvSpPr>
          <p:cNvPr id="6" name="Text 4"/>
          <p:cNvSpPr txBox="1"/>
          <p:nvPr/>
        </p:nvSpPr>
        <p:spPr>
          <a:xfrm>
            <a:off x="822960" y="1865376"/>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7" name="Text 5"/>
          <p:cNvSpPr txBox="1"/>
          <p:nvPr/>
        </p:nvSpPr>
        <p:spPr>
          <a:xfrm>
            <a:off x="1280160" y="1847088"/>
            <a:ext cx="4480560" cy="347472"/>
          </a:xfrm>
          <a:prstGeom prst="rect">
            <a:avLst/>
          </a:prstGeom>
          <a:noFill/>
          <a:ln/>
        </p:spPr>
        <p:txBody>
          <a:bodyPr wrap="square" lIns="0" tIns="0" rIns="0" bIns="0" rtlCol="0" anchor="ctr"/>
          <a:lstStyle/>
          <a:p>
            <a:pPr indent="0" marL="0">
              <a:buNone/>
            </a:pPr>
            <a:r>
              <a:rPr lang="en-US" sz="1500" b="1" dirty="0">
                <a:solidFill>
                  <a:srgbClr val="17222C"/>
                </a:solidFill>
                <a:latin typeface="Arial" pitchFamily="34" charset="0"/>
                <a:ea typeface="Arial" pitchFamily="34" charset="-122"/>
                <a:cs typeface="Arial" pitchFamily="34" charset="-120"/>
              </a:rPr>
              <a:t>Caractère refusé par AWS</a:t>
            </a:r>
            <a:endParaRPr lang="en-US" sz="1500" dirty="0"/>
          </a:p>
        </p:txBody>
      </p:sp>
      <p:sp>
        <p:nvSpPr>
          <p:cNvPr id="8" name="Text 6"/>
          <p:cNvSpPr txBox="1"/>
          <p:nvPr/>
        </p:nvSpPr>
        <p:spPr>
          <a:xfrm>
            <a:off x="822960" y="2340864"/>
            <a:ext cx="4892040" cy="914400"/>
          </a:xfrm>
          <a:prstGeom prst="rect">
            <a:avLst/>
          </a:prstGeom>
          <a:noFill/>
          <a:ln/>
        </p:spPr>
        <p:txBody>
          <a:bodyPr wrap="square" lIns="0" tIns="0" rIns="0" bIns="0" rtlCol="0" anchor="ctr"/>
          <a:lstStyle/>
          <a:p>
            <a:pPr indent="0" marL="0">
              <a:buNone/>
            </a:pPr>
            <a:r>
              <a:rPr lang="en-US" sz="1200" dirty="0">
                <a:solidFill>
                  <a:srgbClr val="5C6B7A"/>
                </a:solidFill>
                <a:latin typeface="Calibri" pitchFamily="34" charset="0"/>
                <a:ea typeface="Calibri" pitchFamily="34" charset="-122"/>
                <a:cs typeface="Calibri" pitchFamily="34" charset="-120"/>
              </a:rPr>
              <a:t>AWS n'accepte qu'un jeu de caractères limité dans les descriptions de groupes de sécurité. Le caractère « &gt; » que nous avions utilisé faisait échouer la création.</a:t>
            </a:r>
            <a:endParaRPr lang="en-US" sz="1200" dirty="0"/>
          </a:p>
        </p:txBody>
      </p:sp>
      <p:sp>
        <p:nvSpPr>
          <p:cNvPr id="9" name="Shape 7"/>
          <p:cNvSpPr/>
          <p:nvPr/>
        </p:nvSpPr>
        <p:spPr>
          <a:xfrm>
            <a:off x="6190488" y="1627632"/>
            <a:ext cx="5394960" cy="1737360"/>
          </a:xfrm>
          <a:prstGeom prst="roundRect">
            <a:avLst>
              <a:gd name="adj" fmla="val 3158"/>
            </a:avLst>
          </a:prstGeom>
          <a:solidFill>
            <a:srgbClr val="F2F5F7"/>
          </a:solidFill>
          <a:ln w="9525">
            <a:solidFill>
              <a:srgbClr val="D3DBE3"/>
            </a:solidFill>
            <a:prstDash val="solid"/>
          </a:ln>
        </p:spPr>
      </p:sp>
      <p:sp>
        <p:nvSpPr>
          <p:cNvPr id="10" name="Shape 8"/>
          <p:cNvSpPr/>
          <p:nvPr/>
        </p:nvSpPr>
        <p:spPr>
          <a:xfrm>
            <a:off x="6446520" y="1865376"/>
            <a:ext cx="310896" cy="310896"/>
          </a:xfrm>
          <a:prstGeom prst="ellipse">
            <a:avLst/>
          </a:prstGeom>
          <a:solidFill>
            <a:srgbClr val="0C6A72"/>
          </a:solidFill>
          <a:ln w="12700">
            <a:solidFill>
              <a:srgbClr val="0C6A72"/>
            </a:solidFill>
            <a:prstDash val="solid"/>
          </a:ln>
        </p:spPr>
      </p:sp>
      <p:sp>
        <p:nvSpPr>
          <p:cNvPr id="11" name="Text 9"/>
          <p:cNvSpPr txBox="1"/>
          <p:nvPr/>
        </p:nvSpPr>
        <p:spPr>
          <a:xfrm>
            <a:off x="6446520" y="1865376"/>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12" name="Text 10"/>
          <p:cNvSpPr txBox="1"/>
          <p:nvPr/>
        </p:nvSpPr>
        <p:spPr>
          <a:xfrm>
            <a:off x="6903720" y="1847088"/>
            <a:ext cx="4480560" cy="347472"/>
          </a:xfrm>
          <a:prstGeom prst="rect">
            <a:avLst/>
          </a:prstGeom>
          <a:noFill/>
          <a:ln/>
        </p:spPr>
        <p:txBody>
          <a:bodyPr wrap="square" lIns="0" tIns="0" rIns="0" bIns="0" rtlCol="0" anchor="ctr"/>
          <a:lstStyle/>
          <a:p>
            <a:pPr indent="0" marL="0">
              <a:buNone/>
            </a:pPr>
            <a:r>
              <a:rPr lang="en-US" sz="1500" b="1" dirty="0">
                <a:solidFill>
                  <a:srgbClr val="17222C"/>
                </a:solidFill>
                <a:latin typeface="Arial" pitchFamily="34" charset="0"/>
                <a:ea typeface="Arial" pitchFamily="34" charset="-122"/>
                <a:cs typeface="Arial" pitchFamily="34" charset="-120"/>
              </a:rPr>
              <a:t>Paquet awscli inexistant</a:t>
            </a:r>
            <a:endParaRPr lang="en-US" sz="1500" dirty="0"/>
          </a:p>
        </p:txBody>
      </p:sp>
      <p:sp>
        <p:nvSpPr>
          <p:cNvPr id="13" name="Text 11"/>
          <p:cNvSpPr txBox="1"/>
          <p:nvPr/>
        </p:nvSpPr>
        <p:spPr>
          <a:xfrm>
            <a:off x="6446520" y="2340864"/>
            <a:ext cx="4892040" cy="914400"/>
          </a:xfrm>
          <a:prstGeom prst="rect">
            <a:avLst/>
          </a:prstGeom>
          <a:noFill/>
          <a:ln/>
        </p:spPr>
        <p:txBody>
          <a:bodyPr wrap="square" lIns="0" tIns="0" rIns="0" bIns="0" rtlCol="0" anchor="ctr"/>
          <a:lstStyle/>
          <a:p>
            <a:pPr indent="0" marL="0">
              <a:buNone/>
            </a:pPr>
            <a:r>
              <a:rPr lang="en-US" sz="1200" dirty="0">
                <a:solidFill>
                  <a:srgbClr val="5C6B7A"/>
                </a:solidFill>
                <a:latin typeface="Calibri" pitchFamily="34" charset="0"/>
                <a:ea typeface="Calibri" pitchFamily="34" charset="-122"/>
                <a:cs typeface="Calibri" pitchFamily="34" charset="-120"/>
              </a:rPr>
              <a:t>Le paquet a été retiré des dépôts d'Ubuntu 24.04. Nous l'avons remplacé par la bibliothèque Python boto3, déjà disponible dans les dépôts de base.</a:t>
            </a:r>
            <a:endParaRPr lang="en-US" sz="1200" dirty="0"/>
          </a:p>
        </p:txBody>
      </p:sp>
      <p:sp>
        <p:nvSpPr>
          <p:cNvPr id="14" name="Shape 12"/>
          <p:cNvSpPr/>
          <p:nvPr/>
        </p:nvSpPr>
        <p:spPr>
          <a:xfrm>
            <a:off x="566928" y="3547872"/>
            <a:ext cx="5394960" cy="1737360"/>
          </a:xfrm>
          <a:prstGeom prst="roundRect">
            <a:avLst>
              <a:gd name="adj" fmla="val 3158"/>
            </a:avLst>
          </a:prstGeom>
          <a:solidFill>
            <a:srgbClr val="F2F5F7"/>
          </a:solidFill>
          <a:ln w="9525">
            <a:solidFill>
              <a:srgbClr val="D3DBE3"/>
            </a:solidFill>
            <a:prstDash val="solid"/>
          </a:ln>
        </p:spPr>
      </p:sp>
      <p:sp>
        <p:nvSpPr>
          <p:cNvPr id="15" name="Shape 13"/>
          <p:cNvSpPr/>
          <p:nvPr/>
        </p:nvSpPr>
        <p:spPr>
          <a:xfrm>
            <a:off x="822960" y="3785616"/>
            <a:ext cx="310896" cy="310896"/>
          </a:xfrm>
          <a:prstGeom prst="ellipse">
            <a:avLst/>
          </a:prstGeom>
          <a:solidFill>
            <a:srgbClr val="0C6A72"/>
          </a:solidFill>
          <a:ln w="12700">
            <a:solidFill>
              <a:srgbClr val="0C6A72"/>
            </a:solidFill>
            <a:prstDash val="solid"/>
          </a:ln>
        </p:spPr>
      </p:sp>
      <p:sp>
        <p:nvSpPr>
          <p:cNvPr id="16" name="Text 14"/>
          <p:cNvSpPr txBox="1"/>
          <p:nvPr/>
        </p:nvSpPr>
        <p:spPr>
          <a:xfrm>
            <a:off x="822960" y="3785616"/>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17" name="Text 15"/>
          <p:cNvSpPr txBox="1"/>
          <p:nvPr/>
        </p:nvSpPr>
        <p:spPr>
          <a:xfrm>
            <a:off x="1280160" y="3767328"/>
            <a:ext cx="4480560" cy="347472"/>
          </a:xfrm>
          <a:prstGeom prst="rect">
            <a:avLst/>
          </a:prstGeom>
          <a:noFill/>
          <a:ln/>
        </p:spPr>
        <p:txBody>
          <a:bodyPr wrap="square" lIns="0" tIns="0" rIns="0" bIns="0" rtlCol="0" anchor="ctr"/>
          <a:lstStyle/>
          <a:p>
            <a:pPr indent="0" marL="0">
              <a:buNone/>
            </a:pPr>
            <a:r>
              <a:rPr lang="en-US" sz="1500" b="1" dirty="0">
                <a:solidFill>
                  <a:srgbClr val="17222C"/>
                </a:solidFill>
                <a:latin typeface="Arial" pitchFamily="34" charset="0"/>
                <a:ea typeface="Arial" pitchFamily="34" charset="-122"/>
                <a:cs typeface="Arial" pitchFamily="34" charset="-120"/>
              </a:rPr>
              <a:t>Mot de passe interprété</a:t>
            </a:r>
            <a:endParaRPr lang="en-US" sz="1500" dirty="0"/>
          </a:p>
        </p:txBody>
      </p:sp>
      <p:sp>
        <p:nvSpPr>
          <p:cNvPr id="18" name="Text 16"/>
          <p:cNvSpPr txBox="1"/>
          <p:nvPr/>
        </p:nvSpPr>
        <p:spPr>
          <a:xfrm>
            <a:off x="822960" y="4261104"/>
            <a:ext cx="4892040" cy="914400"/>
          </a:xfrm>
          <a:prstGeom prst="rect">
            <a:avLst/>
          </a:prstGeom>
          <a:noFill/>
          <a:ln/>
        </p:spPr>
        <p:txBody>
          <a:bodyPr wrap="square" lIns="0" tIns="0" rIns="0" bIns="0" rtlCol="0" anchor="ctr"/>
          <a:lstStyle/>
          <a:p>
            <a:pPr indent="0" marL="0">
              <a:buNone/>
            </a:pPr>
            <a:r>
              <a:rPr lang="en-US" sz="1200" dirty="0">
                <a:solidFill>
                  <a:srgbClr val="5C6B7A"/>
                </a:solidFill>
                <a:latin typeface="Calibri" pitchFamily="34" charset="0"/>
                <a:ea typeface="Calibri" pitchFamily="34" charset="-122"/>
                <a:cs typeface="Calibri" pitchFamily="34" charset="-120"/>
              </a:rPr>
              <a:t>Le script chargeait le fichier d'environnement avec « source ». Le mot de passe généré contenait un « &amp; », que le shell a interprété comme une commande.</a:t>
            </a:r>
            <a:endParaRPr lang="en-US" sz="1200" dirty="0"/>
          </a:p>
        </p:txBody>
      </p:sp>
      <p:sp>
        <p:nvSpPr>
          <p:cNvPr id="19" name="Shape 17"/>
          <p:cNvSpPr/>
          <p:nvPr/>
        </p:nvSpPr>
        <p:spPr>
          <a:xfrm>
            <a:off x="6190488" y="3547872"/>
            <a:ext cx="5394960" cy="1737360"/>
          </a:xfrm>
          <a:prstGeom prst="roundRect">
            <a:avLst>
              <a:gd name="adj" fmla="val 3158"/>
            </a:avLst>
          </a:prstGeom>
          <a:solidFill>
            <a:srgbClr val="F2F5F7"/>
          </a:solidFill>
          <a:ln w="9525">
            <a:solidFill>
              <a:srgbClr val="D3DBE3"/>
            </a:solidFill>
            <a:prstDash val="solid"/>
          </a:ln>
        </p:spPr>
      </p:sp>
      <p:sp>
        <p:nvSpPr>
          <p:cNvPr id="20" name="Shape 18"/>
          <p:cNvSpPr/>
          <p:nvPr/>
        </p:nvSpPr>
        <p:spPr>
          <a:xfrm>
            <a:off x="6446520" y="3785616"/>
            <a:ext cx="310896" cy="310896"/>
          </a:xfrm>
          <a:prstGeom prst="ellipse">
            <a:avLst/>
          </a:prstGeom>
          <a:solidFill>
            <a:srgbClr val="0C6A72"/>
          </a:solidFill>
          <a:ln w="12700">
            <a:solidFill>
              <a:srgbClr val="0C6A72"/>
            </a:solidFill>
            <a:prstDash val="solid"/>
          </a:ln>
        </p:spPr>
      </p:sp>
      <p:sp>
        <p:nvSpPr>
          <p:cNvPr id="21" name="Text 19"/>
          <p:cNvSpPr txBox="1"/>
          <p:nvPr/>
        </p:nvSpPr>
        <p:spPr>
          <a:xfrm>
            <a:off x="6446520" y="3785616"/>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4</a:t>
            </a:r>
            <a:endParaRPr lang="en-US" sz="1200" dirty="0"/>
          </a:p>
        </p:txBody>
      </p:sp>
      <p:sp>
        <p:nvSpPr>
          <p:cNvPr id="22" name="Text 20"/>
          <p:cNvSpPr txBox="1"/>
          <p:nvPr/>
        </p:nvSpPr>
        <p:spPr>
          <a:xfrm>
            <a:off x="6903720" y="3767328"/>
            <a:ext cx="4480560" cy="347472"/>
          </a:xfrm>
          <a:prstGeom prst="rect">
            <a:avLst/>
          </a:prstGeom>
          <a:noFill/>
          <a:ln/>
        </p:spPr>
        <p:txBody>
          <a:bodyPr wrap="square" lIns="0" tIns="0" rIns="0" bIns="0" rtlCol="0" anchor="ctr"/>
          <a:lstStyle/>
          <a:p>
            <a:pPr indent="0" marL="0">
              <a:buNone/>
            </a:pPr>
            <a:r>
              <a:rPr lang="en-US" sz="1500" b="1" dirty="0">
                <a:solidFill>
                  <a:srgbClr val="17222C"/>
                </a:solidFill>
                <a:latin typeface="Arial" pitchFamily="34" charset="0"/>
                <a:ea typeface="Arial" pitchFamily="34" charset="-122"/>
                <a:cs typeface="Arial" pitchFamily="34" charset="-120"/>
              </a:rPr>
              <a:t>Cache incompatible avec NFS</a:t>
            </a:r>
            <a:endParaRPr lang="en-US" sz="1500" dirty="0"/>
          </a:p>
        </p:txBody>
      </p:sp>
      <p:sp>
        <p:nvSpPr>
          <p:cNvPr id="23" name="Text 21"/>
          <p:cNvSpPr txBox="1"/>
          <p:nvPr/>
        </p:nvSpPr>
        <p:spPr>
          <a:xfrm>
            <a:off x="6446520" y="4261104"/>
            <a:ext cx="4892040" cy="914400"/>
          </a:xfrm>
          <a:prstGeom prst="rect">
            <a:avLst/>
          </a:prstGeom>
          <a:noFill/>
          <a:ln/>
        </p:spPr>
        <p:txBody>
          <a:bodyPr wrap="square" lIns="0" tIns="0" rIns="0" bIns="0" rtlCol="0" anchor="ctr"/>
          <a:lstStyle/>
          <a:p>
            <a:pPr indent="0" marL="0">
              <a:buNone/>
            </a:pPr>
            <a:r>
              <a:rPr lang="en-US" sz="1200" dirty="0">
                <a:solidFill>
                  <a:srgbClr val="5C6B7A"/>
                </a:solidFill>
                <a:latin typeface="Calibri" pitchFamily="34" charset="0"/>
                <a:ea typeface="Calibri" pitchFamily="34" charset="-122"/>
                <a:cs typeface="Calibri" pitchFamily="34" charset="-120"/>
              </a:rPr>
              <a:t>Sur un disque réseau, supprimer un fichier ouvert laisse une trace. Le vidage de cache de PrestaShop échouait. Le cache est passé sur le disque local.</a:t>
            </a:r>
            <a:endParaRPr lang="en-US" sz="1200" dirty="0"/>
          </a:p>
        </p:txBody>
      </p:sp>
      <p:sp>
        <p:nvSpPr>
          <p:cNvPr id="24" name="Text 22"/>
          <p:cNvSpPr txBox="1"/>
          <p:nvPr/>
        </p:nvSpPr>
        <p:spPr>
          <a:xfrm>
            <a:off x="566928" y="5623560"/>
            <a:ext cx="11055096" cy="365760"/>
          </a:xfrm>
          <a:prstGeom prst="rect">
            <a:avLst/>
          </a:prstGeom>
          <a:noFill/>
          <a:ln/>
        </p:spPr>
        <p:txBody>
          <a:bodyPr wrap="square" lIns="0" tIns="0" rIns="0" bIns="0" rtlCol="0" anchor="ctr"/>
          <a:lstStyle/>
          <a:p>
            <a:pPr indent="0" marL="0">
              <a:buNone/>
            </a:pPr>
            <a:r>
              <a:rPr lang="en-US" sz="1500" b="1" dirty="0">
                <a:solidFill>
                  <a:srgbClr val="9E5D06"/>
                </a:solidFill>
                <a:latin typeface="Calibri" pitchFamily="34" charset="0"/>
                <a:ea typeface="Calibri" pitchFamily="34" charset="-122"/>
                <a:cs typeface="Calibri" pitchFamily="34" charset="-120"/>
              </a:rPr>
              <a:t>Les quatre corrections sont dans le dépôt. Un déploiement depuis zéro ne les rencontre plus.</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66928" y="384048"/>
            <a:ext cx="11055096" cy="274320"/>
          </a:xfrm>
          <a:prstGeom prst="rect">
            <a:avLst/>
          </a:prstGeom>
          <a:noFill/>
          <a:ln/>
        </p:spPr>
        <p:txBody>
          <a:bodyPr wrap="square" lIns="0" tIns="0" rIns="0" bIns="0" rtlCol="0" anchor="ctr"/>
          <a:lstStyle/>
          <a:p>
            <a:pPr indent="0" marL="0">
              <a:buNone/>
            </a:pPr>
            <a:r>
              <a:rPr lang="en-US" sz="1100" spc="200" kern="0" dirty="0">
                <a:solidFill>
                  <a:srgbClr val="9E5D06"/>
                </a:solidFill>
                <a:latin typeface="Courier New" pitchFamily="34" charset="0"/>
                <a:ea typeface="Courier New" pitchFamily="34" charset="-122"/>
                <a:cs typeface="Courier New" pitchFamily="34" charset="-120"/>
              </a:rPr>
              <a:t>09 — LIMITES</a:t>
            </a:r>
            <a:endParaRPr lang="en-US" sz="1100" dirty="0"/>
          </a:p>
        </p:txBody>
      </p:sp>
      <p:sp>
        <p:nvSpPr>
          <p:cNvPr id="3" name="Text 1"/>
          <p:cNvSpPr txBox="1"/>
          <p:nvPr/>
        </p:nvSpPr>
        <p:spPr>
          <a:xfrm>
            <a:off x="566928" y="694944"/>
            <a:ext cx="11055096" cy="658368"/>
          </a:xfrm>
          <a:prstGeom prst="rect">
            <a:avLst/>
          </a:prstGeom>
          <a:noFill/>
          <a:ln/>
        </p:spPr>
        <p:txBody>
          <a:bodyPr wrap="square" lIns="0" tIns="0" rIns="0" bIns="0" rtlCol="0" anchor="ctr"/>
          <a:lstStyle/>
          <a:p>
            <a:pPr indent="0" marL="0">
              <a:buNone/>
            </a:pPr>
            <a:r>
              <a:rPr lang="en-US" sz="3000" b="1" dirty="0">
                <a:solidFill>
                  <a:srgbClr val="17222C"/>
                </a:solidFill>
                <a:latin typeface="Arial" pitchFamily="34" charset="0"/>
                <a:ea typeface="Arial" pitchFamily="34" charset="-122"/>
                <a:cs typeface="Arial" pitchFamily="34" charset="-120"/>
              </a:rPr>
              <a:t>Limites de la solution</a:t>
            </a:r>
            <a:endParaRPr lang="en-US" sz="3000" dirty="0"/>
          </a:p>
        </p:txBody>
      </p:sp>
      <p:sp>
        <p:nvSpPr>
          <p:cNvPr id="4" name="Shape 2"/>
          <p:cNvSpPr/>
          <p:nvPr/>
        </p:nvSpPr>
        <p:spPr>
          <a:xfrm>
            <a:off x="566928" y="1572768"/>
            <a:ext cx="5394960" cy="1828800"/>
          </a:xfrm>
          <a:prstGeom prst="roundRect">
            <a:avLst>
              <a:gd name="adj" fmla="val 3000"/>
            </a:avLst>
          </a:prstGeom>
          <a:solidFill>
            <a:srgbClr val="F2F5F7"/>
          </a:solidFill>
          <a:ln w="9525">
            <a:solidFill>
              <a:srgbClr val="D3DBE3"/>
            </a:solidFill>
            <a:prstDash val="solid"/>
          </a:ln>
        </p:spPr>
      </p:sp>
      <p:sp>
        <p:nvSpPr>
          <p:cNvPr id="5" name="Text 3"/>
          <p:cNvSpPr txBox="1"/>
          <p:nvPr/>
        </p:nvSpPr>
        <p:spPr>
          <a:xfrm>
            <a:off x="822960" y="1737360"/>
            <a:ext cx="4892040" cy="566928"/>
          </a:xfrm>
          <a:prstGeom prst="rect">
            <a:avLst/>
          </a:prstGeom>
          <a:noFill/>
          <a:ln/>
        </p:spPr>
        <p:txBody>
          <a:bodyPr wrap="square" lIns="0" tIns="0" rIns="0" bIns="0" rtlCol="0" anchor="ctr"/>
          <a:lstStyle/>
          <a:p>
            <a:pPr indent="0" marL="0">
              <a:buNone/>
            </a:pPr>
            <a:r>
              <a:rPr lang="en-US" sz="1400" b="1" dirty="0">
                <a:solidFill>
                  <a:srgbClr val="17222C"/>
                </a:solidFill>
                <a:latin typeface="Arial" pitchFamily="34" charset="0"/>
                <a:ea typeface="Arial" pitchFamily="34" charset="-122"/>
                <a:cs typeface="Arial" pitchFamily="34" charset="-120"/>
              </a:rPr>
              <a:t>La montée en charge n'est pas automatique</a:t>
            </a:r>
            <a:endParaRPr lang="en-US" sz="1400" dirty="0"/>
          </a:p>
        </p:txBody>
      </p:sp>
      <p:sp>
        <p:nvSpPr>
          <p:cNvPr id="6" name="Text 4"/>
          <p:cNvSpPr txBox="1"/>
          <p:nvPr/>
        </p:nvSpPr>
        <p:spPr>
          <a:xfrm>
            <a:off x="822960" y="2322576"/>
            <a:ext cx="4892040" cy="960120"/>
          </a:xfrm>
          <a:prstGeom prst="rect">
            <a:avLst/>
          </a:prstGeom>
          <a:noFill/>
          <a:ln/>
        </p:spPr>
        <p:txBody>
          <a:bodyPr wrap="square" lIns="0" tIns="0" rIns="0" bIns="0" rtlCol="0" anchor="ctr"/>
          <a:lstStyle/>
          <a:p>
            <a:pPr indent="0" marL="0">
              <a:buNone/>
            </a:pPr>
            <a:r>
              <a:rPr lang="en-US" sz="1150" dirty="0">
                <a:solidFill>
                  <a:srgbClr val="5C6B7A"/>
                </a:solidFill>
                <a:latin typeface="Calibri" pitchFamily="34" charset="0"/>
                <a:ea typeface="Calibri" pitchFamily="34" charset="-122"/>
                <a:cs typeface="Calibri" pitchFamily="34" charset="-120"/>
              </a:rPr>
              <a:t>Elle demande un opérateur et deux commandes, environ 3 minutes. Pour l'automatiser, il faudrait construire une image serveur préconfigurée avec Packer et utiliser un groupe d'autoscaling.</a:t>
            </a:r>
            <a:endParaRPr lang="en-US" sz="1150" dirty="0"/>
          </a:p>
        </p:txBody>
      </p:sp>
      <p:sp>
        <p:nvSpPr>
          <p:cNvPr id="7" name="Shape 5"/>
          <p:cNvSpPr/>
          <p:nvPr/>
        </p:nvSpPr>
        <p:spPr>
          <a:xfrm>
            <a:off x="6190488" y="1572768"/>
            <a:ext cx="5394960" cy="1828800"/>
          </a:xfrm>
          <a:prstGeom prst="roundRect">
            <a:avLst>
              <a:gd name="adj" fmla="val 3000"/>
            </a:avLst>
          </a:prstGeom>
          <a:solidFill>
            <a:srgbClr val="F2F5F7"/>
          </a:solidFill>
          <a:ln w="9525">
            <a:solidFill>
              <a:srgbClr val="D3DBE3"/>
            </a:solidFill>
            <a:prstDash val="solid"/>
          </a:ln>
        </p:spPr>
      </p:sp>
      <p:sp>
        <p:nvSpPr>
          <p:cNvPr id="8" name="Text 6"/>
          <p:cNvSpPr txBox="1"/>
          <p:nvPr/>
        </p:nvSpPr>
        <p:spPr>
          <a:xfrm>
            <a:off x="6446520" y="1737360"/>
            <a:ext cx="4892040" cy="566928"/>
          </a:xfrm>
          <a:prstGeom prst="rect">
            <a:avLst/>
          </a:prstGeom>
          <a:noFill/>
          <a:ln/>
        </p:spPr>
        <p:txBody>
          <a:bodyPr wrap="square" lIns="0" tIns="0" rIns="0" bIns="0" rtlCol="0" anchor="ctr"/>
          <a:lstStyle/>
          <a:p>
            <a:pPr indent="0" marL="0">
              <a:buNone/>
            </a:pPr>
            <a:r>
              <a:rPr lang="en-US" sz="1400" b="1" dirty="0">
                <a:solidFill>
                  <a:srgbClr val="17222C"/>
                </a:solidFill>
                <a:latin typeface="Arial" pitchFamily="34" charset="0"/>
                <a:ea typeface="Arial" pitchFamily="34" charset="-122"/>
                <a:cs typeface="Arial" pitchFamily="34" charset="-120"/>
              </a:rPr>
              <a:t>Le site entier est sur le disque partagé</a:t>
            </a:r>
            <a:endParaRPr lang="en-US" sz="1400" dirty="0"/>
          </a:p>
        </p:txBody>
      </p:sp>
      <p:sp>
        <p:nvSpPr>
          <p:cNvPr id="9" name="Text 7"/>
          <p:cNvSpPr txBox="1"/>
          <p:nvPr/>
        </p:nvSpPr>
        <p:spPr>
          <a:xfrm>
            <a:off x="6446520" y="2322576"/>
            <a:ext cx="4892040" cy="960120"/>
          </a:xfrm>
          <a:prstGeom prst="rect">
            <a:avLst/>
          </a:prstGeom>
          <a:noFill/>
          <a:ln/>
        </p:spPr>
        <p:txBody>
          <a:bodyPr wrap="square" lIns="0" tIns="0" rIns="0" bIns="0" rtlCol="0" anchor="ctr"/>
          <a:lstStyle/>
          <a:p>
            <a:pPr indent="0" marL="0">
              <a:buNone/>
            </a:pPr>
            <a:r>
              <a:rPr lang="en-US" sz="1150" dirty="0">
                <a:solidFill>
                  <a:srgbClr val="5C6B7A"/>
                </a:solidFill>
                <a:latin typeface="Calibri" pitchFamily="34" charset="0"/>
                <a:ea typeface="Calibri" pitchFamily="34" charset="-122"/>
                <a:cs typeface="Calibri" pitchFamily="34" charset="-120"/>
              </a:rPr>
              <a:t>Cela rend les serveurs interchangeables, mais un disque réseau est plus lent qu'un disque local. Au-delà de quelques milliers de requêtes par minute, il faudrait mettre le code dans l'image et ne partager que les images produits.</a:t>
            </a:r>
            <a:endParaRPr lang="en-US" sz="1150" dirty="0"/>
          </a:p>
        </p:txBody>
      </p:sp>
      <p:sp>
        <p:nvSpPr>
          <p:cNvPr id="10" name="Shape 8"/>
          <p:cNvSpPr/>
          <p:nvPr/>
        </p:nvSpPr>
        <p:spPr>
          <a:xfrm>
            <a:off x="566928" y="3584448"/>
            <a:ext cx="5394960" cy="1828800"/>
          </a:xfrm>
          <a:prstGeom prst="roundRect">
            <a:avLst>
              <a:gd name="adj" fmla="val 3000"/>
            </a:avLst>
          </a:prstGeom>
          <a:solidFill>
            <a:srgbClr val="F2F5F7"/>
          </a:solidFill>
          <a:ln w="9525">
            <a:solidFill>
              <a:srgbClr val="D3DBE3"/>
            </a:solidFill>
            <a:prstDash val="solid"/>
          </a:ln>
        </p:spPr>
      </p:sp>
      <p:sp>
        <p:nvSpPr>
          <p:cNvPr id="11" name="Text 9"/>
          <p:cNvSpPr txBox="1"/>
          <p:nvPr/>
        </p:nvSpPr>
        <p:spPr>
          <a:xfrm>
            <a:off x="822960" y="3749040"/>
            <a:ext cx="4892040" cy="566928"/>
          </a:xfrm>
          <a:prstGeom prst="rect">
            <a:avLst/>
          </a:prstGeom>
          <a:noFill/>
          <a:ln/>
        </p:spPr>
        <p:txBody>
          <a:bodyPr wrap="square" lIns="0" tIns="0" rIns="0" bIns="0" rtlCol="0" anchor="ctr"/>
          <a:lstStyle/>
          <a:p>
            <a:pPr indent="0" marL="0">
              <a:buNone/>
            </a:pPr>
            <a:r>
              <a:rPr lang="en-US" sz="1400" b="1" dirty="0">
                <a:solidFill>
                  <a:srgbClr val="17222C"/>
                </a:solidFill>
                <a:latin typeface="Arial" pitchFamily="34" charset="0"/>
                <a:ea typeface="Arial" pitchFamily="34" charset="-122"/>
                <a:cs typeface="Arial" pitchFamily="34" charset="-120"/>
              </a:rPr>
              <a:t>Une seule base en écriture</a:t>
            </a:r>
            <a:endParaRPr lang="en-US" sz="1400" dirty="0"/>
          </a:p>
        </p:txBody>
      </p:sp>
      <p:sp>
        <p:nvSpPr>
          <p:cNvPr id="12" name="Text 10"/>
          <p:cNvSpPr txBox="1"/>
          <p:nvPr/>
        </p:nvSpPr>
        <p:spPr>
          <a:xfrm>
            <a:off x="822960" y="4334256"/>
            <a:ext cx="4892040" cy="960120"/>
          </a:xfrm>
          <a:prstGeom prst="rect">
            <a:avLst/>
          </a:prstGeom>
          <a:noFill/>
          <a:ln/>
        </p:spPr>
        <p:txBody>
          <a:bodyPr wrap="square" lIns="0" tIns="0" rIns="0" bIns="0" rtlCol="0" anchor="ctr"/>
          <a:lstStyle/>
          <a:p>
            <a:pPr indent="0" marL="0">
              <a:buNone/>
            </a:pPr>
            <a:r>
              <a:rPr lang="en-US" sz="1150" dirty="0">
                <a:solidFill>
                  <a:srgbClr val="5C6B7A"/>
                </a:solidFill>
                <a:latin typeface="Calibri" pitchFamily="34" charset="0"/>
                <a:ea typeface="Calibri" pitchFamily="34" charset="-122"/>
                <a:cs typeface="Calibri" pitchFamily="34" charset="-120"/>
              </a:rPr>
              <a:t>Les lectures peuvent être réparties sur des réplicas, pas les écritures. Une billetterie écrit beaucoup : la taille de l'instance principale est la limite.</a:t>
            </a:r>
            <a:endParaRPr lang="en-US" sz="1150" dirty="0"/>
          </a:p>
        </p:txBody>
      </p:sp>
      <p:sp>
        <p:nvSpPr>
          <p:cNvPr id="13" name="Shape 11"/>
          <p:cNvSpPr/>
          <p:nvPr/>
        </p:nvSpPr>
        <p:spPr>
          <a:xfrm>
            <a:off x="6190488" y="3584448"/>
            <a:ext cx="5394960" cy="1828800"/>
          </a:xfrm>
          <a:prstGeom prst="roundRect">
            <a:avLst>
              <a:gd name="adj" fmla="val 3000"/>
            </a:avLst>
          </a:prstGeom>
          <a:solidFill>
            <a:srgbClr val="F2F5F7"/>
          </a:solidFill>
          <a:ln w="9525">
            <a:solidFill>
              <a:srgbClr val="D3DBE3"/>
            </a:solidFill>
            <a:prstDash val="solid"/>
          </a:ln>
        </p:spPr>
      </p:sp>
      <p:sp>
        <p:nvSpPr>
          <p:cNvPr id="14" name="Text 12"/>
          <p:cNvSpPr txBox="1"/>
          <p:nvPr/>
        </p:nvSpPr>
        <p:spPr>
          <a:xfrm>
            <a:off x="6446520" y="3749040"/>
            <a:ext cx="4892040" cy="566928"/>
          </a:xfrm>
          <a:prstGeom prst="rect">
            <a:avLst/>
          </a:prstGeom>
          <a:noFill/>
          <a:ln/>
        </p:spPr>
        <p:txBody>
          <a:bodyPr wrap="square" lIns="0" tIns="0" rIns="0" bIns="0" rtlCol="0" anchor="ctr"/>
          <a:lstStyle/>
          <a:p>
            <a:pPr indent="0" marL="0">
              <a:buNone/>
            </a:pPr>
            <a:r>
              <a:rPr lang="en-US" sz="1400" b="1" dirty="0">
                <a:solidFill>
                  <a:srgbClr val="17222C"/>
                </a:solidFill>
                <a:latin typeface="Arial" pitchFamily="34" charset="0"/>
                <a:ea typeface="Arial" pitchFamily="34" charset="-122"/>
                <a:cs typeface="Arial" pitchFamily="34" charset="-120"/>
              </a:rPr>
              <a:t>Une seule région</a:t>
            </a:r>
            <a:endParaRPr lang="en-US" sz="1400" dirty="0"/>
          </a:p>
        </p:txBody>
      </p:sp>
      <p:sp>
        <p:nvSpPr>
          <p:cNvPr id="15" name="Text 13"/>
          <p:cNvSpPr txBox="1"/>
          <p:nvPr/>
        </p:nvSpPr>
        <p:spPr>
          <a:xfrm>
            <a:off x="6446520" y="4334256"/>
            <a:ext cx="4892040" cy="960120"/>
          </a:xfrm>
          <a:prstGeom prst="rect">
            <a:avLst/>
          </a:prstGeom>
          <a:noFill/>
          <a:ln/>
        </p:spPr>
        <p:txBody>
          <a:bodyPr wrap="square" lIns="0" tIns="0" rIns="0" bIns="0" rtlCol="0" anchor="ctr"/>
          <a:lstStyle/>
          <a:p>
            <a:pPr indent="0" marL="0">
              <a:buNone/>
            </a:pPr>
            <a:r>
              <a:rPr lang="en-US" sz="1150" dirty="0">
                <a:solidFill>
                  <a:srgbClr val="5C6B7A"/>
                </a:solidFill>
                <a:latin typeface="Calibri" pitchFamily="34" charset="0"/>
                <a:ea typeface="Calibri" pitchFamily="34" charset="-122"/>
                <a:cs typeface="Calibri" pitchFamily="34" charset="-120"/>
              </a:rPr>
              <a:t>Une panne régionale interrompt le service. Le multi-région coûterait plus que la panne qu'il évite à cette échelle.</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66928" y="384048"/>
            <a:ext cx="11055096" cy="274320"/>
          </a:xfrm>
          <a:prstGeom prst="rect">
            <a:avLst/>
          </a:prstGeom>
          <a:noFill/>
          <a:ln/>
        </p:spPr>
        <p:txBody>
          <a:bodyPr wrap="square" lIns="0" tIns="0" rIns="0" bIns="0" rtlCol="0" anchor="ctr"/>
          <a:lstStyle/>
          <a:p>
            <a:pPr indent="0" marL="0">
              <a:buNone/>
            </a:pPr>
            <a:r>
              <a:rPr lang="en-US" sz="1100" spc="200" kern="0" dirty="0">
                <a:solidFill>
                  <a:srgbClr val="9E5D06"/>
                </a:solidFill>
                <a:latin typeface="Courier New" pitchFamily="34" charset="0"/>
                <a:ea typeface="Courier New" pitchFamily="34" charset="-122"/>
                <a:cs typeface="Courier New" pitchFamily="34" charset="-120"/>
              </a:rPr>
              <a:t>10 — DÉMONSTRATION</a:t>
            </a:r>
            <a:endParaRPr lang="en-US" sz="1100" dirty="0"/>
          </a:p>
        </p:txBody>
      </p:sp>
      <p:sp>
        <p:nvSpPr>
          <p:cNvPr id="3" name="Text 1"/>
          <p:cNvSpPr txBox="1"/>
          <p:nvPr/>
        </p:nvSpPr>
        <p:spPr>
          <a:xfrm>
            <a:off x="566928" y="694944"/>
            <a:ext cx="11055096" cy="658368"/>
          </a:xfrm>
          <a:prstGeom prst="rect">
            <a:avLst/>
          </a:prstGeom>
          <a:noFill/>
          <a:ln/>
        </p:spPr>
        <p:txBody>
          <a:bodyPr wrap="square" lIns="0" tIns="0" rIns="0" bIns="0" rtlCol="0" anchor="ctr"/>
          <a:lstStyle/>
          <a:p>
            <a:pPr indent="0" marL="0">
              <a:buNone/>
            </a:pPr>
            <a:r>
              <a:rPr lang="en-US" sz="3000" b="1" dirty="0">
                <a:solidFill>
                  <a:srgbClr val="17222C"/>
                </a:solidFill>
                <a:latin typeface="Arial" pitchFamily="34" charset="0"/>
                <a:ea typeface="Arial" pitchFamily="34" charset="-122"/>
                <a:cs typeface="Arial" pitchFamily="34" charset="-120"/>
              </a:rPr>
              <a:t>Déploiement complet en six commandes</a:t>
            </a:r>
            <a:endParaRPr lang="en-US" sz="3000" dirty="0"/>
          </a:p>
        </p:txBody>
      </p:sp>
      <p:sp>
        <p:nvSpPr>
          <p:cNvPr id="4" name="Shape 2"/>
          <p:cNvSpPr/>
          <p:nvPr/>
        </p:nvSpPr>
        <p:spPr>
          <a:xfrm>
            <a:off x="566928" y="1600200"/>
            <a:ext cx="6675120" cy="2651760"/>
          </a:xfrm>
          <a:prstGeom prst="roundRect">
            <a:avLst>
              <a:gd name="adj" fmla="val 1379"/>
            </a:avLst>
          </a:prstGeom>
          <a:solidFill>
            <a:srgbClr val="1B2732"/>
          </a:solidFill>
          <a:ln w="9525">
            <a:solidFill>
              <a:srgbClr val="1B2732"/>
            </a:solidFill>
            <a:prstDash val="solid"/>
          </a:ln>
        </p:spPr>
      </p:sp>
      <p:sp>
        <p:nvSpPr>
          <p:cNvPr id="5" name="Text 3"/>
          <p:cNvSpPr txBox="1"/>
          <p:nvPr/>
        </p:nvSpPr>
        <p:spPr>
          <a:xfrm>
            <a:off x="731520" y="1709928"/>
            <a:ext cx="6345936" cy="2432304"/>
          </a:xfrm>
          <a:prstGeom prst="rect">
            <a:avLst/>
          </a:prstGeom>
          <a:noFill/>
          <a:ln/>
        </p:spPr>
        <p:txBody>
          <a:bodyPr wrap="square" lIns="0" tIns="0" rIns="0" bIns="0" rtlCol="0" anchor="ctr"/>
          <a:lstStyle/>
          <a:p>
            <a:pPr indent="0" marL="0">
              <a:lnSpc>
                <a:spcPts val="1725"/>
              </a:lnSpc>
              <a:buNone/>
            </a:pPr>
            <a:r>
              <a:rPr lang="en-US" sz="1150" dirty="0">
                <a:solidFill>
                  <a:srgbClr val="C9D6E2"/>
                </a:solidFill>
                <a:latin typeface="Courier New" pitchFamily="34" charset="0"/>
                <a:ea typeface="Courier New" pitchFamily="34" charset="-122"/>
                <a:cs typeface="Courier New" pitchFamily="34" charset="-120"/>
              </a:rPr>
              <a:t>./scripts/bootstrap-backend.sh dev     # une fois par compte AWS</a:t>
            </a:r>
            <a:endParaRPr lang="en-US" sz="1150" dirty="0"/>
          </a:p>
          <a:p>
            <a:pPr indent="0" marL="0">
              <a:lnSpc>
                <a:spcPts val="1725"/>
              </a:lnSpc>
              <a:buNone/>
            </a:pPr>
            <a:endParaRPr lang="en-US" sz="1150" dirty="0"/>
          </a:p>
          <a:p>
            <a:pPr indent="0" marL="0">
              <a:lnSpc>
                <a:spcPts val="1725"/>
              </a:lnSpc>
              <a:buNone/>
            </a:pPr>
            <a:r>
              <a:rPr lang="en-US" sz="1150" dirty="0">
                <a:solidFill>
                  <a:srgbClr val="C9D6E2"/>
                </a:solidFill>
                <a:latin typeface="Courier New" pitchFamily="34" charset="0"/>
                <a:ea typeface="Courier New" pitchFamily="34" charset="-122"/>
                <a:cs typeface="Courier New" pitchFamily="34" charset="-120"/>
              </a:rPr>
              <a:t>terraform -chdir=terraform init</a:t>
            </a:r>
            <a:endParaRPr lang="en-US" sz="1150" dirty="0"/>
          </a:p>
          <a:p>
            <a:pPr indent="0" marL="0">
              <a:lnSpc>
                <a:spcPts val="1725"/>
              </a:lnSpc>
              <a:buNone/>
            </a:pPr>
            <a:r>
              <a:rPr lang="en-US" sz="1150" dirty="0">
                <a:solidFill>
                  <a:srgbClr val="C9D6E2"/>
                </a:solidFill>
                <a:latin typeface="Courier New" pitchFamily="34" charset="0"/>
                <a:ea typeface="Courier New" pitchFamily="34" charset="-122"/>
                <a:cs typeface="Courier New" pitchFamily="34" charset="-120"/>
              </a:rPr>
              <a:t>terraform -chdir=terraform apply       # ~12 min (création RDS)</a:t>
            </a:r>
            <a:endParaRPr lang="en-US" sz="1150" dirty="0"/>
          </a:p>
          <a:p>
            <a:pPr indent="0" marL="0">
              <a:lnSpc>
                <a:spcPts val="1725"/>
              </a:lnSpc>
              <a:buNone/>
            </a:pPr>
            <a:endParaRPr lang="en-US" sz="1150" dirty="0"/>
          </a:p>
          <a:p>
            <a:pPr indent="0" marL="0">
              <a:lnSpc>
                <a:spcPts val="1725"/>
              </a:lnSpc>
              <a:buNone/>
            </a:pPr>
            <a:r>
              <a:rPr lang="en-US" sz="1150" dirty="0">
                <a:solidFill>
                  <a:srgbClr val="C9D6E2"/>
                </a:solidFill>
                <a:latin typeface="Courier New" pitchFamily="34" charset="0"/>
                <a:ea typeface="Courier New" pitchFamily="34" charset="-122"/>
                <a:cs typeface="Courier New" pitchFamily="34" charset="-120"/>
              </a:rPr>
              <a:t>ansible-galaxy install -r ansible/requirements.yml</a:t>
            </a:r>
            <a:endParaRPr lang="en-US" sz="1150" dirty="0"/>
          </a:p>
          <a:p>
            <a:pPr indent="0" marL="0">
              <a:lnSpc>
                <a:spcPts val="1725"/>
              </a:lnSpc>
              <a:buNone/>
            </a:pPr>
            <a:r>
              <a:rPr lang="en-US" sz="1150" dirty="0">
                <a:solidFill>
                  <a:srgbClr val="C9D6E2"/>
                </a:solidFill>
                <a:latin typeface="Courier New" pitchFamily="34" charset="0"/>
                <a:ea typeface="Courier New" pitchFamily="34" charset="-122"/>
                <a:cs typeface="Courier New" pitchFamily="34" charset="-120"/>
              </a:rPr>
              <a:t>ansible-inventory -i ansible/inventory.yml --graph</a:t>
            </a:r>
            <a:endParaRPr lang="en-US" sz="1150" dirty="0"/>
          </a:p>
          <a:p>
            <a:pPr indent="0" marL="0">
              <a:lnSpc>
                <a:spcPts val="1725"/>
              </a:lnSpc>
              <a:buNone/>
            </a:pPr>
            <a:r>
              <a:rPr lang="en-US" sz="1150" dirty="0">
                <a:solidFill>
                  <a:srgbClr val="C9D6E2"/>
                </a:solidFill>
                <a:latin typeface="Courier New" pitchFamily="34" charset="0"/>
                <a:ea typeface="Courier New" pitchFamily="34" charset="-122"/>
                <a:cs typeface="Courier New" pitchFamily="34" charset="-120"/>
              </a:rPr>
              <a:t>ansible-playbook  -i ansible/inventory.yml ansible/site.yml --ask-vault-pass</a:t>
            </a:r>
            <a:endParaRPr lang="en-US" sz="1150" dirty="0"/>
          </a:p>
        </p:txBody>
      </p:sp>
      <p:sp>
        <p:nvSpPr>
          <p:cNvPr id="6" name="Shape 4"/>
          <p:cNvSpPr/>
          <p:nvPr/>
        </p:nvSpPr>
        <p:spPr>
          <a:xfrm>
            <a:off x="7498080" y="1691640"/>
            <a:ext cx="310896" cy="310896"/>
          </a:xfrm>
          <a:prstGeom prst="ellipse">
            <a:avLst/>
          </a:prstGeom>
          <a:solidFill>
            <a:srgbClr val="E08B1F"/>
          </a:solidFill>
          <a:ln w="12700">
            <a:solidFill>
              <a:srgbClr val="E08B1F"/>
            </a:solidFill>
            <a:prstDash val="solid"/>
          </a:ln>
        </p:spPr>
      </p:sp>
      <p:sp>
        <p:nvSpPr>
          <p:cNvPr id="7" name="Text 5"/>
          <p:cNvSpPr txBox="1"/>
          <p:nvPr/>
        </p:nvSpPr>
        <p:spPr>
          <a:xfrm>
            <a:off x="7498080" y="169164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8" name="Text 6"/>
          <p:cNvSpPr txBox="1"/>
          <p:nvPr/>
        </p:nvSpPr>
        <p:spPr>
          <a:xfrm>
            <a:off x="7973568" y="1673352"/>
            <a:ext cx="3749040" cy="411480"/>
          </a:xfrm>
          <a:prstGeom prst="rect">
            <a:avLst/>
          </a:prstGeom>
          <a:noFill/>
          <a:ln/>
        </p:spPr>
        <p:txBody>
          <a:bodyPr wrap="square" lIns="0" tIns="0" rIns="0" bIns="0" rtlCol="0" anchor="ctr"/>
          <a:lstStyle/>
          <a:p>
            <a:pPr indent="0" marL="0">
              <a:buNone/>
            </a:pPr>
            <a:r>
              <a:rPr lang="en-US" sz="1350" dirty="0">
                <a:solidFill>
                  <a:srgbClr val="17222C"/>
                </a:solidFill>
                <a:latin typeface="Calibri" pitchFamily="34" charset="0"/>
                <a:ea typeface="Calibri" pitchFamily="34" charset="-122"/>
                <a:cs typeface="Calibri" pitchFamily="34" charset="-120"/>
              </a:rPr>
              <a:t>La boutique et le back-office</a:t>
            </a:r>
            <a:endParaRPr lang="en-US" sz="1350" dirty="0"/>
          </a:p>
        </p:txBody>
      </p:sp>
      <p:sp>
        <p:nvSpPr>
          <p:cNvPr id="9" name="Shape 7"/>
          <p:cNvSpPr/>
          <p:nvPr/>
        </p:nvSpPr>
        <p:spPr>
          <a:xfrm>
            <a:off x="7498080" y="2404872"/>
            <a:ext cx="310896" cy="310896"/>
          </a:xfrm>
          <a:prstGeom prst="ellipse">
            <a:avLst/>
          </a:prstGeom>
          <a:solidFill>
            <a:srgbClr val="E08B1F"/>
          </a:solidFill>
          <a:ln w="12700">
            <a:solidFill>
              <a:srgbClr val="E08B1F"/>
            </a:solidFill>
            <a:prstDash val="solid"/>
          </a:ln>
        </p:spPr>
      </p:sp>
      <p:sp>
        <p:nvSpPr>
          <p:cNvPr id="10" name="Text 8"/>
          <p:cNvSpPr txBox="1"/>
          <p:nvPr/>
        </p:nvSpPr>
        <p:spPr>
          <a:xfrm>
            <a:off x="7498080" y="240487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11" name="Text 9"/>
          <p:cNvSpPr txBox="1"/>
          <p:nvPr/>
        </p:nvSpPr>
        <p:spPr>
          <a:xfrm>
            <a:off x="7973568" y="2386584"/>
            <a:ext cx="3749040" cy="411480"/>
          </a:xfrm>
          <a:prstGeom prst="rect">
            <a:avLst/>
          </a:prstGeom>
          <a:noFill/>
          <a:ln/>
        </p:spPr>
        <p:txBody>
          <a:bodyPr wrap="square" lIns="0" tIns="0" rIns="0" bIns="0" rtlCol="0" anchor="ctr"/>
          <a:lstStyle/>
          <a:p>
            <a:pPr indent="0" marL="0">
              <a:buNone/>
            </a:pPr>
            <a:r>
              <a:rPr lang="en-US" sz="1350" dirty="0">
                <a:solidFill>
                  <a:srgbClr val="17222C"/>
                </a:solidFill>
                <a:latin typeface="Calibri" pitchFamily="34" charset="0"/>
                <a:ea typeface="Calibri" pitchFamily="34" charset="-122"/>
                <a:cs typeface="Calibri" pitchFamily="34" charset="-120"/>
              </a:rPr>
              <a:t>Playbook relancé : changed=0</a:t>
            </a:r>
            <a:endParaRPr lang="en-US" sz="1350" dirty="0"/>
          </a:p>
        </p:txBody>
      </p:sp>
      <p:sp>
        <p:nvSpPr>
          <p:cNvPr id="12" name="Shape 10"/>
          <p:cNvSpPr/>
          <p:nvPr/>
        </p:nvSpPr>
        <p:spPr>
          <a:xfrm>
            <a:off x="7498080" y="3118104"/>
            <a:ext cx="310896" cy="310896"/>
          </a:xfrm>
          <a:prstGeom prst="ellipse">
            <a:avLst/>
          </a:prstGeom>
          <a:solidFill>
            <a:srgbClr val="E08B1F"/>
          </a:solidFill>
          <a:ln w="12700">
            <a:solidFill>
              <a:srgbClr val="E08B1F"/>
            </a:solidFill>
            <a:prstDash val="solid"/>
          </a:ln>
        </p:spPr>
      </p:sp>
      <p:sp>
        <p:nvSpPr>
          <p:cNvPr id="13" name="Text 11"/>
          <p:cNvSpPr txBox="1"/>
          <p:nvPr/>
        </p:nvSpPr>
        <p:spPr>
          <a:xfrm>
            <a:off x="7498080" y="3118104"/>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14" name="Text 12"/>
          <p:cNvSpPr txBox="1"/>
          <p:nvPr/>
        </p:nvSpPr>
        <p:spPr>
          <a:xfrm>
            <a:off x="7973568" y="3099816"/>
            <a:ext cx="3749040" cy="411480"/>
          </a:xfrm>
          <a:prstGeom prst="rect">
            <a:avLst/>
          </a:prstGeom>
          <a:noFill/>
          <a:ln/>
        </p:spPr>
        <p:txBody>
          <a:bodyPr wrap="square" lIns="0" tIns="0" rIns="0" bIns="0" rtlCol="0" anchor="ctr"/>
          <a:lstStyle/>
          <a:p>
            <a:pPr indent="0" marL="0">
              <a:buNone/>
            </a:pPr>
            <a:r>
              <a:rPr lang="en-US" sz="1350" dirty="0">
                <a:solidFill>
                  <a:srgbClr val="17222C"/>
                </a:solidFill>
                <a:latin typeface="Calibri" pitchFamily="34" charset="0"/>
                <a:ea typeface="Calibri" pitchFamily="34" charset="-122"/>
                <a:cs typeface="Calibri" pitchFamily="34" charset="-120"/>
              </a:rPr>
              <a:t>Ajout d'un serveur</a:t>
            </a:r>
            <a:endParaRPr lang="en-US" sz="1350" dirty="0"/>
          </a:p>
        </p:txBody>
      </p:sp>
      <p:sp>
        <p:nvSpPr>
          <p:cNvPr id="15" name="Shape 13"/>
          <p:cNvSpPr/>
          <p:nvPr/>
        </p:nvSpPr>
        <p:spPr>
          <a:xfrm>
            <a:off x="7498080" y="3831336"/>
            <a:ext cx="310896" cy="310896"/>
          </a:xfrm>
          <a:prstGeom prst="ellipse">
            <a:avLst/>
          </a:prstGeom>
          <a:solidFill>
            <a:srgbClr val="E08B1F"/>
          </a:solidFill>
          <a:ln w="12700">
            <a:solidFill>
              <a:srgbClr val="E08B1F"/>
            </a:solidFill>
            <a:prstDash val="solid"/>
          </a:ln>
        </p:spPr>
      </p:sp>
      <p:sp>
        <p:nvSpPr>
          <p:cNvPr id="16" name="Text 14"/>
          <p:cNvSpPr txBox="1"/>
          <p:nvPr/>
        </p:nvSpPr>
        <p:spPr>
          <a:xfrm>
            <a:off x="7498080" y="3831336"/>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4</a:t>
            </a:r>
            <a:endParaRPr lang="en-US" sz="1200" dirty="0"/>
          </a:p>
        </p:txBody>
      </p:sp>
      <p:sp>
        <p:nvSpPr>
          <p:cNvPr id="17" name="Text 15"/>
          <p:cNvSpPr txBox="1"/>
          <p:nvPr/>
        </p:nvSpPr>
        <p:spPr>
          <a:xfrm>
            <a:off x="7973568" y="3813048"/>
            <a:ext cx="3749040" cy="411480"/>
          </a:xfrm>
          <a:prstGeom prst="rect">
            <a:avLst/>
          </a:prstGeom>
          <a:noFill/>
          <a:ln/>
        </p:spPr>
        <p:txBody>
          <a:bodyPr wrap="square" lIns="0" tIns="0" rIns="0" bIns="0" rtlCol="0" anchor="ctr"/>
          <a:lstStyle/>
          <a:p>
            <a:pPr indent="0" marL="0">
              <a:buNone/>
            </a:pPr>
            <a:r>
              <a:rPr lang="en-US" sz="1350" dirty="0">
                <a:solidFill>
                  <a:srgbClr val="17222C"/>
                </a:solidFill>
                <a:latin typeface="Calibri" pitchFamily="34" charset="0"/>
                <a:ea typeface="Calibri" pitchFamily="34" charset="-122"/>
                <a:cs typeface="Calibri" pitchFamily="34" charset="-120"/>
              </a:rPr>
              <a:t>Arrêt d'un serveur : le site répond</a:t>
            </a:r>
            <a:endParaRPr lang="en-US" sz="1350" dirty="0"/>
          </a:p>
        </p:txBody>
      </p:sp>
      <p:sp>
        <p:nvSpPr>
          <p:cNvPr id="18" name="Shape 16"/>
          <p:cNvSpPr/>
          <p:nvPr/>
        </p:nvSpPr>
        <p:spPr>
          <a:xfrm>
            <a:off x="566928" y="4526280"/>
            <a:ext cx="6675120" cy="777240"/>
          </a:xfrm>
          <a:prstGeom prst="roundRect">
            <a:avLst>
              <a:gd name="adj" fmla="val 5882"/>
            </a:avLst>
          </a:prstGeom>
          <a:solidFill>
            <a:srgbClr val="F2F5F7"/>
          </a:solidFill>
          <a:ln w="9525">
            <a:solidFill>
              <a:srgbClr val="D3DBE3"/>
            </a:solidFill>
            <a:prstDash val="solid"/>
          </a:ln>
        </p:spPr>
      </p:sp>
      <p:sp>
        <p:nvSpPr>
          <p:cNvPr id="19" name="Text 17"/>
          <p:cNvSpPr txBox="1"/>
          <p:nvPr/>
        </p:nvSpPr>
        <p:spPr>
          <a:xfrm>
            <a:off x="795528" y="4709160"/>
            <a:ext cx="6217920" cy="457200"/>
          </a:xfrm>
          <a:prstGeom prst="rect">
            <a:avLst/>
          </a:prstGeom>
          <a:noFill/>
          <a:ln/>
        </p:spPr>
        <p:txBody>
          <a:bodyPr wrap="square" lIns="0" tIns="0" rIns="0" bIns="0" rtlCol="0" anchor="ctr"/>
          <a:lstStyle/>
          <a:p>
            <a:pPr indent="0" marL="0">
              <a:buNone/>
            </a:pPr>
            <a:r>
              <a:rPr lang="en-US" sz="1250" dirty="0">
                <a:solidFill>
                  <a:srgbClr val="5C6B7A"/>
                </a:solidFill>
                <a:latin typeface="Calibri" pitchFamily="34" charset="0"/>
                <a:ea typeface="Calibri" pitchFamily="34" charset="-122"/>
                <a:cs typeface="Calibri" pitchFamily="34" charset="-120"/>
              </a:rPr>
              <a:t>Réseau, base, stockage, surveillance et secrets sont créés par ces commandes.</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1720"/>
        </a:solidFill>
      </p:bgPr>
    </p:bg>
    <p:spTree>
      <p:nvGrpSpPr>
        <p:cNvPr id="1" name=""/>
        <p:cNvGrpSpPr/>
        <p:nvPr/>
      </p:nvGrpSpPr>
      <p:grpSpPr>
        <a:xfrm>
          <a:off x="0" y="0"/>
          <a:ext cx="0" cy="0"/>
          <a:chOff x="0" y="0"/>
          <a:chExt cx="0" cy="0"/>
        </a:xfrm>
      </p:grpSpPr>
      <p:sp>
        <p:nvSpPr>
          <p:cNvPr id="2" name="Shape 0"/>
          <p:cNvSpPr/>
          <p:nvPr/>
        </p:nvSpPr>
        <p:spPr>
          <a:xfrm>
            <a:off x="566928" y="1572768"/>
            <a:ext cx="146304" cy="146304"/>
          </a:xfrm>
          <a:prstGeom prst="ellipse">
            <a:avLst/>
          </a:prstGeom>
          <a:solidFill>
            <a:srgbClr val="E08B1F"/>
          </a:solidFill>
          <a:ln w="12700">
            <a:solidFill>
              <a:srgbClr val="E08B1F"/>
            </a:solidFill>
            <a:prstDash val="solid"/>
          </a:ln>
        </p:spPr>
      </p:sp>
      <p:sp>
        <p:nvSpPr>
          <p:cNvPr id="3" name="Text 1"/>
          <p:cNvSpPr txBox="1"/>
          <p:nvPr/>
        </p:nvSpPr>
        <p:spPr>
          <a:xfrm>
            <a:off x="841248" y="1508760"/>
            <a:ext cx="11055096" cy="274320"/>
          </a:xfrm>
          <a:prstGeom prst="rect">
            <a:avLst/>
          </a:prstGeom>
          <a:noFill/>
          <a:ln/>
        </p:spPr>
        <p:txBody>
          <a:bodyPr wrap="square" lIns="0" tIns="0" rIns="0" bIns="0" rtlCol="0" anchor="ctr"/>
          <a:lstStyle/>
          <a:p>
            <a:pPr indent="0" marL="0">
              <a:buNone/>
            </a:pPr>
            <a:r>
              <a:rPr lang="en-US" sz="1200" spc="200" kern="0" dirty="0">
                <a:solidFill>
                  <a:srgbClr val="E08B1F"/>
                </a:solidFill>
                <a:latin typeface="Courier New" pitchFamily="34" charset="0"/>
                <a:ea typeface="Courier New" pitchFamily="34" charset="-122"/>
                <a:cs typeface="Courier New" pitchFamily="34" charset="-120"/>
              </a:rPr>
              <a:t>CONCLUSION</a:t>
            </a:r>
            <a:endParaRPr lang="en-US" sz="1200" dirty="0"/>
          </a:p>
        </p:txBody>
      </p:sp>
      <p:sp>
        <p:nvSpPr>
          <p:cNvPr id="4" name="Text 2"/>
          <p:cNvSpPr txBox="1"/>
          <p:nvPr/>
        </p:nvSpPr>
        <p:spPr>
          <a:xfrm>
            <a:off x="566928" y="1965960"/>
            <a:ext cx="10058400" cy="1554480"/>
          </a:xfrm>
          <a:prstGeom prst="rect">
            <a:avLst/>
          </a:prstGeom>
          <a:noFill/>
          <a:ln/>
        </p:spPr>
        <p:txBody>
          <a:bodyPr wrap="square" lIns="0" tIns="0" rIns="0" bIns="0" rtlCol="0" anchor="ctr"/>
          <a:lstStyle/>
          <a:p>
            <a:pPr indent="0" marL="0">
              <a:lnSpc>
                <a:spcPts val="4600"/>
              </a:lnSpc>
              <a:buNone/>
            </a:pPr>
            <a:r>
              <a:rPr lang="en-US" sz="4200" b="1" dirty="0">
                <a:solidFill>
                  <a:srgbClr val="FFFFFF"/>
                </a:solidFill>
                <a:latin typeface="Arial" pitchFamily="34" charset="0"/>
                <a:ea typeface="Arial" pitchFamily="34" charset="-122"/>
                <a:cs typeface="Arial" pitchFamily="34" charset="-120"/>
              </a:rPr>
              <a:t>Déployée, documentée,</a:t>
            </a:r>
            <a:endParaRPr lang="en-US" sz="4200" dirty="0"/>
          </a:p>
          <a:p>
            <a:pPr indent="0" marL="0">
              <a:lnSpc>
                <a:spcPts val="4600"/>
              </a:lnSpc>
              <a:buNone/>
            </a:pPr>
            <a:r>
              <a:rPr lang="en-US" sz="4200" b="1" dirty="0">
                <a:solidFill>
                  <a:srgbClr val="FFFFFF"/>
                </a:solidFill>
                <a:latin typeface="Arial" pitchFamily="34" charset="0"/>
                <a:ea typeface="Arial" pitchFamily="34" charset="-122"/>
                <a:cs typeface="Arial" pitchFamily="34" charset="-120"/>
              </a:rPr>
              <a:t>reproductible.</a:t>
            </a:r>
            <a:endParaRPr lang="en-US" sz="4200" dirty="0"/>
          </a:p>
        </p:txBody>
      </p:sp>
      <p:sp>
        <p:nvSpPr>
          <p:cNvPr id="5" name="Shape 3"/>
          <p:cNvSpPr/>
          <p:nvPr/>
        </p:nvSpPr>
        <p:spPr>
          <a:xfrm>
            <a:off x="566928" y="3840480"/>
            <a:ext cx="3520440" cy="1005840"/>
          </a:xfrm>
          <a:prstGeom prst="roundRect">
            <a:avLst>
              <a:gd name="adj" fmla="val 5455"/>
            </a:avLst>
          </a:prstGeom>
          <a:solidFill>
            <a:srgbClr val="1B2732"/>
          </a:solidFill>
          <a:ln w="9525">
            <a:solidFill>
              <a:srgbClr val="35475A"/>
            </a:solidFill>
            <a:prstDash val="solid"/>
          </a:ln>
        </p:spPr>
      </p:sp>
      <p:sp>
        <p:nvSpPr>
          <p:cNvPr id="6" name="Text 4"/>
          <p:cNvSpPr txBox="1"/>
          <p:nvPr/>
        </p:nvSpPr>
        <p:spPr>
          <a:xfrm>
            <a:off x="795528" y="3977640"/>
            <a:ext cx="3108960" cy="274320"/>
          </a:xfrm>
          <a:prstGeom prst="rect">
            <a:avLst/>
          </a:prstGeom>
          <a:noFill/>
          <a:ln/>
        </p:spPr>
        <p:txBody>
          <a:bodyPr wrap="square" lIns="0" tIns="0" rIns="0" bIns="0" rtlCol="0" anchor="ctr"/>
          <a:lstStyle/>
          <a:p>
            <a:pPr indent="0" marL="0">
              <a:buNone/>
            </a:pPr>
            <a:r>
              <a:rPr lang="en-US" sz="1300" b="1" dirty="0">
                <a:solidFill>
                  <a:srgbClr val="E08B1F"/>
                </a:solidFill>
                <a:latin typeface="Courier New" pitchFamily="34" charset="0"/>
                <a:ea typeface="Courier New" pitchFamily="34" charset="-122"/>
                <a:cs typeface="Courier New" pitchFamily="34" charset="-120"/>
              </a:rPr>
              <a:t>Terraform</a:t>
            </a:r>
            <a:endParaRPr lang="en-US" sz="1300" dirty="0"/>
          </a:p>
        </p:txBody>
      </p:sp>
      <p:sp>
        <p:nvSpPr>
          <p:cNvPr id="7" name="Text 5"/>
          <p:cNvSpPr txBox="1"/>
          <p:nvPr/>
        </p:nvSpPr>
        <p:spPr>
          <a:xfrm>
            <a:off x="795528" y="4279392"/>
            <a:ext cx="3108960" cy="457200"/>
          </a:xfrm>
          <a:prstGeom prst="rect">
            <a:avLst/>
          </a:prstGeom>
          <a:noFill/>
          <a:ln/>
        </p:spPr>
        <p:txBody>
          <a:bodyPr wrap="square" lIns="0" tIns="0" rIns="0" bIns="0" rtlCol="0" anchor="ctr"/>
          <a:lstStyle/>
          <a:p>
            <a:pPr indent="0" marL="0">
              <a:buNone/>
            </a:pPr>
            <a:r>
              <a:rPr lang="en-US" sz="1150" dirty="0">
                <a:solidFill>
                  <a:srgbClr val="A8B8C8"/>
                </a:solidFill>
                <a:latin typeface="Calibri" pitchFamily="34" charset="0"/>
                <a:ea typeface="Calibri" pitchFamily="34" charset="-122"/>
                <a:cs typeface="Calibri" pitchFamily="34" charset="-120"/>
              </a:rPr>
              <a:t>6 modules · 3 environnements · état distant</a:t>
            </a:r>
            <a:endParaRPr lang="en-US" sz="1150" dirty="0"/>
          </a:p>
        </p:txBody>
      </p:sp>
      <p:sp>
        <p:nvSpPr>
          <p:cNvPr id="8" name="Shape 6"/>
          <p:cNvSpPr/>
          <p:nvPr/>
        </p:nvSpPr>
        <p:spPr>
          <a:xfrm>
            <a:off x="4334256" y="3840480"/>
            <a:ext cx="3520440" cy="1005840"/>
          </a:xfrm>
          <a:prstGeom prst="roundRect">
            <a:avLst>
              <a:gd name="adj" fmla="val 5455"/>
            </a:avLst>
          </a:prstGeom>
          <a:solidFill>
            <a:srgbClr val="1B2732"/>
          </a:solidFill>
          <a:ln w="9525">
            <a:solidFill>
              <a:srgbClr val="35475A"/>
            </a:solidFill>
            <a:prstDash val="solid"/>
          </a:ln>
        </p:spPr>
      </p:sp>
      <p:sp>
        <p:nvSpPr>
          <p:cNvPr id="9" name="Text 7"/>
          <p:cNvSpPr txBox="1"/>
          <p:nvPr/>
        </p:nvSpPr>
        <p:spPr>
          <a:xfrm>
            <a:off x="4562856" y="3977640"/>
            <a:ext cx="3108960" cy="274320"/>
          </a:xfrm>
          <a:prstGeom prst="rect">
            <a:avLst/>
          </a:prstGeom>
          <a:noFill/>
          <a:ln/>
        </p:spPr>
        <p:txBody>
          <a:bodyPr wrap="square" lIns="0" tIns="0" rIns="0" bIns="0" rtlCol="0" anchor="ctr"/>
          <a:lstStyle/>
          <a:p>
            <a:pPr indent="0" marL="0">
              <a:buNone/>
            </a:pPr>
            <a:r>
              <a:rPr lang="en-US" sz="1300" b="1" dirty="0">
                <a:solidFill>
                  <a:srgbClr val="E08B1F"/>
                </a:solidFill>
                <a:latin typeface="Courier New" pitchFamily="34" charset="0"/>
                <a:ea typeface="Courier New" pitchFamily="34" charset="-122"/>
                <a:cs typeface="Courier New" pitchFamily="34" charset="-120"/>
              </a:rPr>
              <a:t>Ansible</a:t>
            </a:r>
            <a:endParaRPr lang="en-US" sz="1300" dirty="0"/>
          </a:p>
        </p:txBody>
      </p:sp>
      <p:sp>
        <p:nvSpPr>
          <p:cNvPr id="10" name="Text 8"/>
          <p:cNvSpPr txBox="1"/>
          <p:nvPr/>
        </p:nvSpPr>
        <p:spPr>
          <a:xfrm>
            <a:off x="4562856" y="4279392"/>
            <a:ext cx="3108960" cy="457200"/>
          </a:xfrm>
          <a:prstGeom prst="rect">
            <a:avLst/>
          </a:prstGeom>
          <a:noFill/>
          <a:ln/>
        </p:spPr>
        <p:txBody>
          <a:bodyPr wrap="square" lIns="0" tIns="0" rIns="0" bIns="0" rtlCol="0" anchor="ctr"/>
          <a:lstStyle/>
          <a:p>
            <a:pPr indent="0" marL="0">
              <a:buNone/>
            </a:pPr>
            <a:r>
              <a:rPr lang="en-US" sz="1150" dirty="0">
                <a:solidFill>
                  <a:srgbClr val="A8B8C8"/>
                </a:solidFill>
                <a:latin typeface="Calibri" pitchFamily="34" charset="0"/>
                <a:ea typeface="Calibri" pitchFamily="34" charset="-122"/>
                <a:cs typeface="Calibri" pitchFamily="34" charset="-120"/>
              </a:rPr>
              <a:t>3 rôles · Galaxy · Vault · changed=0</a:t>
            </a:r>
            <a:endParaRPr lang="en-US" sz="1150" dirty="0"/>
          </a:p>
        </p:txBody>
      </p:sp>
      <p:sp>
        <p:nvSpPr>
          <p:cNvPr id="11" name="Shape 9"/>
          <p:cNvSpPr/>
          <p:nvPr/>
        </p:nvSpPr>
        <p:spPr>
          <a:xfrm>
            <a:off x="8101584" y="3840480"/>
            <a:ext cx="3520440" cy="1005840"/>
          </a:xfrm>
          <a:prstGeom prst="roundRect">
            <a:avLst>
              <a:gd name="adj" fmla="val 5455"/>
            </a:avLst>
          </a:prstGeom>
          <a:solidFill>
            <a:srgbClr val="1B2732"/>
          </a:solidFill>
          <a:ln w="9525">
            <a:solidFill>
              <a:srgbClr val="35475A"/>
            </a:solidFill>
            <a:prstDash val="solid"/>
          </a:ln>
        </p:spPr>
      </p:sp>
      <p:sp>
        <p:nvSpPr>
          <p:cNvPr id="12" name="Text 10"/>
          <p:cNvSpPr txBox="1"/>
          <p:nvPr/>
        </p:nvSpPr>
        <p:spPr>
          <a:xfrm>
            <a:off x="8330184" y="3977640"/>
            <a:ext cx="3108960" cy="274320"/>
          </a:xfrm>
          <a:prstGeom prst="rect">
            <a:avLst/>
          </a:prstGeom>
          <a:noFill/>
          <a:ln/>
        </p:spPr>
        <p:txBody>
          <a:bodyPr wrap="square" lIns="0" tIns="0" rIns="0" bIns="0" rtlCol="0" anchor="ctr"/>
          <a:lstStyle/>
          <a:p>
            <a:pPr indent="0" marL="0">
              <a:buNone/>
            </a:pPr>
            <a:r>
              <a:rPr lang="en-US" sz="1300" b="1" dirty="0">
                <a:solidFill>
                  <a:srgbClr val="E08B1F"/>
                </a:solidFill>
                <a:latin typeface="Courier New" pitchFamily="34" charset="0"/>
                <a:ea typeface="Courier New" pitchFamily="34" charset="-122"/>
                <a:cs typeface="Courier New" pitchFamily="34" charset="-120"/>
              </a:rPr>
              <a:t>README</a:t>
            </a:r>
            <a:endParaRPr lang="en-US" sz="1300" dirty="0"/>
          </a:p>
        </p:txBody>
      </p:sp>
      <p:sp>
        <p:nvSpPr>
          <p:cNvPr id="13" name="Text 11"/>
          <p:cNvSpPr txBox="1"/>
          <p:nvPr/>
        </p:nvSpPr>
        <p:spPr>
          <a:xfrm>
            <a:off x="8330184" y="4279392"/>
            <a:ext cx="3108960" cy="457200"/>
          </a:xfrm>
          <a:prstGeom prst="rect">
            <a:avLst/>
          </a:prstGeom>
          <a:noFill/>
          <a:ln/>
        </p:spPr>
        <p:txBody>
          <a:bodyPr wrap="square" lIns="0" tIns="0" rIns="0" bIns="0" rtlCol="0" anchor="ctr"/>
          <a:lstStyle/>
          <a:p>
            <a:pPr indent="0" marL="0">
              <a:buNone/>
            </a:pPr>
            <a:r>
              <a:rPr lang="en-US" sz="1150" dirty="0">
                <a:solidFill>
                  <a:srgbClr val="A8B8C8"/>
                </a:solidFill>
                <a:latin typeface="Calibri" pitchFamily="34" charset="0"/>
                <a:ea typeface="Calibri" pitchFamily="34" charset="-122"/>
                <a:cs typeface="Calibri" pitchFamily="34" charset="-120"/>
              </a:rPr>
              <a:t>déployer, exploiter, dépanner</a:t>
            </a:r>
            <a:endParaRPr lang="en-US" sz="1150" dirty="0"/>
          </a:p>
        </p:txBody>
      </p:sp>
      <p:sp>
        <p:nvSpPr>
          <p:cNvPr id="14" name="Text 12"/>
          <p:cNvSpPr txBox="1"/>
          <p:nvPr/>
        </p:nvSpPr>
        <p:spPr>
          <a:xfrm>
            <a:off x="566928" y="5257800"/>
            <a:ext cx="11055096" cy="365760"/>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Merci de votre attention. Nous répondons à vos questions.</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5HASH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Taylor Shift - Infrastructure de la boutique</dc:title>
  <dc:subject>PptxGenJS Presentation</dc:subject>
  <dc:creator>5HASH</dc:creator>
  <cp:lastModifiedBy>5HASH</cp:lastModifiedBy>
  <cp:revision>1</cp:revision>
  <dcterms:created xsi:type="dcterms:W3CDTF">2026-10-06T13:36:45Z</dcterms:created>
  <dcterms:modified xsi:type="dcterms:W3CDTF">2026-10-06T13:36:45Z</dcterms:modified>
</cp:coreProperties>
</file>